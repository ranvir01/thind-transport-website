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onstanti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FE8"/>
          </a:solidFill>
        </a:fill>
      </a:tcStyle>
    </a:wholeTbl>
    <a:band2H>
      <a:tcTxStyle b="def" i="def"/>
      <a:tcStyle>
        <a:tcBdr/>
        <a:fill>
          <a:solidFill>
            <a:srgbClr val="E7F0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7D2CB"/>
          </a:solidFill>
        </a:fill>
      </a:tcStyle>
    </a:wholeTbl>
    <a:band2H>
      <a:tcTxStyle b="def" i="def"/>
      <a:tcStyle>
        <a:tcBdr/>
        <a:fill>
          <a:solidFill>
            <a:srgbClr val="FB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6CDCE"/>
          </a:solidFill>
        </a:fill>
      </a:tcStyle>
    </a:wholeTbl>
    <a:band2H>
      <a:tcTxStyle b="def" i="def"/>
      <a:tcStyle>
        <a:tcBdr/>
        <a:fill>
          <a:solidFill>
            <a:srgbClr val="ECE7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onstantia"/>
      </a:defRPr>
    </a:lvl1pPr>
    <a:lvl2pPr indent="228600" latinLnBrk="0">
      <a:defRPr sz="1200">
        <a:latin typeface="+mj-lt"/>
        <a:ea typeface="+mj-ea"/>
        <a:cs typeface="+mj-cs"/>
        <a:sym typeface="Constantia"/>
      </a:defRPr>
    </a:lvl2pPr>
    <a:lvl3pPr indent="457200" latinLnBrk="0">
      <a:defRPr sz="1200">
        <a:latin typeface="+mj-lt"/>
        <a:ea typeface="+mj-ea"/>
        <a:cs typeface="+mj-cs"/>
        <a:sym typeface="Constantia"/>
      </a:defRPr>
    </a:lvl3pPr>
    <a:lvl4pPr indent="685800" latinLnBrk="0">
      <a:defRPr sz="1200">
        <a:latin typeface="+mj-lt"/>
        <a:ea typeface="+mj-ea"/>
        <a:cs typeface="+mj-cs"/>
        <a:sym typeface="Constantia"/>
      </a:defRPr>
    </a:lvl4pPr>
    <a:lvl5pPr indent="914400" latinLnBrk="0">
      <a:defRPr sz="1200">
        <a:latin typeface="+mj-lt"/>
        <a:ea typeface="+mj-ea"/>
        <a:cs typeface="+mj-cs"/>
        <a:sym typeface="Constantia"/>
      </a:defRPr>
    </a:lvl5pPr>
    <a:lvl6pPr indent="1143000" latinLnBrk="0">
      <a:defRPr sz="1200">
        <a:latin typeface="+mj-lt"/>
        <a:ea typeface="+mj-ea"/>
        <a:cs typeface="+mj-cs"/>
        <a:sym typeface="Constantia"/>
      </a:defRPr>
    </a:lvl6pPr>
    <a:lvl7pPr indent="1371600" latinLnBrk="0">
      <a:defRPr sz="1200">
        <a:latin typeface="+mj-lt"/>
        <a:ea typeface="+mj-ea"/>
        <a:cs typeface="+mj-cs"/>
        <a:sym typeface="Constantia"/>
      </a:defRPr>
    </a:lvl7pPr>
    <a:lvl8pPr indent="1600200" latinLnBrk="0">
      <a:defRPr sz="1200">
        <a:latin typeface="+mj-lt"/>
        <a:ea typeface="+mj-ea"/>
        <a:cs typeface="+mj-cs"/>
        <a:sym typeface="Constantia"/>
      </a:defRPr>
    </a:lvl8pPr>
    <a:lvl9pPr indent="1828800" latinLnBrk="0">
      <a:defRPr sz="1200">
        <a:latin typeface="+mj-lt"/>
        <a:ea typeface="+mj-ea"/>
        <a:cs typeface="+mj-cs"/>
        <a:sym typeface="Constantia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bg>
      <p:bgPr>
        <a:gradFill flip="none" rotWithShape="1">
          <a:gsLst>
            <a:gs pos="0">
              <a:srgbClr val="878787"/>
            </a:gs>
            <a:gs pos="25000">
              <a:srgbClr val="808080"/>
            </a:gs>
            <a:gs pos="100000">
              <a:srgbClr val="1E1E1E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/>
          <p:nvPr>
            <p:ph type="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</p:spPr>
        <p:txBody>
          <a:bodyPr/>
          <a:lstStyle>
            <a:lvl1pPr algn="r">
              <a:defRPr b="1" sz="5600">
                <a:solidFill>
                  <a:srgbClr val="FC774E"/>
                </a:solidFill>
                <a:effectLst>
                  <a:outerShdw sx="100000" sy="100000" kx="0" ky="0" algn="b" rotWithShape="0" blurRad="38100" dist="25400" dir="540000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sz="half" idx="1"/>
          </p:nvPr>
        </p:nvSpPr>
        <p:spPr>
          <a:xfrm>
            <a:off x="533400" y="3228536"/>
            <a:ext cx="7854696" cy="1752601"/>
          </a:xfrm>
          <a:prstGeom prst="rect">
            <a:avLst/>
          </a:prstGeom>
        </p:spPr>
        <p:txBody>
          <a:bodyPr lIns="0" tIns="0" rIns="0" bIns="0"/>
          <a:lstStyle>
            <a:lvl1pPr marL="0" marR="45719" indent="0" algn="r">
              <a:buClrTx/>
              <a:buSzTx/>
              <a:buNone/>
              <a:defRPr>
                <a:solidFill>
                  <a:srgbClr val="FFFFFF"/>
                </a:solidFill>
              </a:defRPr>
            </a:lvl1pPr>
            <a:lvl2pPr marL="0" marR="45719" indent="457200" algn="r">
              <a:buClrTx/>
              <a:buSzTx/>
              <a:buNone/>
              <a:defRPr>
                <a:solidFill>
                  <a:srgbClr val="FFFFFF"/>
                </a:solidFill>
              </a:defRPr>
            </a:lvl2pPr>
            <a:lvl3pPr marL="0" marR="45719" indent="914400" algn="r">
              <a:buClrTx/>
              <a:buSzTx/>
              <a:buNone/>
              <a:defRPr>
                <a:solidFill>
                  <a:srgbClr val="FFFFFF"/>
                </a:solidFill>
              </a:defRPr>
            </a:lvl3pPr>
            <a:lvl4pPr marL="0" marR="45719" indent="1371600" algn="r">
              <a:buClrTx/>
              <a:buSzTx/>
              <a:buNone/>
              <a:defRPr>
                <a:solidFill>
                  <a:srgbClr val="FFFFFF"/>
                </a:solidFill>
              </a:defRPr>
            </a:lvl4pPr>
            <a:lvl5pPr marL="0" marR="45719" indent="1828800" algn="r">
              <a:buClrTx/>
              <a:buSzTx/>
              <a:buNone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4EAE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gradFill flip="none" rotWithShape="1">
          <a:gsLst>
            <a:gs pos="0">
              <a:srgbClr val="878787"/>
            </a:gs>
            <a:gs pos="25000">
              <a:srgbClr val="808080"/>
            </a:gs>
            <a:gs pos="100000">
              <a:srgbClr val="1E1E1E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/>
          <p:nvPr>
            <p:ph type="title"/>
          </p:nvPr>
        </p:nvSpPr>
        <p:spPr>
          <a:xfrm>
            <a:off x="530351" y="1316736"/>
            <a:ext cx="7772401" cy="1362456"/>
          </a:xfrm>
          <a:prstGeom prst="rect">
            <a:avLst/>
          </a:prstGeom>
        </p:spPr>
        <p:txBody>
          <a:bodyPr/>
          <a:lstStyle>
            <a:lvl1pPr>
              <a:defRPr b="1" sz="5600">
                <a:solidFill>
                  <a:srgbClr val="5E7CB2"/>
                </a:solidFill>
                <a:effectLst>
                  <a:outerShdw sx="100000" sy="100000" kx="0" ky="0" algn="b" rotWithShape="0" blurRad="38100" dist="25400" dir="540000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530351" y="2704663"/>
            <a:ext cx="7772401" cy="150971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ClrTx/>
              <a:buSzTx/>
              <a:buNone/>
              <a:defRPr sz="2200">
                <a:solidFill>
                  <a:srgbClr val="FFFFFF"/>
                </a:solidFill>
              </a:defRPr>
            </a:lvl1pPr>
            <a:lvl2pPr marL="0" indent="393192">
              <a:spcBef>
                <a:spcPts val="500"/>
              </a:spcBef>
              <a:buClrTx/>
              <a:buSzTx/>
              <a:buNone/>
              <a:defRPr sz="2200">
                <a:solidFill>
                  <a:srgbClr val="FFFFFF"/>
                </a:solidFill>
              </a:defRPr>
            </a:lvl2pPr>
            <a:lvl3pPr marL="0" indent="667511">
              <a:spcBef>
                <a:spcPts val="500"/>
              </a:spcBef>
              <a:buClrTx/>
              <a:buSzTx/>
              <a:buNone/>
              <a:defRPr sz="2200">
                <a:solidFill>
                  <a:srgbClr val="FFFFFF"/>
                </a:solidFill>
              </a:defRPr>
            </a:lvl3pPr>
            <a:lvl4pPr marL="0" indent="978408">
              <a:spcBef>
                <a:spcPts val="500"/>
              </a:spcBef>
              <a:buClrTx/>
              <a:buSzTx/>
              <a:buNone/>
              <a:defRPr sz="2200">
                <a:solidFill>
                  <a:srgbClr val="FFFFFF"/>
                </a:solidFill>
              </a:defRPr>
            </a:lvl4pPr>
            <a:lvl5pPr marL="0" indent="1252727">
              <a:spcBef>
                <a:spcPts val="500"/>
              </a:spcBef>
              <a:buClrTx/>
              <a:buSzTx/>
              <a:buNone/>
              <a:defRPr sz="22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4EAE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half" idx="1"/>
          </p:nvPr>
        </p:nvSpPr>
        <p:spPr>
          <a:xfrm>
            <a:off x="457200" y="1920084"/>
            <a:ext cx="4038600" cy="4434842"/>
          </a:xfrm>
          <a:prstGeom prst="rect">
            <a:avLst/>
          </a:prstGeom>
        </p:spPr>
        <p:txBody>
          <a:bodyPr/>
          <a:lstStyle>
            <a:lvl3pPr marL="988466" indent="-320954"/>
            <a:lvl4pPr marL="1282191" indent="-303783"/>
            <a:lvl5pPr marL="1556511" indent="-303783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Body Level One…"/>
          <p:cNvSpPr txBox="1"/>
          <p:nvPr>
            <p:ph type="body" sz="quarter" idx="1"/>
          </p:nvPr>
        </p:nvSpPr>
        <p:spPr>
          <a:xfrm>
            <a:off x="457200" y="1855247"/>
            <a:ext cx="4040188" cy="65935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lvl1pPr>
            <a:lvl2pPr marL="0" indent="393192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lvl2pPr>
            <a:lvl3pPr marL="0" indent="667511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lvl3pPr>
            <a:lvl4pPr marL="0" indent="978408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lvl4pPr>
            <a:lvl5pPr marL="0" indent="1252727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Text Placeholder 3"/>
          <p:cNvSpPr/>
          <p:nvPr>
            <p:ph type="body" sz="quarter" idx="13"/>
          </p:nvPr>
        </p:nvSpPr>
        <p:spPr>
          <a:xfrm>
            <a:off x="4645025" y="1859757"/>
            <a:ext cx="4041775" cy="65484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spcBef>
                <a:spcPts val="500"/>
              </a:spcBef>
              <a:buClrTx/>
              <a:buSzTx/>
              <a:buNone/>
              <a:defRPr b="1" sz="2400">
                <a:solidFill>
                  <a:srgbClr val="464646"/>
                </a:solidFill>
              </a:defRPr>
            </a:pP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xfrm>
            <a:off x="457200" y="704087"/>
            <a:ext cx="83058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/>
          <p:nvPr>
            <p:ph type="title"/>
          </p:nvPr>
        </p:nvSpPr>
        <p:spPr>
          <a:xfrm>
            <a:off x="685800" y="514351"/>
            <a:ext cx="2743200" cy="1162051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pPr/>
            <a:r>
              <a:t>Title Text</a:t>
            </a:r>
          </a:p>
        </p:txBody>
      </p:sp>
      <p:sp>
        <p:nvSpPr>
          <p:cNvPr id="78" name="Body Level One…"/>
          <p:cNvSpPr txBox="1"/>
          <p:nvPr>
            <p:ph type="body" sz="half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</p:spPr>
        <p:txBody>
          <a:bodyPr lIns="18288" tIns="18288" rIns="18288" bIns="18288"/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  <a:lvl2pPr marL="0" indent="640080">
              <a:spcBef>
                <a:spcPts val="300"/>
              </a:spcBef>
              <a:buClrTx/>
              <a:buSz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None/>
              <a:defRPr sz="1400"/>
            </a:lvl3pPr>
            <a:lvl4pPr marL="0" indent="1188719">
              <a:spcBef>
                <a:spcPts val="300"/>
              </a:spcBef>
              <a:buClrTx/>
              <a:buSzTx/>
              <a:buNone/>
              <a:defRPr sz="1400"/>
            </a:lvl4pPr>
            <a:lvl5pPr marL="0" indent="1463039">
              <a:spcBef>
                <a:spcPts val="300"/>
              </a:spcBef>
              <a:buClrTx/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nip and Round Single Corner Rectangle 8"/>
          <p:cNvSpPr/>
          <p:nvPr/>
        </p:nvSpPr>
        <p:spPr>
          <a:xfrm flipV="1" rot="420000">
            <a:off x="3165753" y="1108076"/>
            <a:ext cx="5257801" cy="4114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0984" y="0"/>
                </a:lnTo>
                <a:lnTo>
                  <a:pt x="21600" y="788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>
            <a:solidFill>
              <a:srgbClr val="C0C0C0"/>
            </a:solidFill>
          </a:ln>
          <a:effectLst>
            <a:outerShdw sx="100000" sy="100000" kx="0" ky="0" algn="b" rotWithShape="0" blurRad="63500" dist="38500" dir="750000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" name="Right Triangle 11"/>
          <p:cNvSpPr/>
          <p:nvPr/>
        </p:nvSpPr>
        <p:spPr>
          <a:xfrm flipV="1" rot="420000">
            <a:off x="8004133" y="5359768"/>
            <a:ext cx="155449" cy="155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bevel/>
          </a:ln>
          <a:effectLst>
            <a:outerShdw sx="100000" sy="100000" kx="0" ky="0" algn="b" rotWithShape="0" blurRad="25400" dist="6350" dir="12900000">
              <a:srgbClr val="000000">
                <a:alpha val="47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" name="Title Text"/>
          <p:cNvSpPr txBox="1"/>
          <p:nvPr>
            <p:ph type="title"/>
          </p:nvPr>
        </p:nvSpPr>
        <p:spPr>
          <a:xfrm>
            <a:off x="609600" y="1176995"/>
            <a:ext cx="2212849" cy="1582623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9" name="Body Level One…"/>
          <p:cNvSpPr txBox="1"/>
          <p:nvPr>
            <p:ph type="body" sz="quarter" idx="1"/>
          </p:nvPr>
        </p:nvSpPr>
        <p:spPr>
          <a:xfrm>
            <a:off x="609600" y="2828785"/>
            <a:ext cx="2209800" cy="217932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ClrTx/>
              <a:buSzTx/>
              <a:buNone/>
              <a:defRPr sz="1300"/>
            </a:lvl1pPr>
            <a:lvl2pPr>
              <a:spcBef>
                <a:spcPts val="200"/>
              </a:spcBef>
              <a:buClrTx/>
              <a:defRPr sz="1300"/>
            </a:lvl2pPr>
            <a:lvl3pPr marL="988466" indent="-320954">
              <a:spcBef>
                <a:spcPts val="200"/>
              </a:spcBef>
              <a:buClrTx/>
              <a:defRPr sz="1300"/>
            </a:lvl3pPr>
            <a:lvl4pPr marL="1282191" indent="-303783">
              <a:spcBef>
                <a:spcPts val="200"/>
              </a:spcBef>
              <a:buClrTx/>
              <a:defRPr sz="1300"/>
            </a:lvl4pPr>
            <a:lvl5pPr marL="1556511" indent="-303783">
              <a:spcBef>
                <a:spcPts val="200"/>
              </a:spcBef>
              <a:buClrTx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Picture Placeholder 2"/>
          <p:cNvSpPr/>
          <p:nvPr>
            <p:ph type="pic" sz="half" idx="13"/>
          </p:nvPr>
        </p:nvSpPr>
        <p:spPr>
          <a:xfrm rot="420000">
            <a:off x="3485793" y="1199516"/>
            <a:ext cx="4617721" cy="3931922"/>
          </a:xfrm>
          <a:prstGeom prst="rect">
            <a:avLst/>
          </a:prstGeom>
          <a:ln w="3175" cap="rnd">
            <a:solidFill>
              <a:srgbClr val="C0C0C0"/>
            </a:solidFill>
            <a:round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1" name="Freeform 9"/>
          <p:cNvSpPr/>
          <p:nvPr/>
        </p:nvSpPr>
        <p:spPr>
          <a:xfrm flipV="1">
            <a:off x="-9525" y="5816599"/>
            <a:ext cx="9163051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AD0911">
                  <a:alpha val="45000"/>
                </a:srgbClr>
              </a:gs>
              <a:gs pos="100000">
                <a:srgbClr val="ED5300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Freeform 10"/>
          <p:cNvSpPr/>
          <p:nvPr/>
        </p:nvSpPr>
        <p:spPr>
          <a:xfrm flipV="1">
            <a:off x="4381500" y="6250788"/>
            <a:ext cx="4762501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F4300">
                  <a:alpha val="30000"/>
                </a:srgbClr>
              </a:gs>
              <a:gs pos="80000">
                <a:srgbClr val="DA000B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/>
          <p:nvPr/>
        </p:nvSpPr>
        <p:spPr>
          <a:xfrm>
            <a:off x="-9525" y="-7144"/>
            <a:ext cx="9163051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AD0911">
                  <a:alpha val="45000"/>
                </a:srgbClr>
              </a:gs>
              <a:gs pos="100000">
                <a:srgbClr val="ED5300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Freeform 7"/>
          <p:cNvSpPr/>
          <p:nvPr/>
        </p:nvSpPr>
        <p:spPr>
          <a:xfrm>
            <a:off x="4381500" y="-7145"/>
            <a:ext cx="4762501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F4300">
                  <a:alpha val="30000"/>
                </a:srgbClr>
              </a:gs>
              <a:gs pos="80000">
                <a:srgbClr val="DA000B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6" name="Group 1"/>
          <p:cNvGrpSpPr/>
          <p:nvPr/>
        </p:nvGrpSpPr>
        <p:grpSpPr>
          <a:xfrm>
            <a:off x="-29295" y="-16113"/>
            <a:ext cx="9197179" cy="1058653"/>
            <a:chOff x="0" y="0"/>
            <a:chExt cx="9197178" cy="1058652"/>
          </a:xfrm>
        </p:grpSpPr>
        <p:sp>
          <p:nvSpPr>
            <p:cNvPr id="4" name="Freeform 11"/>
            <p:cNvSpPr/>
            <p:nvPr/>
          </p:nvSpPr>
          <p:spPr>
            <a:xfrm rot="21435692">
              <a:off x="9616" y="218536"/>
              <a:ext cx="9163051" cy="621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fill="norm" stroke="1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10795" cap="flat">
              <a:solidFill>
                <a:srgbClr val="C7391D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Freeform 12"/>
            <p:cNvSpPr/>
            <p:nvPr/>
          </p:nvSpPr>
          <p:spPr>
            <a:xfrm rot="21435692">
              <a:off x="14474" y="291986"/>
              <a:ext cx="9175813" cy="507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fill="norm" stroke="1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8A4163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" name="Title Text"/>
          <p:cNvSpPr txBox="1"/>
          <p:nvPr>
            <p:ph type="title"/>
          </p:nvPr>
        </p:nvSpPr>
        <p:spPr>
          <a:xfrm>
            <a:off x="457200" y="70408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" name="Body Level One…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8521700" y="6518275"/>
            <a:ext cx="165101" cy="2032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defRPr sz="1200">
                <a:solidFill>
                  <a:srgbClr val="434343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464646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95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1pPr>
      <a:lvl2pPr marL="660654" marR="0" indent="-26746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5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2pPr>
      <a:lvl3pPr marL="973182" marR="0" indent="-30567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70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3pPr>
      <a:lvl4pPr marL="1251813" marR="0" indent="-27340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65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4pPr>
      <a:lvl5pPr marL="1526133" marR="0" indent="-27340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65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5pPr>
      <a:lvl6pPr marL="1830832" marR="0" indent="-3037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0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6pPr>
      <a:lvl7pPr marL="2034539" marR="0" indent="-29717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0000"/>
        <a:buFontTx/>
        <a:buChar char="●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7pPr>
      <a:lvl8pPr marL="2308860" marR="0" indent="-29717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Tx/>
        <a:buChar char="•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8pPr>
      <a:lvl9pPr marL="262563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Tx/>
        <a:buChar char="•"/>
        <a:tabLst/>
        <a:defRPr b="0" baseline="0" cap="none" i="0" spc="0" strike="noStrike" sz="2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onstant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</p:spPr>
        <p:txBody>
          <a:bodyPr/>
          <a:lstStyle/>
          <a:p>
            <a:pPr/>
            <a:r>
              <a:t>RC and RL Circuits</a:t>
            </a:r>
          </a:p>
        </p:txBody>
      </p:sp>
      <p:sp>
        <p:nvSpPr>
          <p:cNvPr id="103" name="Subtitle 2"/>
          <p:cNvSpPr txBox="1"/>
          <p:nvPr>
            <p:ph type="subTitle" sz="half" idx="1"/>
          </p:nvPr>
        </p:nvSpPr>
        <p:spPr>
          <a:xfrm>
            <a:off x="533400" y="3228536"/>
            <a:ext cx="7854696" cy="1752601"/>
          </a:xfrm>
          <a:prstGeom prst="rect">
            <a:avLst/>
          </a:prstGeom>
        </p:spPr>
        <p:txBody>
          <a:bodyPr/>
          <a:lstStyle/>
          <a:p>
            <a:pPr/>
            <a:r>
              <a:t>First Order Circuits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 of Lecture</a:t>
            </a:r>
          </a:p>
        </p:txBody>
      </p:sp>
      <p:sp>
        <p:nvSpPr>
          <p:cNvPr id="106" name="Content Placeholder 2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 marL="249631" indent="-249631" defTabSz="832104">
              <a:lnSpc>
                <a:spcPct val="80000"/>
              </a:lnSpc>
              <a:spcBef>
                <a:spcPts val="500"/>
              </a:spcBef>
              <a:defRPr sz="2184"/>
            </a:pPr>
            <a:r>
              <a:t>Explain the operation of a RC circuit in dc circuits</a:t>
            </a:r>
          </a:p>
          <a:p>
            <a:pPr lvl="1" marL="582472" indent="-224668" defTabSz="832104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defRPr sz="2002"/>
            </a:pPr>
            <a:r>
              <a:t>As the capacitor stores energy when voltage is first applied to the circuit or the voltage applied across the capacitor is increased during the circuit operation.</a:t>
            </a:r>
          </a:p>
          <a:p>
            <a:pPr lvl="1" marL="582472" indent="-224668" defTabSz="832104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defRPr sz="2002"/>
            </a:pPr>
            <a:r>
              <a:t>As the capacitor releases energy when voltage is removed from the circuit or the voltage applied across the capacitor is decreased during the circuit operation.</a:t>
            </a:r>
          </a:p>
          <a:p>
            <a:pPr marL="249631" indent="-249631" defTabSz="832104">
              <a:lnSpc>
                <a:spcPct val="80000"/>
              </a:lnSpc>
              <a:spcBef>
                <a:spcPts val="500"/>
              </a:spcBef>
              <a:defRPr sz="2184"/>
            </a:pPr>
            <a:r>
              <a:t>Explain the operation of a RL circuit in dc circuit</a:t>
            </a:r>
          </a:p>
          <a:p>
            <a:pPr lvl="1" marL="582472" indent="-224668" defTabSz="832104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defRPr sz="2002"/>
            </a:pPr>
            <a:r>
              <a:t>As the inductor stores energy when current begins to flow in the circuit or the current flowing through the inductor is increased during the circuit operation.</a:t>
            </a:r>
          </a:p>
          <a:p>
            <a:pPr lvl="1" marL="582472" indent="-224668" defTabSz="832104">
              <a:lnSpc>
                <a:spcPct val="80000"/>
              </a:lnSpc>
              <a:spcBef>
                <a:spcPts val="400"/>
              </a:spcBef>
              <a:buClr>
                <a:schemeClr val="accent1"/>
              </a:buClr>
              <a:defRPr sz="2002"/>
            </a:pPr>
            <a:r>
              <a:t>As the inductor releases energy when current stops flowing in the circuit or the current flowing through the inductor is decreased during the circuit operation.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Natural Response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/>
            <a:r>
              <a:t>The behavior of the circuit with no external sources of excitation. </a:t>
            </a:r>
          </a:p>
          <a:p>
            <a:pPr lvl="1" marL="640080" indent="-246888">
              <a:spcBef>
                <a:spcPts val="500"/>
              </a:spcBef>
              <a:buClr>
                <a:schemeClr val="accent1"/>
              </a:buClr>
              <a:defRPr sz="2400"/>
            </a:pPr>
            <a:r>
              <a:t>There is stored energy in the capacitor or inductor at time =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t> s.</a:t>
            </a:r>
          </a:p>
          <a:p>
            <a:pPr lvl="1" marL="640080" indent="-246888">
              <a:spcBef>
                <a:spcPts val="500"/>
              </a:spcBef>
              <a:buClr>
                <a:schemeClr val="accent1"/>
              </a:buClr>
              <a:defRPr sz="2400"/>
            </a:pPr>
            <a:r>
              <a:t>For t &gt;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t> s, the stored energy is released</a:t>
            </a:r>
          </a:p>
          <a:p>
            <a:pPr lvl="2" marL="914400" indent="-246888">
              <a:spcBef>
                <a:spcPts val="500"/>
              </a:spcBef>
              <a:buClr>
                <a:schemeClr val="accent2"/>
              </a:buClr>
              <a:defRPr sz="2100"/>
            </a:pPr>
            <a:r>
              <a:t>Current flows through the circuit and voltages exist across components in the circuit as the stored energy is released.</a:t>
            </a:r>
          </a:p>
          <a:p>
            <a:pPr lvl="2" marL="914400" indent="-246888">
              <a:spcBef>
                <a:spcPts val="500"/>
              </a:spcBef>
              <a:buClr>
                <a:schemeClr val="accent2"/>
              </a:buClr>
              <a:defRPr sz="2100"/>
            </a:pPr>
            <a:r>
              <a:t>The stored energy will decays to zero as time approaches infinite, at which point the currents and voltages in the circuit become zero.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RC Circuit</a:t>
            </a:r>
          </a:p>
        </p:txBody>
      </p:sp>
      <p:sp>
        <p:nvSpPr>
          <p:cNvPr id="112" name="Content Placeholder 7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 marL="260604" indent="-260604" defTabSz="868680">
              <a:spcBef>
                <a:spcPts val="500"/>
              </a:spcBef>
              <a:defRPr sz="2470"/>
            </a:pPr>
            <a:r>
              <a:t>Suppose there is some charge on a capacitor at time t =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t>s.  This charge could have been stored because a voltage or current source had been in the circuit at t&lt;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t>s, but was switched off at t = 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t>s.</a:t>
            </a:r>
          </a:p>
          <a:p>
            <a:pPr marL="260604" indent="-260604" defTabSz="868680">
              <a:spcBef>
                <a:spcPts val="500"/>
              </a:spcBef>
              <a:defRPr sz="2470"/>
            </a:pPr>
            <a:r>
              <a:t>We can use the equations relating voltage and current to determine how the charge on the capacitor is removed as a function of time.</a:t>
            </a:r>
          </a:p>
          <a:p>
            <a:pPr lvl="1" marL="608076" indent="-234543" defTabSz="868680">
              <a:spcBef>
                <a:spcPts val="500"/>
              </a:spcBef>
              <a:buClr>
                <a:schemeClr val="accent1"/>
              </a:buClr>
              <a:defRPr sz="2280"/>
            </a:pPr>
            <a:r>
              <a:t>The charge flows from one plate of the capacitor through the resistor R1 to the other plate to neutralize the charge on the opposite plate of the capacitor.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91000" y="2419929"/>
            <a:ext cx="4753201" cy="443807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Equations for RC Circuit</a:t>
            </a:r>
          </a:p>
        </p:txBody>
      </p:sp>
      <p:pic>
        <p:nvPicPr>
          <p:cNvPr id="11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438400"/>
            <a:ext cx="2311400" cy="3611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600" y="685800"/>
            <a:ext cx="3473799" cy="5550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75433" y="1066799"/>
            <a:ext cx="148592" cy="228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43199" y="1600200"/>
            <a:ext cx="4600801" cy="4295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43199" y="1600200"/>
            <a:ext cx="4600801" cy="4295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" y="609600"/>
            <a:ext cx="3314700" cy="1352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43000" y="2133600"/>
            <a:ext cx="2057400" cy="1038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62000" y="3352800"/>
            <a:ext cx="2781300" cy="124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2" descr="Picture 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81000" y="4953000"/>
            <a:ext cx="4381500" cy="1209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RL Circuits</a:t>
            </a:r>
          </a:p>
        </p:txBody>
      </p:sp>
      <p:pic>
        <p:nvPicPr>
          <p:cNvPr id="1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" y="2590800"/>
            <a:ext cx="4611890" cy="205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00600" y="2209800"/>
            <a:ext cx="4086515" cy="3557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00600" y="2209800"/>
            <a:ext cx="4086515" cy="3557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813" y="-30021"/>
            <a:ext cx="3946787" cy="68880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00600" y="2209800"/>
            <a:ext cx="4086515" cy="3557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2133600"/>
            <a:ext cx="2019300" cy="1085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8200" y="3352800"/>
            <a:ext cx="2838450" cy="1238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04800" y="4876800"/>
            <a:ext cx="4429125" cy="1209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7250" y="623887"/>
            <a:ext cx="3181350" cy="12668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0961" y="228600"/>
            <a:ext cx="9204961" cy="5753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Initial Condition</a:t>
            </a:r>
          </a:p>
        </p:txBody>
      </p:sp>
      <p:sp>
        <p:nvSpPr>
          <p:cNvPr id="144" name="Content Placeholder 2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/>
            <a:r>
              <a:t>Can be obtained by inserting a d.c. source to the circuit for a time much longer than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t</a:t>
            </a:r>
            <a:r>
              <a:t> and then remove it  at t = 0.</a:t>
            </a:r>
          </a:p>
          <a:p>
            <a:pPr lvl="1" marL="640080" indent="-246888">
              <a:spcBef>
                <a:spcPts val="500"/>
              </a:spcBef>
              <a:buClr>
                <a:schemeClr val="accent1"/>
              </a:buClr>
              <a:defRPr sz="2400"/>
            </a:pPr>
            <a:r>
              <a:t>Capacitor</a:t>
            </a:r>
          </a:p>
          <a:p>
            <a:pPr lvl="2" marL="914400" indent="-246888">
              <a:spcBef>
                <a:spcPts val="500"/>
              </a:spcBef>
              <a:buClr>
                <a:schemeClr val="accent2"/>
              </a:buClr>
              <a:defRPr sz="2100"/>
            </a:pPr>
            <a:r>
              <a:t>Open Circuit Voltage</a:t>
            </a:r>
          </a:p>
          <a:p>
            <a:pPr lvl="1" marL="640080" indent="-246888">
              <a:spcBef>
                <a:spcPts val="500"/>
              </a:spcBef>
              <a:buClr>
                <a:schemeClr val="accent1"/>
              </a:buClr>
              <a:defRPr sz="2400"/>
            </a:pPr>
            <a:r>
              <a:t>Inductor</a:t>
            </a:r>
          </a:p>
          <a:p>
            <a:pPr lvl="2" marL="914400" indent="-246888">
              <a:spcBef>
                <a:spcPts val="500"/>
              </a:spcBef>
              <a:buClr>
                <a:schemeClr val="accent2"/>
              </a:buClr>
              <a:defRPr sz="2100"/>
            </a:pPr>
            <a:r>
              <a:t>Short Circuit Current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Time constant</a:t>
            </a:r>
          </a:p>
        </p:txBody>
      </p:sp>
      <p:sp>
        <p:nvSpPr>
          <p:cNvPr id="147" name="Content Placeholder 2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/>
            <a:r>
              <a:t>The time required for the voltage across the capacitor or current in the inductor to decay by a factor of 1/e or 36.8% of its initial value.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Singularity Functions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>
            <a:lvl2pPr marL="640080" indent="-246888">
              <a:spcBef>
                <a:spcPts val="500"/>
              </a:spcBef>
              <a:buClr>
                <a:schemeClr val="accent1"/>
              </a:buClr>
              <a:defRPr sz="2400"/>
            </a:lvl2pPr>
          </a:lstStyle>
          <a:p>
            <a:pPr/>
            <a:r>
              <a:t>Are discontinuous or have discontinuous derivatives.</a:t>
            </a:r>
          </a:p>
          <a:p>
            <a:pPr lvl="1"/>
            <a:r>
              <a:t>Also known as switching functions.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Step Function</a:t>
            </a:r>
          </a:p>
        </p:txBody>
      </p:sp>
      <p:pic>
        <p:nvPicPr>
          <p:cNvPr id="1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198" y="1934982"/>
            <a:ext cx="5440161" cy="3399019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Content Placeholder 4"/>
          <p:cNvSpPr txBox="1"/>
          <p:nvPr>
            <p:ph type="body" sz="quarter" idx="1"/>
          </p:nvPr>
        </p:nvSpPr>
        <p:spPr>
          <a:xfrm>
            <a:off x="5638800" y="2438400"/>
            <a:ext cx="3124200" cy="1752600"/>
          </a:xfrm>
          <a:prstGeom prst="rect">
            <a:avLst/>
          </a:prstGeom>
        </p:spPr>
        <p:txBody>
          <a:bodyPr/>
          <a:lstStyle/>
          <a:p>
            <a:pPr marL="227685" indent="-227685" defTabSz="758951">
              <a:lnSpc>
                <a:spcPct val="80000"/>
              </a:lnSpc>
              <a:spcBef>
                <a:spcPts val="0"/>
              </a:spcBef>
              <a:buSzTx/>
              <a:buFont typeface="Wingdings 2"/>
              <a:buNone/>
              <a:defRPr sz="1992"/>
            </a:pPr>
            <a:r>
              <a:t>		       0   t &lt; t</a:t>
            </a:r>
            <a:r>
              <a:rPr baseline="-28891"/>
              <a:t>o</a:t>
            </a:r>
          </a:p>
          <a:p>
            <a:pPr marL="227685" indent="-227685" defTabSz="758951">
              <a:lnSpc>
                <a:spcPct val="80000"/>
              </a:lnSpc>
              <a:spcBef>
                <a:spcPts val="0"/>
              </a:spcBef>
              <a:buSzTx/>
              <a:buFont typeface="Wingdings 2"/>
              <a:buNone/>
              <a:defRPr sz="1992"/>
            </a:pPr>
            <a:r>
              <a:t>u(t-t</a:t>
            </a:r>
            <a:r>
              <a:rPr baseline="-28891"/>
              <a:t>o</a:t>
            </a:r>
            <a:r>
              <a:t>) = </a:t>
            </a:r>
          </a:p>
          <a:p>
            <a:pPr marL="227685" indent="-227685" defTabSz="758951">
              <a:lnSpc>
                <a:spcPct val="80000"/>
              </a:lnSpc>
              <a:spcBef>
                <a:spcPts val="0"/>
              </a:spcBef>
              <a:buSzTx/>
              <a:buFont typeface="Wingdings 2"/>
              <a:buNone/>
              <a:defRPr sz="1992"/>
            </a:pPr>
            <a:r>
              <a:t>		        1  t &gt; t</a:t>
            </a:r>
            <a:r>
              <a:rPr baseline="-28891"/>
              <a:t>o</a:t>
            </a:r>
          </a:p>
          <a:p>
            <a:pPr marL="227685" indent="-227685" defTabSz="758951">
              <a:lnSpc>
                <a:spcPct val="80000"/>
              </a:lnSpc>
              <a:spcBef>
                <a:spcPts val="0"/>
              </a:spcBef>
              <a:buSzTx/>
              <a:buFont typeface="Wingdings 2"/>
              <a:buNone/>
              <a:defRPr sz="1992"/>
            </a:pPr>
          </a:p>
          <a:p>
            <a:pPr marL="227685" indent="-227685" defTabSz="758951">
              <a:lnSpc>
                <a:spcPct val="80000"/>
              </a:lnSpc>
              <a:spcBef>
                <a:spcPts val="0"/>
              </a:spcBef>
              <a:buSzTx/>
              <a:buFont typeface="Wingdings 2"/>
              <a:buNone/>
              <a:defRPr sz="1992"/>
            </a:pPr>
            <a:r>
              <a:t>V(t) = V</a:t>
            </a:r>
            <a:r>
              <a:rPr baseline="-28891"/>
              <a:t>o</a:t>
            </a:r>
            <a:r>
              <a:t> u(t-t</a:t>
            </a:r>
            <a:r>
              <a:rPr baseline="-28891"/>
              <a:t>o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Impulse Function</a:t>
            </a:r>
          </a:p>
        </p:txBody>
      </p:sp>
      <p:pic>
        <p:nvPicPr>
          <p:cNvPr id="15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884920"/>
            <a:ext cx="4038600" cy="2505799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Content Placeholder 3"/>
          <p:cNvSpPr txBox="1"/>
          <p:nvPr>
            <p:ph type="body" sz="half" idx="1"/>
          </p:nvPr>
        </p:nvSpPr>
        <p:spPr>
          <a:xfrm>
            <a:off x="4648200" y="1920084"/>
            <a:ext cx="4038600" cy="4434842"/>
          </a:xfrm>
          <a:prstGeom prst="rect">
            <a:avLst/>
          </a:prstGeom>
        </p:spPr>
        <p:txBody>
          <a:bodyPr/>
          <a:lstStyle/>
          <a:p>
            <a:pPr/>
            <a:r>
              <a:t>Derivative of a unit step function</a:t>
            </a:r>
          </a:p>
          <a:p>
            <a:pPr>
              <a:spcBef>
                <a:spcPts val="0"/>
              </a:spcBef>
              <a:buSzTx/>
              <a:buFont typeface="Wingdings 2"/>
              <a:buNone/>
            </a:pPr>
            <a:r>
              <a:t>		       0   t &lt; t</a:t>
            </a:r>
            <a:r>
              <a:rPr baseline="-25000"/>
              <a:t>o</a:t>
            </a:r>
            <a:endParaRPr baseline="-25000"/>
          </a:p>
          <a:p>
            <a:pPr>
              <a:spcBef>
                <a:spcPts val="0"/>
              </a:spcBef>
              <a:buSzTx/>
              <a:buFont typeface="Wingdings 2"/>
              <a:buNone/>
              <a:defRPr>
                <a:latin typeface="Symbol"/>
                <a:ea typeface="Symbol"/>
                <a:cs typeface="Symbol"/>
                <a:sym typeface="Symbol"/>
              </a:defRPr>
            </a:pPr>
            <a:r>
              <a:t>d</a:t>
            </a:r>
            <a:r>
              <a:rPr>
                <a:latin typeface="+mj-lt"/>
                <a:ea typeface="+mj-ea"/>
                <a:cs typeface="+mj-cs"/>
                <a:sym typeface="Constantia"/>
              </a:rPr>
              <a:t>(t-t</a:t>
            </a:r>
            <a:r>
              <a:rPr baseline="-25000">
                <a:latin typeface="+mj-lt"/>
                <a:ea typeface="+mj-ea"/>
                <a:cs typeface="+mj-cs"/>
                <a:sym typeface="Constantia"/>
              </a:rPr>
              <a:t>o</a:t>
            </a:r>
            <a:r>
              <a:rPr>
                <a:latin typeface="+mj-lt"/>
                <a:ea typeface="+mj-ea"/>
                <a:cs typeface="+mj-cs"/>
                <a:sym typeface="Constantia"/>
              </a:rPr>
              <a:t>) = Undefined  t = t</a:t>
            </a:r>
            <a:r>
              <a:rPr baseline="-25000">
                <a:latin typeface="+mj-lt"/>
                <a:ea typeface="+mj-ea"/>
                <a:cs typeface="+mj-cs"/>
                <a:sym typeface="Constantia"/>
              </a:rPr>
              <a:t>o</a:t>
            </a:r>
            <a:endParaRPr baseline="-25000">
              <a:latin typeface="+mj-lt"/>
              <a:ea typeface="+mj-ea"/>
              <a:cs typeface="+mj-cs"/>
              <a:sym typeface="Constantia"/>
            </a:endParaRPr>
          </a:p>
          <a:p>
            <a:pPr>
              <a:spcBef>
                <a:spcPts val="0"/>
              </a:spcBef>
              <a:buSzTx/>
              <a:buFont typeface="Wingdings 2"/>
              <a:buNone/>
            </a:pPr>
            <a:r>
              <a:t>		        0  t &gt; t</a:t>
            </a:r>
            <a:r>
              <a:rPr baseline="-25000"/>
              <a:t>o</a:t>
            </a:r>
            <a:endParaRPr baseline="-25000"/>
          </a:p>
          <a:p>
            <a:pPr>
              <a:spcBef>
                <a:spcPts val="0"/>
              </a:spcBef>
              <a:buSzTx/>
              <a:buFont typeface="Wingdings 2"/>
              <a:buNone/>
            </a:pPr>
            <a:endParaRPr baseline="-25000"/>
          </a:p>
          <a:p>
            <a:pPr>
              <a:spcBef>
                <a:spcPts val="0"/>
              </a:spcBef>
              <a:buSzTx/>
              <a:buFont typeface="Wingdings 2"/>
              <a:buNone/>
              <a:defRPr sz="6000"/>
            </a:pPr>
            <a:r>
              <a:t>   ∫ </a:t>
            </a:r>
            <a:r>
              <a:rPr sz="2600"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sz="2600"/>
              <a:t>(t-t</a:t>
            </a:r>
            <a:r>
              <a:rPr baseline="-25000" sz="2600"/>
              <a:t>o</a:t>
            </a:r>
            <a:r>
              <a:rPr sz="2600"/>
              <a:t>) dt = 1</a:t>
            </a:r>
          </a:p>
        </p:txBody>
      </p:sp>
      <p:sp>
        <p:nvSpPr>
          <p:cNvPr id="159" name="TextBox 5"/>
          <p:cNvSpPr txBox="1"/>
          <p:nvPr/>
        </p:nvSpPr>
        <p:spPr>
          <a:xfrm>
            <a:off x="5334000" y="4876799"/>
            <a:ext cx="457200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</a:t>
            </a:r>
            <a:r>
              <a:rPr baseline="-25000"/>
              <a:t>o</a:t>
            </a:r>
            <a:r>
              <a:rPr baseline="30000"/>
              <a:t>-</a:t>
            </a:r>
          </a:p>
        </p:txBody>
      </p:sp>
      <p:sp>
        <p:nvSpPr>
          <p:cNvPr id="160" name="TextBox 6"/>
          <p:cNvSpPr txBox="1"/>
          <p:nvPr/>
        </p:nvSpPr>
        <p:spPr>
          <a:xfrm>
            <a:off x="5486400" y="4267199"/>
            <a:ext cx="457200" cy="43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</a:t>
            </a:r>
            <a:r>
              <a:rPr baseline="-25000"/>
              <a:t>o</a:t>
            </a:r>
            <a:r>
              <a:rPr baseline="30000"/>
              <a:t>+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Integration of Unit Functions</a:t>
            </a:r>
          </a:p>
        </p:txBody>
      </p:sp>
      <p:sp>
        <p:nvSpPr>
          <p:cNvPr id="163" name="Content Placeholder 5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Font typeface="Wingdings 2"/>
              <a:buNone/>
              <a:defRPr sz="6600"/>
            </a:pPr>
            <a:r>
              <a:t>∫ </a:t>
            </a:r>
            <a:r>
              <a:rPr sz="2600"/>
              <a:t>f(t) </a:t>
            </a:r>
            <a:r>
              <a:rPr sz="2600"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sz="2600"/>
              <a:t>(t-t</a:t>
            </a:r>
            <a:r>
              <a:rPr baseline="-25000" sz="2600"/>
              <a:t>o</a:t>
            </a:r>
            <a:r>
              <a:rPr sz="2600"/>
              <a:t>) dt = f(t</a:t>
            </a:r>
            <a:r>
              <a:rPr baseline="-25000" sz="2600"/>
              <a:t>o</a:t>
            </a:r>
            <a:r>
              <a:rPr sz="2600"/>
              <a:t>), the value of f(t) at t = t</a:t>
            </a:r>
            <a:r>
              <a:rPr baseline="-25000" sz="2600"/>
              <a:t>o</a:t>
            </a:r>
            <a:endParaRPr baseline="-25000" sz="2600"/>
          </a:p>
          <a:p>
            <a:pPr>
              <a:buSzTx/>
              <a:buFont typeface="Wingdings 2"/>
              <a:buNone/>
            </a:pPr>
            <a:endParaRPr baseline="-25000"/>
          </a:p>
          <a:p>
            <a:pPr>
              <a:buSzTx/>
              <a:buFont typeface="Wingdings 2"/>
              <a:buNone/>
            </a:pPr>
            <a:r>
              <a:t>A unit ramp function:</a:t>
            </a:r>
          </a:p>
          <a:p>
            <a:pPr>
              <a:spcBef>
                <a:spcPts val="1500"/>
              </a:spcBef>
              <a:buSzTx/>
              <a:buFont typeface="Wingdings 2"/>
              <a:buNone/>
            </a:pPr>
            <a:r>
              <a:t>r(t) = </a:t>
            </a:r>
            <a:r>
              <a:rPr sz="6600"/>
              <a:t>∫ </a:t>
            </a:r>
            <a:r>
              <a:t>u(t-t</a:t>
            </a:r>
            <a:r>
              <a:rPr baseline="-25000"/>
              <a:t>o</a:t>
            </a:r>
            <a:r>
              <a:t>) dt</a:t>
            </a:r>
          </a:p>
        </p:txBody>
      </p:sp>
      <p:sp>
        <p:nvSpPr>
          <p:cNvPr id="164" name="TextBox 6"/>
          <p:cNvSpPr txBox="1"/>
          <p:nvPr/>
        </p:nvSpPr>
        <p:spPr>
          <a:xfrm>
            <a:off x="1752600" y="4038600"/>
            <a:ext cx="30480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</a:t>
            </a:r>
          </a:p>
        </p:txBody>
      </p:sp>
      <p:sp>
        <p:nvSpPr>
          <p:cNvPr id="165" name="TextBox 7"/>
          <p:cNvSpPr txBox="1"/>
          <p:nvPr/>
        </p:nvSpPr>
        <p:spPr>
          <a:xfrm>
            <a:off x="1524000" y="4812267"/>
            <a:ext cx="45720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-∞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Ramp Function</a:t>
            </a:r>
          </a:p>
        </p:txBody>
      </p:sp>
      <p:pic>
        <p:nvPicPr>
          <p:cNvPr id="16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935703"/>
            <a:ext cx="4038600" cy="2404230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Content Placeholder 8"/>
          <p:cNvSpPr txBox="1"/>
          <p:nvPr>
            <p:ph type="body" sz="half" idx="1"/>
          </p:nvPr>
        </p:nvSpPr>
        <p:spPr>
          <a:xfrm>
            <a:off x="4648200" y="1920084"/>
            <a:ext cx="4038600" cy="4434842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500"/>
              </a:spcBef>
              <a:buSzTx/>
              <a:buFont typeface="Wingdings 2"/>
              <a:buNone/>
            </a:pPr>
            <a:r>
              <a:t>  r(t) = </a:t>
            </a:r>
            <a:r>
              <a:rPr sz="6600"/>
              <a:t>∫ </a:t>
            </a:r>
            <a:r>
              <a:t>u(t-t</a:t>
            </a:r>
            <a:r>
              <a:rPr baseline="-25000"/>
              <a:t>o</a:t>
            </a:r>
            <a:r>
              <a:t>) dt = t u(t)</a:t>
            </a:r>
          </a:p>
          <a:p>
            <a:pPr>
              <a:buSzTx/>
              <a:buFont typeface="Wingdings 2"/>
              <a:buNone/>
            </a:pPr>
          </a:p>
          <a:p>
            <a:pPr>
              <a:spcBef>
                <a:spcPts val="0"/>
              </a:spcBef>
              <a:buSzTx/>
              <a:buFont typeface="Wingdings 2"/>
              <a:buNone/>
            </a:pPr>
            <a:r>
              <a:t>		     0  	      t &lt; t</a:t>
            </a:r>
            <a:r>
              <a:rPr baseline="-25000"/>
              <a:t>o</a:t>
            </a:r>
            <a:endParaRPr baseline="-25000"/>
          </a:p>
          <a:p>
            <a:pPr>
              <a:spcBef>
                <a:spcPts val="0"/>
              </a:spcBef>
              <a:buSzTx/>
              <a:buFont typeface="Wingdings 2"/>
              <a:buNone/>
            </a:pPr>
            <a:r>
              <a:t>	r(t) =</a:t>
            </a:r>
          </a:p>
          <a:p>
            <a:pPr>
              <a:spcBef>
                <a:spcPts val="0"/>
              </a:spcBef>
              <a:buSzTx/>
              <a:buFont typeface="Wingdings 2"/>
              <a:buNone/>
            </a:pPr>
            <a:r>
              <a:t>		     (t- t</a:t>
            </a:r>
            <a:r>
              <a:rPr baseline="-25000"/>
              <a:t>o</a:t>
            </a:r>
            <a:r>
              <a:t>)    t &gt; t</a:t>
            </a:r>
            <a:r>
              <a:rPr baseline="-25000"/>
              <a:t>o</a:t>
            </a:r>
          </a:p>
        </p:txBody>
      </p:sp>
      <p:sp>
        <p:nvSpPr>
          <p:cNvPr id="170" name="TextBox 6"/>
          <p:cNvSpPr txBox="1"/>
          <p:nvPr/>
        </p:nvSpPr>
        <p:spPr>
          <a:xfrm>
            <a:off x="6019800" y="1676400"/>
            <a:ext cx="304800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</a:t>
            </a:r>
          </a:p>
        </p:txBody>
      </p:sp>
      <p:sp>
        <p:nvSpPr>
          <p:cNvPr id="171" name="TextBox 7"/>
          <p:cNvSpPr txBox="1"/>
          <p:nvPr/>
        </p:nvSpPr>
        <p:spPr>
          <a:xfrm>
            <a:off x="5791200" y="2438399"/>
            <a:ext cx="45720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-∞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990600"/>
            <a:ext cx="4038600" cy="2739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Rectangle 6"/>
          <p:cNvSpPr txBox="1"/>
          <p:nvPr/>
        </p:nvSpPr>
        <p:spPr>
          <a:xfrm>
            <a:off x="1981200" y="3429000"/>
            <a:ext cx="2514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V(t) = 5V [1 - u(t)]</a:t>
            </a:r>
          </a:p>
        </p:txBody>
      </p:sp>
      <p:sp>
        <p:nvSpPr>
          <p:cNvPr id="175" name="TextBox 9"/>
          <p:cNvSpPr txBox="1"/>
          <p:nvPr/>
        </p:nvSpPr>
        <p:spPr>
          <a:xfrm>
            <a:off x="5791200" y="1676399"/>
            <a:ext cx="2438400" cy="268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t &lt; 0</a:t>
            </a:r>
          </a:p>
          <a:p>
            <a:pPr>
              <a:defRPr sz="1200"/>
            </a:pPr>
          </a:p>
          <a:p>
            <a:pPr>
              <a:defRPr sz="2800"/>
            </a:pPr>
            <a:r>
              <a:t>V</a:t>
            </a:r>
            <a:r>
              <a:rPr baseline="-25000"/>
              <a:t>L </a:t>
            </a:r>
            <a:r>
              <a:t>= 0V</a:t>
            </a:r>
          </a:p>
          <a:p>
            <a:pPr>
              <a:defRPr sz="2800"/>
            </a:pPr>
            <a:r>
              <a:t>V</a:t>
            </a:r>
            <a:r>
              <a:rPr baseline="-25000"/>
              <a:t>R </a:t>
            </a:r>
            <a:r>
              <a:t>= 5V</a:t>
            </a:r>
          </a:p>
          <a:p>
            <a:pPr>
              <a:defRPr sz="2800"/>
            </a:pPr>
            <a:r>
              <a:t>I</a:t>
            </a:r>
            <a:r>
              <a:rPr baseline="-25000"/>
              <a:t>L</a:t>
            </a:r>
            <a:r>
              <a:t> = I</a:t>
            </a:r>
            <a:r>
              <a:rPr baseline="-25000"/>
              <a:t>R</a:t>
            </a:r>
            <a:r>
              <a:t> = 5mA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524000"/>
            <a:ext cx="4038600" cy="2739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Content Placeholder 3"/>
          <p:cNvSpPr txBox="1"/>
          <p:nvPr>
            <p:ph type="body" sz="half" idx="1"/>
          </p:nvPr>
        </p:nvSpPr>
        <p:spPr>
          <a:xfrm>
            <a:off x="4038600" y="1524000"/>
            <a:ext cx="5105400" cy="4419600"/>
          </a:xfrm>
          <a:prstGeom prst="rect">
            <a:avLst/>
          </a:prstGeom>
        </p:spPr>
        <p:txBody>
          <a:bodyPr/>
          <a:lstStyle/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760"/>
            </a:pPr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t &gt; 0</a:t>
            </a:r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t = L/R = 10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m</a:t>
            </a:r>
            <a:r>
              <a:t>H/1k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 = 10 ns</a:t>
            </a:r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I</a:t>
            </a:r>
            <a:r>
              <a:rPr baseline="-26000"/>
              <a:t>L</a:t>
            </a:r>
            <a:r>
              <a:t> = I</a:t>
            </a:r>
            <a:r>
              <a:rPr baseline="-26000"/>
              <a:t>R</a:t>
            </a:r>
            <a:r>
              <a:t> =i(0)e</a:t>
            </a:r>
            <a:r>
              <a:rPr baseline="29894"/>
              <a:t>-t/</a:t>
            </a:r>
            <a:r>
              <a:rPr baseline="29894">
                <a:latin typeface="Symbol"/>
                <a:ea typeface="Symbol"/>
                <a:cs typeface="Symbol"/>
                <a:sym typeface="Symbol"/>
              </a:rPr>
              <a:t>t</a:t>
            </a:r>
            <a:r>
              <a:rPr baseline="29894"/>
              <a:t> </a:t>
            </a:r>
            <a:r>
              <a:t>= 5mA e</a:t>
            </a:r>
            <a:r>
              <a:rPr baseline="29894"/>
              <a:t>-t/10ns </a:t>
            </a:r>
            <a:endParaRPr baseline="29894"/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V</a:t>
            </a:r>
            <a:r>
              <a:rPr baseline="-26000"/>
              <a:t>R </a:t>
            </a:r>
            <a:r>
              <a:t>= 1k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 I</a:t>
            </a:r>
            <a:r>
              <a:rPr baseline="-26000"/>
              <a:t>R</a:t>
            </a:r>
            <a:r>
              <a:t>  = 5V e</a:t>
            </a:r>
            <a:r>
              <a:rPr baseline="29894"/>
              <a:t>-t/10ns </a:t>
            </a:r>
            <a:endParaRPr baseline="29894"/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V</a:t>
            </a:r>
            <a:r>
              <a:rPr baseline="-26000"/>
              <a:t>L </a:t>
            </a:r>
            <a:r>
              <a:t>= L dI</a:t>
            </a:r>
            <a:r>
              <a:rPr baseline="-26000"/>
              <a:t>L</a:t>
            </a:r>
            <a:r>
              <a:t>/dt = -5V e</a:t>
            </a:r>
            <a:r>
              <a:rPr baseline="29894"/>
              <a:t>-t/10ns </a:t>
            </a:r>
            <a:endParaRPr baseline="29894"/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baseline="29894" sz="2470"/>
            </a:pPr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baseline="29894" sz="2470"/>
            </a:pPr>
          </a:p>
          <a:p>
            <a:pPr marL="260604" indent="-260604" defTabSz="868680">
              <a:spcBef>
                <a:spcPts val="500"/>
              </a:spcBef>
              <a:buSzTx/>
              <a:buFont typeface="Wingdings 2"/>
              <a:buNone/>
              <a:defRPr sz="2470"/>
            </a:pPr>
            <a:r>
              <a:t>Note</a:t>
            </a:r>
            <a:r>
              <a:rPr baseline="29894"/>
              <a:t> </a:t>
            </a:r>
            <a:r>
              <a:t>V</a:t>
            </a:r>
            <a:r>
              <a:rPr baseline="-26000"/>
              <a:t>R </a:t>
            </a:r>
            <a:r>
              <a:t>+ V</a:t>
            </a:r>
            <a:r>
              <a:rPr baseline="-26000"/>
              <a:t>L </a:t>
            </a:r>
            <a:r>
              <a:t>= 0 V</a:t>
            </a:r>
          </a:p>
        </p:txBody>
      </p:sp>
      <p:sp>
        <p:nvSpPr>
          <p:cNvPr id="179" name="Rectangle 5"/>
          <p:cNvSpPr txBox="1"/>
          <p:nvPr/>
        </p:nvSpPr>
        <p:spPr>
          <a:xfrm>
            <a:off x="914400" y="4191000"/>
            <a:ext cx="25146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V(t) = 5V [1 - u(t)]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5"/>
          <p:cNvSpPr txBox="1"/>
          <p:nvPr/>
        </p:nvSpPr>
        <p:spPr>
          <a:xfrm>
            <a:off x="1981200" y="4495800"/>
            <a:ext cx="3429000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V(t) = 5V [1 - u(t - 2ms)]</a:t>
            </a:r>
          </a:p>
        </p:txBody>
      </p:sp>
      <p:pic>
        <p:nvPicPr>
          <p:cNvPr id="18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600" y="533400"/>
            <a:ext cx="8411789" cy="41052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 &lt; 2ms</a:t>
            </a:r>
          </a:p>
        </p:txBody>
      </p:sp>
      <p:pic>
        <p:nvPicPr>
          <p:cNvPr id="18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" y="1524000"/>
            <a:ext cx="7772400" cy="354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8400" y="3429000"/>
            <a:ext cx="6331716" cy="3149522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 &lt; 2ms</a:t>
            </a:r>
          </a:p>
        </p:txBody>
      </p:sp>
      <p:sp>
        <p:nvSpPr>
          <p:cNvPr id="189" name="Content Placeholder 3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</p:spPr>
        <p:txBody>
          <a:bodyPr/>
          <a:lstStyle/>
          <a:p>
            <a:pPr/>
            <a:r>
              <a:t>C1 is an open.  </a:t>
            </a:r>
          </a:p>
          <a:p>
            <a:pPr lvl="1" marL="640080" indent="-246888">
              <a:spcBef>
                <a:spcPts val="500"/>
              </a:spcBef>
              <a:buClr>
                <a:schemeClr val="accent1"/>
              </a:buClr>
              <a:defRPr sz="2400"/>
            </a:pPr>
            <a:r>
              <a:t>The voltage across the capacitor is equal to the voltage across the 12k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 resistor.</a:t>
            </a:r>
          </a:p>
          <a:p>
            <a:pPr lvl="1" marL="246888" indent="146304">
              <a:spcBef>
                <a:spcPts val="500"/>
              </a:spcBef>
              <a:buSzTx/>
              <a:buFont typeface="Wingdings 2"/>
              <a:buNone/>
              <a:defRPr sz="1100"/>
            </a:pPr>
          </a:p>
          <a:p>
            <a:pPr lvl="1" marL="246888" indent="146304"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V</a:t>
            </a:r>
            <a:r>
              <a:rPr baseline="-25000"/>
              <a:t>C</a:t>
            </a:r>
            <a:r>
              <a:t> = [12k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 /15k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] 5V = 4V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 &gt; 2ms</a:t>
            </a:r>
          </a:p>
        </p:txBody>
      </p:sp>
      <p:pic>
        <p:nvPicPr>
          <p:cNvPr id="19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056" y="1828800"/>
            <a:ext cx="4953145" cy="320040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Right Arrow 4"/>
          <p:cNvSpPr/>
          <p:nvPr/>
        </p:nvSpPr>
        <p:spPr>
          <a:xfrm>
            <a:off x="5029200" y="3124200"/>
            <a:ext cx="685800" cy="6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>
            <a:solidFill>
              <a:srgbClr val="21768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0" y="2153096"/>
            <a:ext cx="3124200" cy="2871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 &gt; 2ms</a:t>
            </a:r>
          </a:p>
        </p:txBody>
      </p:sp>
      <p:sp>
        <p:nvSpPr>
          <p:cNvPr id="197" name="Content Placeholder 2"/>
          <p:cNvSpPr txBox="1"/>
          <p:nvPr>
            <p:ph type="body" idx="1"/>
          </p:nvPr>
        </p:nvSpPr>
        <p:spPr>
          <a:xfrm>
            <a:off x="1295400" y="1600200"/>
            <a:ext cx="73914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ts val="500"/>
              </a:spcBef>
              <a:buFont typeface="Symbol"/>
              <a:buChar char="t"/>
              <a:defRPr sz="2400"/>
            </a:pPr>
            <a:r>
              <a:t>= R</a:t>
            </a:r>
            <a:r>
              <a:rPr baseline="-25000"/>
              <a:t>eq</a:t>
            </a:r>
            <a:r>
              <a:t>C = 3k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W</a:t>
            </a:r>
            <a:r>
              <a:t>(2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m</a:t>
            </a:r>
            <a:r>
              <a:t>F) = 6 ms</a:t>
            </a: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1100"/>
            </a:pP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V</a:t>
            </a:r>
            <a:r>
              <a:rPr baseline="-25000"/>
              <a:t>C </a:t>
            </a:r>
            <a:r>
              <a:t>= V</a:t>
            </a:r>
            <a:r>
              <a:rPr baseline="-25000"/>
              <a:t>C</a:t>
            </a:r>
            <a:r>
              <a:t>(2ms)e</a:t>
            </a:r>
            <a:r>
              <a:rPr baseline="30000"/>
              <a:t>-(t-2ms)/</a:t>
            </a:r>
            <a:r>
              <a:rPr baseline="30000">
                <a:latin typeface="Symbol"/>
                <a:ea typeface="Symbol"/>
                <a:cs typeface="Symbol"/>
                <a:sym typeface="Symbol"/>
              </a:rPr>
              <a:t>t</a:t>
            </a:r>
            <a:r>
              <a:rPr baseline="30000"/>
              <a:t> </a:t>
            </a:r>
            <a:r>
              <a:t> = 4V e</a:t>
            </a:r>
            <a:r>
              <a:rPr baseline="30000"/>
              <a:t>-(t-2ms)/6ms </a:t>
            </a: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V</a:t>
            </a:r>
            <a:r>
              <a:rPr baseline="-25000"/>
              <a:t>R </a:t>
            </a:r>
            <a:r>
              <a:t>= V</a:t>
            </a:r>
            <a:r>
              <a:rPr baseline="-25000"/>
              <a:t>C</a:t>
            </a: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1200"/>
            </a:pP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I</a:t>
            </a:r>
            <a:r>
              <a:rPr baseline="-25000"/>
              <a:t>C</a:t>
            </a:r>
            <a:r>
              <a:t> = C dV</a:t>
            </a:r>
            <a:r>
              <a:rPr baseline="-25000"/>
              <a:t>c</a:t>
            </a:r>
            <a:r>
              <a:t>/dt = 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m</a:t>
            </a:r>
            <a:r>
              <a:t>F(-4V/6ms) e</a:t>
            </a:r>
            <a:r>
              <a:rPr baseline="30000"/>
              <a:t>-(t-2ms)/6ms</a:t>
            </a:r>
            <a:r>
              <a:t> </a:t>
            </a: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	= -1.33 e</a:t>
            </a:r>
            <a:r>
              <a:rPr baseline="30000"/>
              <a:t>-(t-2ms)/6ms </a:t>
            </a:r>
            <a:r>
              <a:t>mA </a:t>
            </a: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I</a:t>
            </a:r>
            <a:r>
              <a:rPr baseline="-25000"/>
              <a:t>R </a:t>
            </a:r>
            <a:r>
              <a:t>= - I</a:t>
            </a:r>
            <a:r>
              <a:rPr baseline="-25000"/>
              <a:t>C</a:t>
            </a:r>
            <a:r>
              <a:t> = 1.33 e</a:t>
            </a:r>
            <a:r>
              <a:rPr baseline="30000"/>
              <a:t>-(t-2ms)/6ms </a:t>
            </a:r>
            <a:r>
              <a:t>mA </a:t>
            </a:r>
            <a:endParaRPr baseline="30000"/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baseline="30000" sz="2400"/>
            </a:pPr>
          </a:p>
          <a:p>
            <a:pPr>
              <a:lnSpc>
                <a:spcPct val="90000"/>
              </a:lnSpc>
              <a:spcBef>
                <a:spcPts val="500"/>
              </a:spcBef>
              <a:buSzTx/>
              <a:buFont typeface="Wingdings 2"/>
              <a:buNone/>
              <a:defRPr sz="2400"/>
            </a:pPr>
            <a:r>
              <a:t>Note I</a:t>
            </a:r>
            <a:r>
              <a:rPr baseline="-25000"/>
              <a:t>R </a:t>
            </a:r>
            <a:r>
              <a:t>+ I</a:t>
            </a:r>
            <a:r>
              <a:rPr baseline="-25000"/>
              <a:t>C </a:t>
            </a:r>
            <a:r>
              <a:t>= 0 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0000FF"/>
      </a:hlink>
      <a:folHlink>
        <a:srgbClr val="FF00FF"/>
      </a:folHlink>
    </a:clrScheme>
    <a:fontScheme name="Flow">
      <a:majorFont>
        <a:latin typeface="Constantia"/>
        <a:ea typeface="Constantia"/>
        <a:cs typeface="Constantia"/>
      </a:majorFont>
      <a:minorFont>
        <a:latin typeface="Helvetica"/>
        <a:ea typeface="Helvetica"/>
        <a:cs typeface="Helvetica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38100" dir="5400000">
              <a:srgbClr val="0E3741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E3741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502107">
                <a:alpha val="4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E3741">
              <a:alpha val="4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E3741">
              <a:alpha val="4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0000FF"/>
      </a:hlink>
      <a:folHlink>
        <a:srgbClr val="FF00FF"/>
      </a:folHlink>
    </a:clrScheme>
    <a:fontScheme name="Flow">
      <a:majorFont>
        <a:latin typeface="Constantia"/>
        <a:ea typeface="Constantia"/>
        <a:cs typeface="Constantia"/>
      </a:majorFont>
      <a:minorFont>
        <a:latin typeface="Helvetica"/>
        <a:ea typeface="Helvetica"/>
        <a:cs typeface="Helvetica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38100" dir="5400000">
              <a:srgbClr val="0E3741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E3741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502107">
                <a:alpha val="4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E3741">
              <a:alpha val="4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E3741">
              <a:alpha val="4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