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media/image1.jpeg" ContentType="image/jpeg"/>
  <Override PartName="/ppt/media/image2.jpeg" ContentType="image/jpeg"/>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Helvetica Neue Medium"/>
        <a:ea typeface="Helvetica Neue Medium"/>
        <a:cs typeface="Helvetica Neue Medium"/>
        <a:sym typeface="Helvetica Neue Medium"/>
      </a:defRPr>
    </a:lvl1pPr>
    <a:lvl2pPr marL="0" marR="0" indent="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Helvetica Neue Medium"/>
        <a:ea typeface="Helvetica Neue Medium"/>
        <a:cs typeface="Helvetica Neue Medium"/>
        <a:sym typeface="Helvetica Neue Medium"/>
      </a:defRPr>
    </a:lvl2pPr>
    <a:lvl3pPr marL="0" marR="0" indent="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Helvetica Neue Medium"/>
        <a:ea typeface="Helvetica Neue Medium"/>
        <a:cs typeface="Helvetica Neue Medium"/>
        <a:sym typeface="Helvetica Neue Medium"/>
      </a:defRPr>
    </a:lvl3pPr>
    <a:lvl4pPr marL="0" marR="0" indent="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Helvetica Neue Medium"/>
        <a:ea typeface="Helvetica Neue Medium"/>
        <a:cs typeface="Helvetica Neue Medium"/>
        <a:sym typeface="Helvetica Neue Medium"/>
      </a:defRPr>
    </a:lvl4pPr>
    <a:lvl5pPr marL="0" marR="0" indent="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Helvetica Neue Medium"/>
        <a:ea typeface="Helvetica Neue Medium"/>
        <a:cs typeface="Helvetica Neue Medium"/>
        <a:sym typeface="Helvetica Neue Medium"/>
      </a:defRPr>
    </a:lvl5pPr>
    <a:lvl6pPr marL="0" marR="0" indent="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Helvetica Neue Medium"/>
        <a:ea typeface="Helvetica Neue Medium"/>
        <a:cs typeface="Helvetica Neue Medium"/>
        <a:sym typeface="Helvetica Neue Medium"/>
      </a:defRPr>
    </a:lvl6pPr>
    <a:lvl7pPr marL="0" marR="0" indent="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Helvetica Neue Medium"/>
        <a:ea typeface="Helvetica Neue Medium"/>
        <a:cs typeface="Helvetica Neue Medium"/>
        <a:sym typeface="Helvetica Neue Medium"/>
      </a:defRPr>
    </a:lvl7pPr>
    <a:lvl8pPr marL="0" marR="0" indent="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Helvetica Neue Medium"/>
        <a:ea typeface="Helvetica Neue Medium"/>
        <a:cs typeface="Helvetica Neue Medium"/>
        <a:sym typeface="Helvetica Neue Medium"/>
      </a:defRPr>
    </a:lvl8pPr>
    <a:lvl9pPr marL="0" marR="0" indent="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Helvetica Neue Medium"/>
        <a:ea typeface="Helvetica Neue Medium"/>
        <a:cs typeface="Helvetica Neue Medium"/>
        <a:sym typeface="Helvetica Neue Medium"/>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Medium"/>
          <a:ea typeface="Helvetica Neue Medium"/>
          <a:cs typeface="Helvetica Neue Medium"/>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76BA"/>
          </a:solidFill>
        </a:fill>
      </a:tcStyle>
    </a:firstCol>
    <a:lastRow>
      <a:tcTxStyle b="off" i="off">
        <a:font>
          <a:latin typeface="Helvetica Neue Medium"/>
          <a:ea typeface="Helvetica Neue Medium"/>
          <a:cs typeface="Helvetica Neue Medium"/>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4D80"/>
          </a:solidFill>
        </a:fill>
      </a:tcStyle>
    </a:firstRow>
  </a:tblStyle>
  <a:tblStyle styleId="{C7B018BB-80A7-4F77-B60F-C8B233D01FF8}" styleName="">
    <a:tblBg/>
    <a:wholeTbl>
      <a:tcTxStyle b="off" i="off">
        <a:font>
          <a:latin typeface="Helvetica Neue Medium"/>
          <a:ea typeface="Helvetica Neue Medium"/>
          <a:cs typeface="Helvetica Neue Medium"/>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b="def" i="def"/>
      <a:tcStyle>
        <a:tcBdr/>
        <a:fill>
          <a:solidFill>
            <a:srgbClr val="E6F0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
          <a:latin typeface="Helvetica Neue Medium"/>
          <a:ea typeface="Helvetica Neue Medium"/>
          <a:cs typeface="Helvetica Neue Medium"/>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b="def" i="def"/>
      <a:tcStyle>
        <a:tcBdr/>
        <a:fill>
          <a:solidFill>
            <a:srgbClr val="EAF8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
          <a:latin typeface="Helvetica Neue Medium"/>
          <a:ea typeface="Helvetica Neue Medium"/>
          <a:cs typeface="Helvetica Neue Medium"/>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9D1E1"/>
          </a:solidFill>
        </a:fill>
      </a:tcStyle>
    </a:wholeTbl>
    <a:band2H>
      <a:tcTxStyle b="def" i="def"/>
      <a:tcStyle>
        <a:tcBdr/>
        <a:fill>
          <a:solidFill>
            <a:srgbClr val="FCE9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
          <a:latin typeface="Helvetica Neue Medium"/>
          <a:ea typeface="Helvetica Neue Medium"/>
          <a:cs typeface="Helvetica Neue Medium"/>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
          <a:latin typeface="Helvetica Neue Medium"/>
          <a:ea typeface="Helvetica Neue Medium"/>
          <a:cs typeface="Helvetica Neue Medium"/>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49" name="Shape 149"/>
          <p:cNvSpPr/>
          <p:nvPr>
            <p:ph type="sldImg"/>
          </p:nvPr>
        </p:nvSpPr>
        <p:spPr>
          <a:xfrm>
            <a:off x="1143000" y="685800"/>
            <a:ext cx="4572000" cy="3429000"/>
          </a:xfrm>
          <a:prstGeom prst="rect">
            <a:avLst/>
          </a:prstGeom>
        </p:spPr>
        <p:txBody>
          <a:bodyPr/>
          <a:lstStyle/>
          <a:p>
            <a:pPr/>
          </a:p>
        </p:txBody>
      </p:sp>
      <p:sp>
        <p:nvSpPr>
          <p:cNvPr id="150" name="Shape 15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1.png"/><Relationship Id="rId4" Type="http://schemas.openxmlformats.org/officeDocument/2006/relationships/image" Target="../media/image2.png"/></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image" Target="../media/image2.png"/></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amp; Subtitle">
    <p:spTree>
      <p:nvGrpSpPr>
        <p:cNvPr id="1" name=""/>
        <p:cNvGrpSpPr/>
        <p:nvPr/>
      </p:nvGrpSpPr>
      <p:grpSpPr>
        <a:xfrm>
          <a:off x="0" y="0"/>
          <a:ext cx="0" cy="0"/>
          <a:chOff x="0" y="0"/>
          <a:chExt cx="0" cy="0"/>
        </a:xfrm>
      </p:grpSpPr>
      <p:sp>
        <p:nvSpPr>
          <p:cNvPr id="11" name="Title Text"/>
          <p:cNvSpPr txBox="1"/>
          <p:nvPr>
            <p:ph type="title"/>
          </p:nvPr>
        </p:nvSpPr>
        <p:spPr>
          <a:xfrm>
            <a:off x="1270000" y="1638300"/>
            <a:ext cx="10464800" cy="3302000"/>
          </a:xfrm>
          <a:prstGeom prst="rect">
            <a:avLst/>
          </a:prstGeom>
        </p:spPr>
        <p:txBody>
          <a:bodyPr anchor="b"/>
          <a:lstStyle/>
          <a:p>
            <a:pPr/>
            <a:r>
              <a:t>Title Text</a:t>
            </a:r>
          </a:p>
        </p:txBody>
      </p:sp>
      <p:sp>
        <p:nvSpPr>
          <p:cNvPr id="12" name="Body Level One…"/>
          <p:cNvSpPr txBox="1"/>
          <p:nvPr>
            <p:ph type="body" sz="quarter" idx="1"/>
          </p:nvPr>
        </p:nvSpPr>
        <p:spPr>
          <a:xfrm>
            <a:off x="1270000" y="5041900"/>
            <a:ext cx="10464800" cy="1130300"/>
          </a:xfrm>
          <a:prstGeom prst="rect">
            <a:avLst/>
          </a:prstGeom>
        </p:spPr>
        <p:txBody>
          <a:bodyPr anchor="t"/>
          <a:lstStyle>
            <a:lvl1pPr marL="0" indent="0" algn="ctr">
              <a:spcBef>
                <a:spcPts val="0"/>
              </a:spcBef>
              <a:buSzTx/>
              <a:buNone/>
              <a:defRPr sz="3700"/>
            </a:lvl1pPr>
            <a:lvl2pPr marL="0" indent="0" algn="ctr">
              <a:spcBef>
                <a:spcPts val="0"/>
              </a:spcBef>
              <a:buSzTx/>
              <a:buNone/>
              <a:defRPr sz="3700"/>
            </a:lvl2pPr>
            <a:lvl3pPr marL="0" indent="0" algn="ctr">
              <a:spcBef>
                <a:spcPts val="0"/>
              </a:spcBef>
              <a:buSzTx/>
              <a:buNone/>
              <a:defRPr sz="3700"/>
            </a:lvl3pPr>
            <a:lvl4pPr marL="0" indent="0" algn="ctr">
              <a:spcBef>
                <a:spcPts val="0"/>
              </a:spcBef>
              <a:buSzTx/>
              <a:buNone/>
              <a:defRPr sz="3700"/>
            </a:lvl4pPr>
            <a:lvl5pPr marL="0" indent="0" algn="ctr">
              <a:spcBef>
                <a:spcPts val="0"/>
              </a:spcBef>
              <a:buSzTx/>
              <a:buNone/>
              <a:defRPr sz="37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lvl1pPr>
              <a:defRPr>
                <a:latin typeface="Helvetica Neue Thin"/>
                <a:ea typeface="Helvetica Neue Thin"/>
                <a:cs typeface="Helvetica Neue Thin"/>
                <a:sym typeface="Helvetica Neue Thin"/>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Horizontal">
    <p:spTree>
      <p:nvGrpSpPr>
        <p:cNvPr id="1" name=""/>
        <p:cNvGrpSpPr/>
        <p:nvPr/>
      </p:nvGrpSpPr>
      <p:grpSpPr>
        <a:xfrm>
          <a:off x="0" y="0"/>
          <a:ext cx="0" cy="0"/>
          <a:chOff x="0" y="0"/>
          <a:chExt cx="0" cy="0"/>
        </a:xfrm>
      </p:grpSpPr>
      <p:sp>
        <p:nvSpPr>
          <p:cNvPr id="20" name="Image"/>
          <p:cNvSpPr/>
          <p:nvPr>
            <p:ph type="pic" idx="13"/>
          </p:nvPr>
        </p:nvSpPr>
        <p:spPr>
          <a:xfrm>
            <a:off x="1625600" y="673100"/>
            <a:ext cx="9753600" cy="5905500"/>
          </a:xfrm>
          <a:prstGeom prst="rect">
            <a:avLst/>
          </a:prstGeom>
        </p:spPr>
        <p:txBody>
          <a:bodyPr lIns="91439" tIns="45719" rIns="91439" bIns="45719" anchor="t">
            <a:noAutofit/>
          </a:bodyPr>
          <a:lstStyle/>
          <a:p>
            <a:pPr/>
          </a:p>
        </p:txBody>
      </p:sp>
      <p:sp>
        <p:nvSpPr>
          <p:cNvPr id="21" name="Title Text"/>
          <p:cNvSpPr txBox="1"/>
          <p:nvPr>
            <p:ph type="title"/>
          </p:nvPr>
        </p:nvSpPr>
        <p:spPr>
          <a:xfrm>
            <a:off x="1270000" y="6718300"/>
            <a:ext cx="10464800" cy="1422400"/>
          </a:xfrm>
          <a:prstGeom prst="rect">
            <a:avLst/>
          </a:prstGeom>
        </p:spPr>
        <p:txBody>
          <a:bodyPr anchor="b"/>
          <a:lstStyle/>
          <a:p>
            <a:pPr/>
            <a:r>
              <a:t>Title Text</a:t>
            </a:r>
          </a:p>
        </p:txBody>
      </p:sp>
      <p:sp>
        <p:nvSpPr>
          <p:cNvPr id="22" name="Body Level One…"/>
          <p:cNvSpPr txBox="1"/>
          <p:nvPr>
            <p:ph type="body" sz="quarter" idx="1"/>
          </p:nvPr>
        </p:nvSpPr>
        <p:spPr>
          <a:xfrm>
            <a:off x="1270000" y="8153400"/>
            <a:ext cx="10464800" cy="1130300"/>
          </a:xfrm>
          <a:prstGeom prst="rect">
            <a:avLst/>
          </a:prstGeom>
        </p:spPr>
        <p:txBody>
          <a:bodyPr anchor="t"/>
          <a:lstStyle>
            <a:lvl1pPr marL="0" indent="0" algn="ctr">
              <a:spcBef>
                <a:spcPts val="0"/>
              </a:spcBef>
              <a:buSzTx/>
              <a:buNone/>
              <a:defRPr sz="3700"/>
            </a:lvl1pPr>
            <a:lvl2pPr marL="0" indent="0" algn="ctr">
              <a:spcBef>
                <a:spcPts val="0"/>
              </a:spcBef>
              <a:buSzTx/>
              <a:buNone/>
              <a:defRPr sz="3700"/>
            </a:lvl2pPr>
            <a:lvl3pPr marL="0" indent="0" algn="ctr">
              <a:spcBef>
                <a:spcPts val="0"/>
              </a:spcBef>
              <a:buSzTx/>
              <a:buNone/>
              <a:defRPr sz="3700"/>
            </a:lvl3pPr>
            <a:lvl4pPr marL="0" indent="0" algn="ctr">
              <a:spcBef>
                <a:spcPts val="0"/>
              </a:spcBef>
              <a:buSzTx/>
              <a:buNone/>
              <a:defRPr sz="3700"/>
            </a:lvl4pPr>
            <a:lvl5pPr marL="0" indent="0" algn="ctr">
              <a:spcBef>
                <a:spcPts val="0"/>
              </a:spcBef>
              <a:buSzTx/>
              <a:buNone/>
              <a:defRPr sz="3700"/>
            </a:lvl5pPr>
          </a:lstStyle>
          <a:p>
            <a:pPr/>
            <a:r>
              <a:t>Body Level One</a:t>
            </a:r>
          </a:p>
          <a:p>
            <a:pPr lvl="1"/>
            <a:r>
              <a:t>Body Level Two</a:t>
            </a:r>
          </a:p>
          <a:p>
            <a:pPr lvl="2"/>
            <a:r>
              <a:t>Body Level Three</a:t>
            </a:r>
          </a:p>
          <a:p>
            <a:pPr lvl="3"/>
            <a:r>
              <a:t>Body Level Four</a:t>
            </a:r>
          </a:p>
          <a:p>
            <a:pPr lvl="4"/>
            <a:r>
              <a:t>Body Level Five</a:t>
            </a:r>
          </a:p>
        </p:txBody>
      </p:sp>
      <p:sp>
        <p:nvSpPr>
          <p:cNvPr id="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Center">
    <p:spTree>
      <p:nvGrpSpPr>
        <p:cNvPr id="1" name=""/>
        <p:cNvGrpSpPr/>
        <p:nvPr/>
      </p:nvGrpSpPr>
      <p:grpSpPr>
        <a:xfrm>
          <a:off x="0" y="0"/>
          <a:ext cx="0" cy="0"/>
          <a:chOff x="0" y="0"/>
          <a:chExt cx="0" cy="0"/>
        </a:xfrm>
      </p:grpSpPr>
      <p:sp>
        <p:nvSpPr>
          <p:cNvPr id="30" name="Title Text"/>
          <p:cNvSpPr txBox="1"/>
          <p:nvPr>
            <p:ph type="title"/>
          </p:nvPr>
        </p:nvSpPr>
        <p:spPr>
          <a:xfrm>
            <a:off x="1270000" y="3225800"/>
            <a:ext cx="10464800" cy="3302000"/>
          </a:xfrm>
          <a:prstGeom prst="rect">
            <a:avLst/>
          </a:prstGeom>
        </p:spPr>
        <p:txBody>
          <a:bodyPr/>
          <a:lstStyle/>
          <a:p>
            <a:pPr/>
            <a:r>
              <a:t>Title Text</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Vertical">
    <p:spTree>
      <p:nvGrpSpPr>
        <p:cNvPr id="1" name=""/>
        <p:cNvGrpSpPr/>
        <p:nvPr/>
      </p:nvGrpSpPr>
      <p:grpSpPr>
        <a:xfrm>
          <a:off x="0" y="0"/>
          <a:ext cx="0" cy="0"/>
          <a:chOff x="0" y="0"/>
          <a:chExt cx="0" cy="0"/>
        </a:xfrm>
      </p:grpSpPr>
      <p:sp>
        <p:nvSpPr>
          <p:cNvPr id="38" name="Image"/>
          <p:cNvSpPr/>
          <p:nvPr>
            <p:ph type="pic" sz="half" idx="13"/>
          </p:nvPr>
        </p:nvSpPr>
        <p:spPr>
          <a:xfrm>
            <a:off x="6718300" y="635000"/>
            <a:ext cx="5334000" cy="8216900"/>
          </a:xfrm>
          <a:prstGeom prst="rect">
            <a:avLst/>
          </a:prstGeom>
        </p:spPr>
        <p:txBody>
          <a:bodyPr lIns="91439" tIns="45719" rIns="91439" bIns="45719" anchor="t">
            <a:noAutofit/>
          </a:bodyPr>
          <a:lstStyle/>
          <a:p>
            <a:pPr/>
          </a:p>
        </p:txBody>
      </p:sp>
      <p:sp>
        <p:nvSpPr>
          <p:cNvPr id="39" name="Title Text"/>
          <p:cNvSpPr txBox="1"/>
          <p:nvPr>
            <p:ph type="title"/>
          </p:nvPr>
        </p:nvSpPr>
        <p:spPr>
          <a:xfrm>
            <a:off x="952500" y="635000"/>
            <a:ext cx="5334000" cy="3987800"/>
          </a:xfrm>
          <a:prstGeom prst="rect">
            <a:avLst/>
          </a:prstGeom>
        </p:spPr>
        <p:txBody>
          <a:bodyPr anchor="b"/>
          <a:lstStyle>
            <a:lvl1pPr>
              <a:defRPr sz="6000"/>
            </a:lvl1pPr>
          </a:lstStyle>
          <a:p>
            <a:pPr/>
            <a:r>
              <a:t>Title Text</a:t>
            </a:r>
          </a:p>
        </p:txBody>
      </p:sp>
      <p:sp>
        <p:nvSpPr>
          <p:cNvPr id="40" name="Body Level One…"/>
          <p:cNvSpPr txBox="1"/>
          <p:nvPr>
            <p:ph type="body" sz="quarter" idx="1"/>
          </p:nvPr>
        </p:nvSpPr>
        <p:spPr>
          <a:xfrm>
            <a:off x="952500" y="4724400"/>
            <a:ext cx="5334000" cy="4114800"/>
          </a:xfrm>
          <a:prstGeom prst="rect">
            <a:avLst/>
          </a:prstGeom>
        </p:spPr>
        <p:txBody>
          <a:bodyPr anchor="t"/>
          <a:lstStyle>
            <a:lvl1pPr marL="0" indent="0" algn="ctr">
              <a:spcBef>
                <a:spcPts val="0"/>
              </a:spcBef>
              <a:buSzTx/>
              <a:buNone/>
              <a:defRPr sz="3700"/>
            </a:lvl1pPr>
            <a:lvl2pPr marL="0" indent="0" algn="ctr">
              <a:spcBef>
                <a:spcPts val="0"/>
              </a:spcBef>
              <a:buSzTx/>
              <a:buNone/>
              <a:defRPr sz="3700"/>
            </a:lvl2pPr>
            <a:lvl3pPr marL="0" indent="0" algn="ctr">
              <a:spcBef>
                <a:spcPts val="0"/>
              </a:spcBef>
              <a:buSzTx/>
              <a:buNone/>
              <a:defRPr sz="3700"/>
            </a:lvl3pPr>
            <a:lvl4pPr marL="0" indent="0" algn="ctr">
              <a:spcBef>
                <a:spcPts val="0"/>
              </a:spcBef>
              <a:buSzTx/>
              <a:buNone/>
              <a:defRPr sz="3700"/>
            </a:lvl4pPr>
            <a:lvl5pPr marL="0" indent="0" algn="ctr">
              <a:spcBef>
                <a:spcPts val="0"/>
              </a:spcBef>
              <a:buSzTx/>
              <a:buNone/>
              <a:defRPr sz="3700"/>
            </a:lvl5pPr>
          </a:lstStyle>
          <a:p>
            <a:pPr/>
            <a:r>
              <a:t>Body Level One</a:t>
            </a:r>
          </a:p>
          <a:p>
            <a:pPr lvl="1"/>
            <a:r>
              <a:t>Body Level Two</a:t>
            </a:r>
          </a:p>
          <a:p>
            <a:pPr lvl="2"/>
            <a:r>
              <a:t>Body Level Three</a:t>
            </a:r>
          </a:p>
          <a:p>
            <a:pPr lvl="3"/>
            <a:r>
              <a:t>Body Level Four</a:t>
            </a:r>
          </a:p>
          <a:p>
            <a:pPr lvl="4"/>
            <a:r>
              <a:t>Body Level Five</a:t>
            </a: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Top">
    <p:spTree>
      <p:nvGrpSpPr>
        <p:cNvPr id="1" name=""/>
        <p:cNvGrpSpPr/>
        <p:nvPr/>
      </p:nvGrpSpPr>
      <p:grpSpPr>
        <a:xfrm>
          <a:off x="0" y="0"/>
          <a:ext cx="0" cy="0"/>
          <a:chOff x="0" y="0"/>
          <a:chExt cx="0" cy="0"/>
        </a:xfrm>
      </p:grpSpPr>
      <p:sp>
        <p:nvSpPr>
          <p:cNvPr id="48" name="Title Text"/>
          <p:cNvSpPr txBox="1"/>
          <p:nvPr>
            <p:ph type="title"/>
          </p:nvPr>
        </p:nvSpPr>
        <p:spPr>
          <a:prstGeom prst="rect">
            <a:avLst/>
          </a:prstGeom>
        </p:spPr>
        <p:txBody>
          <a:bodyPr/>
          <a:lstStyle/>
          <a:p>
            <a:pPr/>
            <a:r>
              <a:t>Title Text</a:t>
            </a: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56" name="Title Text"/>
          <p:cNvSpPr txBox="1"/>
          <p:nvPr>
            <p:ph type="title"/>
          </p:nvPr>
        </p:nvSpPr>
        <p:spPr>
          <a:prstGeom prst="rect">
            <a:avLst/>
          </a:prstGeom>
        </p:spPr>
        <p:txBody>
          <a:bodyPr/>
          <a:lstStyle/>
          <a:p>
            <a:pPr/>
            <a:r>
              <a:t>Title Text</a:t>
            </a:r>
          </a:p>
        </p:txBody>
      </p:sp>
      <p:sp>
        <p:nvSpPr>
          <p:cNvPr id="57"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5" name="Image"/>
          <p:cNvSpPr/>
          <p:nvPr>
            <p:ph type="pic" sz="half" idx="13"/>
          </p:nvPr>
        </p:nvSpPr>
        <p:spPr>
          <a:xfrm>
            <a:off x="6718300" y="2590800"/>
            <a:ext cx="5334000" cy="6286500"/>
          </a:xfrm>
          <a:prstGeom prst="rect">
            <a:avLst/>
          </a:prstGeom>
        </p:spPr>
        <p:txBody>
          <a:bodyPr lIns="91439" tIns="45719" rIns="91439" bIns="45719" anchor="t">
            <a:noAutofit/>
          </a:bodyPr>
          <a:lstStyle/>
          <a:p>
            <a:pPr/>
          </a:p>
        </p:txBody>
      </p:sp>
      <p:sp>
        <p:nvSpPr>
          <p:cNvPr id="66" name="Title Text"/>
          <p:cNvSpPr txBox="1"/>
          <p:nvPr>
            <p:ph type="title"/>
          </p:nvPr>
        </p:nvSpPr>
        <p:spPr>
          <a:prstGeom prst="rect">
            <a:avLst/>
          </a:prstGeom>
        </p:spPr>
        <p:txBody>
          <a:bodyPr/>
          <a:lstStyle/>
          <a:p>
            <a:pPr/>
            <a:r>
              <a:t>Title Text</a:t>
            </a:r>
          </a:p>
        </p:txBody>
      </p:sp>
      <p:sp>
        <p:nvSpPr>
          <p:cNvPr id="67" name="Body Level One…"/>
          <p:cNvSpPr txBox="1"/>
          <p:nvPr>
            <p:ph type="body" sz="half" idx="1"/>
          </p:nvPr>
        </p:nvSpPr>
        <p:spPr>
          <a:xfrm>
            <a:off x="952500" y="2590800"/>
            <a:ext cx="5334000" cy="6286500"/>
          </a:xfrm>
          <a:prstGeom prst="rect">
            <a:avLst/>
          </a:prstGeom>
        </p:spPr>
        <p:txBody>
          <a:bodyPr/>
          <a:lstStyle>
            <a:lvl1pPr marL="342900" indent="-342900">
              <a:spcBef>
                <a:spcPts val="3200"/>
              </a:spcBef>
              <a:defRPr sz="2800"/>
            </a:lvl1pPr>
            <a:lvl2pPr marL="685800" indent="-342900">
              <a:spcBef>
                <a:spcPts val="3200"/>
              </a:spcBef>
              <a:defRPr sz="2800"/>
            </a:lvl2pPr>
            <a:lvl3pPr marL="1028700" indent="-342900">
              <a:spcBef>
                <a:spcPts val="3200"/>
              </a:spcBef>
              <a:defRPr sz="2800"/>
            </a:lvl3pPr>
            <a:lvl4pPr marL="1371600" indent="-342900">
              <a:spcBef>
                <a:spcPts val="3200"/>
              </a:spcBef>
              <a:defRPr sz="2800"/>
            </a:lvl4pPr>
            <a:lvl5pPr marL="1714500" indent="-342900">
              <a:spcBef>
                <a:spcPts val="32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68" name="Slide Number"/>
          <p:cNvSpPr txBox="1"/>
          <p:nvPr>
            <p:ph type="sldNum" sz="quarter" idx="2"/>
          </p:nvPr>
        </p:nvSpPr>
        <p:spPr>
          <a:xfrm>
            <a:off x="6328884" y="9296400"/>
            <a:ext cx="340259" cy="342900"/>
          </a:xfrm>
          <a:prstGeom prst="rect">
            <a:avLst/>
          </a:prstGeom>
        </p:spPr>
        <p:txBody>
          <a:bodyPr/>
          <a:lstStyle>
            <a:lvl1pPr>
              <a:defRPr>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75" name="Body Level One…"/>
          <p:cNvSpPr txBox="1"/>
          <p:nvPr>
            <p:ph type="body" idx="1"/>
          </p:nvPr>
        </p:nvSpPr>
        <p:spPr>
          <a:xfrm>
            <a:off x="952500" y="1270000"/>
            <a:ext cx="11099800" cy="721360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83" name="Image"/>
          <p:cNvSpPr/>
          <p:nvPr>
            <p:ph type="pic" sz="quarter" idx="13"/>
          </p:nvPr>
        </p:nvSpPr>
        <p:spPr>
          <a:xfrm>
            <a:off x="6718300" y="5092700"/>
            <a:ext cx="5334000" cy="3771900"/>
          </a:xfrm>
          <a:prstGeom prst="rect">
            <a:avLst/>
          </a:prstGeom>
        </p:spPr>
        <p:txBody>
          <a:bodyPr lIns="91439" tIns="45719" rIns="91439" bIns="45719" anchor="t">
            <a:noAutofit/>
          </a:bodyPr>
          <a:lstStyle/>
          <a:p>
            <a:pPr/>
          </a:p>
        </p:txBody>
      </p:sp>
      <p:sp>
        <p:nvSpPr>
          <p:cNvPr id="84" name="Image"/>
          <p:cNvSpPr/>
          <p:nvPr>
            <p:ph type="pic" sz="quarter" idx="14"/>
          </p:nvPr>
        </p:nvSpPr>
        <p:spPr>
          <a:xfrm>
            <a:off x="6718300" y="889000"/>
            <a:ext cx="5334000" cy="3771900"/>
          </a:xfrm>
          <a:prstGeom prst="rect">
            <a:avLst/>
          </a:prstGeom>
        </p:spPr>
        <p:txBody>
          <a:bodyPr lIns="91439" tIns="45719" rIns="91439" bIns="45719" anchor="t">
            <a:noAutofit/>
          </a:bodyPr>
          <a:lstStyle/>
          <a:p>
            <a:pPr/>
          </a:p>
        </p:txBody>
      </p:sp>
      <p:sp>
        <p:nvSpPr>
          <p:cNvPr id="85" name="Image"/>
          <p:cNvSpPr/>
          <p:nvPr>
            <p:ph type="pic" sz="half" idx="15"/>
          </p:nvPr>
        </p:nvSpPr>
        <p:spPr>
          <a:xfrm>
            <a:off x="952500" y="889000"/>
            <a:ext cx="5334000" cy="7975600"/>
          </a:xfrm>
          <a:prstGeom prst="rect">
            <a:avLst/>
          </a:prstGeom>
        </p:spPr>
        <p:txBody>
          <a:bodyPr lIns="91439" tIns="45719" rIns="91439" bIns="45719" anchor="t">
            <a:noAutofit/>
          </a:bodyPr>
          <a:lstStyle/>
          <a:p>
            <a:pPr/>
          </a:p>
        </p:txBody>
      </p:sp>
      <p:sp>
        <p:nvSpPr>
          <p:cNvPr id="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93" name="Body Level One…"/>
          <p:cNvSpPr txBox="1"/>
          <p:nvPr>
            <p:ph type="body" sz="quarter" idx="1"/>
          </p:nvPr>
        </p:nvSpPr>
        <p:spPr>
          <a:xfrm>
            <a:off x="1270000" y="6362700"/>
            <a:ext cx="10464800" cy="461366"/>
          </a:xfrm>
          <a:prstGeom prst="rect">
            <a:avLst/>
          </a:prstGeom>
        </p:spPr>
        <p:txBody>
          <a:bodyPr anchor="t"/>
          <a:lstStyle>
            <a:lvl1pPr marL="0" indent="0" algn="ctr">
              <a:spcBef>
                <a:spcPts val="0"/>
              </a:spcBef>
              <a:buSzTx/>
              <a:buNone/>
              <a:defRPr i="1" sz="2400"/>
            </a:lvl1pPr>
            <a:lvl2pPr marL="777875" indent="-333375" algn="ctr">
              <a:spcBef>
                <a:spcPts val="0"/>
              </a:spcBef>
              <a:defRPr i="1" sz="2400"/>
            </a:lvl2pPr>
            <a:lvl3pPr marL="1222375" indent="-333375" algn="ctr">
              <a:spcBef>
                <a:spcPts val="0"/>
              </a:spcBef>
              <a:defRPr i="1" sz="2400"/>
            </a:lvl3pPr>
            <a:lvl4pPr marL="1666875" indent="-333375" algn="ctr">
              <a:spcBef>
                <a:spcPts val="0"/>
              </a:spcBef>
              <a:defRPr i="1" sz="2400"/>
            </a:lvl4pPr>
            <a:lvl5pPr marL="2111375" indent="-333375" algn="ctr">
              <a:spcBef>
                <a:spcPts val="0"/>
              </a:spcBef>
              <a:defRPr i="1" sz="2400"/>
            </a:lvl5pPr>
          </a:lstStyle>
          <a:p>
            <a:pPr/>
            <a:r>
              <a:t>Body Level One</a:t>
            </a:r>
          </a:p>
          <a:p>
            <a:pPr lvl="1"/>
            <a:r>
              <a:t>Body Level Two</a:t>
            </a:r>
          </a:p>
          <a:p>
            <a:pPr lvl="2"/>
            <a:r>
              <a:t>Body Level Three</a:t>
            </a:r>
          </a:p>
          <a:p>
            <a:pPr lvl="3"/>
            <a:r>
              <a:t>Body Level Four</a:t>
            </a:r>
          </a:p>
          <a:p>
            <a:pPr lvl="4"/>
            <a:r>
              <a:t>Body Level Five</a:t>
            </a:r>
          </a:p>
        </p:txBody>
      </p:sp>
      <p:sp>
        <p:nvSpPr>
          <p:cNvPr id="94" name="“Type a quote here.”"/>
          <p:cNvSpPr txBox="1"/>
          <p:nvPr>
            <p:ph type="body" sz="quarter" idx="13"/>
          </p:nvPr>
        </p:nvSpPr>
        <p:spPr>
          <a:xfrm>
            <a:off x="1270000" y="4267112"/>
            <a:ext cx="10464800" cy="609777"/>
          </a:xfrm>
          <a:prstGeom prst="rect">
            <a:avLst/>
          </a:prstGeom>
        </p:spPr>
        <p:txBody>
          <a:bodyPr/>
          <a:lstStyle/>
          <a:p>
            <a:pPr marL="0" indent="0" algn="ctr" defTabSz="572516">
              <a:spcBef>
                <a:spcPts val="0"/>
              </a:spcBef>
              <a:buSzTx/>
              <a:buNone/>
              <a:defRPr sz="3332">
                <a:latin typeface="Helvetica Neue Medium"/>
                <a:ea typeface="Helvetica Neue Medium"/>
                <a:cs typeface="Helvetica Neue Medium"/>
                <a:sym typeface="Helvetica Neue Medium"/>
              </a:defRPr>
            </a:pPr>
          </a:p>
        </p:txBody>
      </p:sp>
      <p:sp>
        <p:nvSpPr>
          <p:cNvPr id="9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02" name="Image"/>
          <p:cNvSpPr/>
          <p:nvPr>
            <p:ph type="pic" idx="13"/>
          </p:nvPr>
        </p:nvSpPr>
        <p:spPr>
          <a:xfrm>
            <a:off x="0" y="0"/>
            <a:ext cx="13004800" cy="9753600"/>
          </a:xfrm>
          <a:prstGeom prst="rect">
            <a:avLst/>
          </a:prstGeom>
        </p:spPr>
        <p:txBody>
          <a:bodyPr lIns="91439" tIns="45719" rIns="91439" bIns="45719" anchor="t">
            <a:noAutofit/>
          </a:bodyPr>
          <a:lstStyle/>
          <a:p>
            <a:pPr/>
          </a:p>
        </p:txBody>
      </p:sp>
      <p:sp>
        <p:nvSpPr>
          <p:cNvPr id="10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1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17" name="Shape"/>
          <p:cNvSpPr/>
          <p:nvPr/>
        </p:nvSpPr>
        <p:spPr>
          <a:xfrm>
            <a:off x="-13548" y="-11290"/>
            <a:ext cx="13031894" cy="148110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2" y="66"/>
                </a:moveTo>
                <a:lnTo>
                  <a:pt x="9513" y="0"/>
                </a:lnTo>
                <a:cubicBezTo>
                  <a:pt x="10276" y="3326"/>
                  <a:pt x="14325" y="12084"/>
                  <a:pt x="16368" y="12084"/>
                </a:cubicBezTo>
                <a:cubicBezTo>
                  <a:pt x="18412" y="12084"/>
                  <a:pt x="20679" y="5005"/>
                  <a:pt x="21578" y="1811"/>
                </a:cubicBezTo>
                <a:lnTo>
                  <a:pt x="21600" y="7013"/>
                </a:lnTo>
                <a:cubicBezTo>
                  <a:pt x="21218" y="8462"/>
                  <a:pt x="18771" y="14521"/>
                  <a:pt x="16099" y="14455"/>
                </a:cubicBezTo>
                <a:cubicBezTo>
                  <a:pt x="13427" y="14389"/>
                  <a:pt x="8252" y="5433"/>
                  <a:pt x="5568" y="6618"/>
                </a:cubicBezTo>
                <a:cubicBezTo>
                  <a:pt x="2807" y="6882"/>
                  <a:pt x="1010" y="15871"/>
                  <a:pt x="0" y="21600"/>
                </a:cubicBezTo>
                <a:lnTo>
                  <a:pt x="22" y="66"/>
                </a:lnTo>
                <a:close/>
              </a:path>
            </a:pathLst>
          </a:custGeom>
          <a:gradFill>
            <a:gsLst>
              <a:gs pos="0">
                <a:srgbClr val="49ACCD">
                  <a:alpha val="54998"/>
                </a:srgbClr>
              </a:gs>
              <a:gs pos="100000">
                <a:srgbClr val="72845C">
                  <a:alpha val="44999"/>
                </a:srgbClr>
              </a:gs>
            </a:gsLst>
            <a:lin ang="16200000"/>
          </a:gradFill>
          <a:ln w="12700">
            <a:miter lim="400000"/>
          </a:ln>
        </p:spPr>
        <p:txBody>
          <a:bodyPr lIns="50800" tIns="50800" rIns="50800" bIns="50800"/>
          <a:lstStyle/>
          <a:p>
            <a:pPr algn="l" defTabSz="1300480">
              <a:defRPr>
                <a:solidFill>
                  <a:srgbClr val="FFFFFF"/>
                </a:solidFill>
                <a:latin typeface="Arial"/>
                <a:ea typeface="Arial"/>
                <a:cs typeface="Arial"/>
                <a:sym typeface="Arial"/>
              </a:defRPr>
            </a:pPr>
          </a:p>
        </p:txBody>
      </p:sp>
      <p:sp>
        <p:nvSpPr>
          <p:cNvPr id="118" name="Shape"/>
          <p:cNvSpPr/>
          <p:nvPr/>
        </p:nvSpPr>
        <p:spPr>
          <a:xfrm>
            <a:off x="6231465" y="-11291"/>
            <a:ext cx="6773336" cy="863605"/>
          </a:xfrm>
          <a:custGeom>
            <a:avLst/>
            <a:gdLst/>
            <a:ahLst/>
            <a:cxnLst>
              <a:cxn ang="0">
                <a:pos x="wd2" y="hd2"/>
              </a:cxn>
              <a:cxn ang="5400000">
                <a:pos x="wd2" y="hd2"/>
              </a:cxn>
              <a:cxn ang="10800000">
                <a:pos x="wd2" y="hd2"/>
              </a:cxn>
              <a:cxn ang="16200000">
                <a:pos x="wd2" y="hd2"/>
              </a:cxn>
            </a:cxnLst>
            <a:rect l="0" t="0" r="r" b="b"/>
            <a:pathLst>
              <a:path w="21600" h="20552" fill="norm" stroke="1" extrusionOk="0">
                <a:moveTo>
                  <a:pt x="0" y="0"/>
                </a:moveTo>
                <a:cubicBezTo>
                  <a:pt x="1253" y="3703"/>
                  <a:pt x="8410" y="19349"/>
                  <a:pt x="12010" y="20475"/>
                </a:cubicBezTo>
                <a:cubicBezTo>
                  <a:pt x="15610" y="21600"/>
                  <a:pt x="20002" y="10128"/>
                  <a:pt x="21600" y="6752"/>
                </a:cubicBezTo>
                <a:lnTo>
                  <a:pt x="21600" y="218"/>
                </a:lnTo>
                <a:lnTo>
                  <a:pt x="0" y="0"/>
                </a:lnTo>
                <a:close/>
              </a:path>
            </a:pathLst>
          </a:custGeom>
          <a:gradFill>
            <a:gsLst>
              <a:gs pos="0">
                <a:srgbClr val="8AA26C">
                  <a:alpha val="29998"/>
                </a:srgbClr>
              </a:gs>
              <a:gs pos="19999">
                <a:srgbClr val="8AA26C">
                  <a:alpha val="32998"/>
                </a:srgbClr>
              </a:gs>
              <a:gs pos="100000">
                <a:srgbClr val="42869E">
                  <a:alpha val="44999"/>
                </a:srgbClr>
              </a:gs>
            </a:gsLst>
            <a:lin ang="16200000"/>
          </a:gradFill>
          <a:ln w="12700">
            <a:miter lim="400000"/>
          </a:ln>
        </p:spPr>
        <p:txBody>
          <a:bodyPr lIns="50800" tIns="50800" rIns="50800" bIns="50800"/>
          <a:lstStyle/>
          <a:p>
            <a:pPr algn="l" defTabSz="1300480">
              <a:defRPr>
                <a:solidFill>
                  <a:srgbClr val="FFFFFF"/>
                </a:solidFill>
                <a:latin typeface="Arial"/>
                <a:ea typeface="Arial"/>
                <a:cs typeface="Arial"/>
                <a:sym typeface="Arial"/>
              </a:defRPr>
            </a:pPr>
          </a:p>
        </p:txBody>
      </p:sp>
      <p:grpSp>
        <p:nvGrpSpPr>
          <p:cNvPr id="121" name="Group"/>
          <p:cNvGrpSpPr/>
          <p:nvPr/>
        </p:nvGrpSpPr>
        <p:grpSpPr>
          <a:xfrm>
            <a:off x="-8672" y="-34679"/>
            <a:ext cx="13022144" cy="1491219"/>
            <a:chOff x="0" y="0"/>
            <a:chExt cx="13022143" cy="1491218"/>
          </a:xfrm>
        </p:grpSpPr>
        <p:pic>
          <p:nvPicPr>
            <p:cNvPr id="119" name="image.png" descr="image.png"/>
            <p:cNvPicPr>
              <a:picLocks noChangeAspect="1"/>
            </p:cNvPicPr>
            <p:nvPr/>
          </p:nvPicPr>
          <p:blipFill>
            <a:blip r:embed="rId3">
              <a:extLst/>
            </a:blip>
            <a:stretch>
              <a:fillRect/>
            </a:stretch>
          </p:blipFill>
          <p:spPr>
            <a:xfrm>
              <a:off x="0" y="0"/>
              <a:ext cx="12996133" cy="1491219"/>
            </a:xfrm>
            <a:prstGeom prst="rect">
              <a:avLst/>
            </a:prstGeom>
            <a:ln w="12700" cap="flat">
              <a:noFill/>
              <a:miter lim="400000"/>
            </a:ln>
            <a:effectLst/>
          </p:spPr>
        </p:pic>
        <p:pic>
          <p:nvPicPr>
            <p:cNvPr id="120" name="image.png" descr="image.png"/>
            <p:cNvPicPr>
              <a:picLocks noChangeAspect="1"/>
            </p:cNvPicPr>
            <p:nvPr/>
          </p:nvPicPr>
          <p:blipFill>
            <a:blip r:embed="rId4">
              <a:extLst/>
            </a:blip>
            <a:stretch>
              <a:fillRect/>
            </a:stretch>
          </p:blipFill>
          <p:spPr>
            <a:xfrm>
              <a:off x="-1" y="104038"/>
              <a:ext cx="13022144" cy="1291813"/>
            </a:xfrm>
            <a:prstGeom prst="rect">
              <a:avLst/>
            </a:prstGeom>
            <a:ln w="12700" cap="flat">
              <a:noFill/>
              <a:miter lim="400000"/>
            </a:ln>
            <a:effectLst/>
          </p:spPr>
        </p:pic>
      </p:grpSp>
      <p:sp>
        <p:nvSpPr>
          <p:cNvPr id="122" name="Slide Number"/>
          <p:cNvSpPr txBox="1"/>
          <p:nvPr>
            <p:ph type="sldNum" sz="quarter" idx="2"/>
          </p:nvPr>
        </p:nvSpPr>
        <p:spPr>
          <a:xfrm>
            <a:off x="12138660" y="9305432"/>
            <a:ext cx="215901" cy="254001"/>
          </a:xfrm>
          <a:prstGeom prst="rect">
            <a:avLst/>
          </a:prstGeom>
        </p:spPr>
        <p:txBody>
          <a:bodyPr lIns="0" tIns="0" rIns="0" bIns="0" anchor="b"/>
          <a:lstStyle>
            <a:lvl1pPr algn="r" defTabSz="1300480">
              <a:defRPr>
                <a:solidFill>
                  <a:srgbClr val="C0B9C7"/>
                </a:solidFill>
                <a:latin typeface="Constantia"/>
                <a:ea typeface="Constantia"/>
                <a:cs typeface="Constantia"/>
                <a:sym typeface="Constantia"/>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29" name="Shape"/>
          <p:cNvSpPr/>
          <p:nvPr/>
        </p:nvSpPr>
        <p:spPr>
          <a:xfrm>
            <a:off x="-13548" y="-11290"/>
            <a:ext cx="13031894" cy="148110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2" y="66"/>
                </a:moveTo>
                <a:lnTo>
                  <a:pt x="9513" y="0"/>
                </a:lnTo>
                <a:cubicBezTo>
                  <a:pt x="10276" y="3326"/>
                  <a:pt x="14325" y="12084"/>
                  <a:pt x="16368" y="12084"/>
                </a:cubicBezTo>
                <a:cubicBezTo>
                  <a:pt x="18412" y="12084"/>
                  <a:pt x="20679" y="5005"/>
                  <a:pt x="21578" y="1811"/>
                </a:cubicBezTo>
                <a:lnTo>
                  <a:pt x="21600" y="7013"/>
                </a:lnTo>
                <a:cubicBezTo>
                  <a:pt x="21218" y="8462"/>
                  <a:pt x="18771" y="14521"/>
                  <a:pt x="16099" y="14455"/>
                </a:cubicBezTo>
                <a:cubicBezTo>
                  <a:pt x="13427" y="14389"/>
                  <a:pt x="8252" y="5433"/>
                  <a:pt x="5568" y="6618"/>
                </a:cubicBezTo>
                <a:cubicBezTo>
                  <a:pt x="2807" y="6882"/>
                  <a:pt x="1010" y="15871"/>
                  <a:pt x="0" y="21600"/>
                </a:cubicBezTo>
                <a:lnTo>
                  <a:pt x="22" y="66"/>
                </a:lnTo>
                <a:close/>
              </a:path>
            </a:pathLst>
          </a:custGeom>
          <a:gradFill>
            <a:gsLst>
              <a:gs pos="0">
                <a:srgbClr val="49ACCD">
                  <a:alpha val="54998"/>
                </a:srgbClr>
              </a:gs>
              <a:gs pos="100000">
                <a:srgbClr val="72845C">
                  <a:alpha val="44999"/>
                </a:srgbClr>
              </a:gs>
            </a:gsLst>
            <a:lin ang="16200000"/>
          </a:gradFill>
          <a:ln w="12700">
            <a:miter lim="400000"/>
          </a:ln>
        </p:spPr>
        <p:txBody>
          <a:bodyPr lIns="50800" tIns="50800" rIns="50800" bIns="50800"/>
          <a:lstStyle/>
          <a:p>
            <a:pPr algn="l" defTabSz="1300480">
              <a:defRPr>
                <a:latin typeface="Arial"/>
                <a:ea typeface="Arial"/>
                <a:cs typeface="Arial"/>
                <a:sym typeface="Arial"/>
              </a:defRPr>
            </a:pPr>
          </a:p>
        </p:txBody>
      </p:sp>
      <p:sp>
        <p:nvSpPr>
          <p:cNvPr id="130" name="Shape"/>
          <p:cNvSpPr/>
          <p:nvPr/>
        </p:nvSpPr>
        <p:spPr>
          <a:xfrm>
            <a:off x="6231465" y="-11291"/>
            <a:ext cx="6773336" cy="863605"/>
          </a:xfrm>
          <a:custGeom>
            <a:avLst/>
            <a:gdLst/>
            <a:ahLst/>
            <a:cxnLst>
              <a:cxn ang="0">
                <a:pos x="wd2" y="hd2"/>
              </a:cxn>
              <a:cxn ang="5400000">
                <a:pos x="wd2" y="hd2"/>
              </a:cxn>
              <a:cxn ang="10800000">
                <a:pos x="wd2" y="hd2"/>
              </a:cxn>
              <a:cxn ang="16200000">
                <a:pos x="wd2" y="hd2"/>
              </a:cxn>
            </a:cxnLst>
            <a:rect l="0" t="0" r="r" b="b"/>
            <a:pathLst>
              <a:path w="21600" h="20552" fill="norm" stroke="1" extrusionOk="0">
                <a:moveTo>
                  <a:pt x="0" y="0"/>
                </a:moveTo>
                <a:cubicBezTo>
                  <a:pt x="1253" y="3703"/>
                  <a:pt x="8410" y="19349"/>
                  <a:pt x="12010" y="20475"/>
                </a:cubicBezTo>
                <a:cubicBezTo>
                  <a:pt x="15610" y="21600"/>
                  <a:pt x="20002" y="10128"/>
                  <a:pt x="21600" y="6752"/>
                </a:cubicBezTo>
                <a:lnTo>
                  <a:pt x="21600" y="218"/>
                </a:lnTo>
                <a:lnTo>
                  <a:pt x="0" y="0"/>
                </a:lnTo>
                <a:close/>
              </a:path>
            </a:pathLst>
          </a:custGeom>
          <a:gradFill>
            <a:gsLst>
              <a:gs pos="0">
                <a:srgbClr val="8AA26C">
                  <a:alpha val="29998"/>
                </a:srgbClr>
              </a:gs>
              <a:gs pos="19999">
                <a:srgbClr val="8AA26C">
                  <a:alpha val="32998"/>
                </a:srgbClr>
              </a:gs>
              <a:gs pos="100000">
                <a:srgbClr val="42869E">
                  <a:alpha val="44999"/>
                </a:srgbClr>
              </a:gs>
            </a:gsLst>
            <a:lin ang="16200000"/>
          </a:gradFill>
          <a:ln w="12700">
            <a:miter lim="400000"/>
          </a:ln>
        </p:spPr>
        <p:txBody>
          <a:bodyPr lIns="50800" tIns="50800" rIns="50800" bIns="50800"/>
          <a:lstStyle/>
          <a:p>
            <a:pPr algn="l" defTabSz="1300480">
              <a:defRPr>
                <a:latin typeface="Arial"/>
                <a:ea typeface="Arial"/>
                <a:cs typeface="Arial"/>
                <a:sym typeface="Arial"/>
              </a:defRPr>
            </a:pPr>
          </a:p>
        </p:txBody>
      </p:sp>
      <p:grpSp>
        <p:nvGrpSpPr>
          <p:cNvPr id="133" name="Group"/>
          <p:cNvGrpSpPr/>
          <p:nvPr/>
        </p:nvGrpSpPr>
        <p:grpSpPr>
          <a:xfrm>
            <a:off x="-8672" y="-34679"/>
            <a:ext cx="13022144" cy="1491219"/>
            <a:chOff x="0" y="0"/>
            <a:chExt cx="13022143" cy="1491218"/>
          </a:xfrm>
        </p:grpSpPr>
        <p:pic>
          <p:nvPicPr>
            <p:cNvPr id="131" name="image.png" descr="image.png"/>
            <p:cNvPicPr>
              <a:picLocks noChangeAspect="1"/>
            </p:cNvPicPr>
            <p:nvPr/>
          </p:nvPicPr>
          <p:blipFill>
            <a:blip r:embed="rId3">
              <a:extLst/>
            </a:blip>
            <a:stretch>
              <a:fillRect/>
            </a:stretch>
          </p:blipFill>
          <p:spPr>
            <a:xfrm>
              <a:off x="0" y="0"/>
              <a:ext cx="12996133" cy="1491219"/>
            </a:xfrm>
            <a:prstGeom prst="rect">
              <a:avLst/>
            </a:prstGeom>
            <a:ln w="12700" cap="flat">
              <a:noFill/>
              <a:miter lim="400000"/>
            </a:ln>
            <a:effectLst/>
          </p:spPr>
        </p:pic>
        <p:pic>
          <p:nvPicPr>
            <p:cNvPr id="132" name="image.png" descr="image.png"/>
            <p:cNvPicPr>
              <a:picLocks noChangeAspect="1"/>
            </p:cNvPicPr>
            <p:nvPr/>
          </p:nvPicPr>
          <p:blipFill>
            <a:blip r:embed="rId4">
              <a:extLst/>
            </a:blip>
            <a:stretch>
              <a:fillRect/>
            </a:stretch>
          </p:blipFill>
          <p:spPr>
            <a:xfrm>
              <a:off x="-1" y="104038"/>
              <a:ext cx="13022144" cy="1291813"/>
            </a:xfrm>
            <a:prstGeom prst="rect">
              <a:avLst/>
            </a:prstGeom>
            <a:ln w="12700" cap="flat">
              <a:noFill/>
              <a:miter lim="400000"/>
            </a:ln>
            <a:effectLst/>
          </p:spPr>
        </p:pic>
      </p:grpSp>
      <p:sp>
        <p:nvSpPr>
          <p:cNvPr id="134" name="Slide Number"/>
          <p:cNvSpPr txBox="1"/>
          <p:nvPr>
            <p:ph type="sldNum" sz="quarter" idx="2"/>
          </p:nvPr>
        </p:nvSpPr>
        <p:spPr>
          <a:xfrm>
            <a:off x="12138660" y="9305432"/>
            <a:ext cx="215901" cy="254001"/>
          </a:xfrm>
          <a:prstGeom prst="rect">
            <a:avLst/>
          </a:prstGeom>
        </p:spPr>
        <p:txBody>
          <a:bodyPr lIns="0" tIns="0" rIns="0" bIns="0" anchor="b"/>
          <a:lstStyle>
            <a:lvl1pPr algn="r" defTabSz="1300480">
              <a:defRPr>
                <a:solidFill>
                  <a:srgbClr val="646268"/>
                </a:solidFill>
                <a:latin typeface="Constantia"/>
                <a:ea typeface="Constantia"/>
                <a:cs typeface="Constantia"/>
                <a:sym typeface="Constantia"/>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141" name="Title Text"/>
          <p:cNvSpPr txBox="1"/>
          <p:nvPr>
            <p:ph type="title"/>
          </p:nvPr>
        </p:nvSpPr>
        <p:spPr>
          <a:prstGeom prst="rect">
            <a:avLst/>
          </a:prstGeom>
        </p:spPr>
        <p:txBody>
          <a:bodyPr/>
          <a:lstStyle/>
          <a:p>
            <a:pPr/>
            <a:r>
              <a:t>Title Text</a:t>
            </a:r>
          </a:p>
        </p:txBody>
      </p:sp>
      <p:sp>
        <p:nvSpPr>
          <p:cNvPr id="142"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43" name="Slide Number"/>
          <p:cNvSpPr txBox="1"/>
          <p:nvPr>
            <p:ph type="sldNum" sz="quarter" idx="2"/>
          </p:nvPr>
        </p:nvSpPr>
        <p:spPr>
          <a:xfrm>
            <a:off x="6328884" y="9296400"/>
            <a:ext cx="340260" cy="324306"/>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952500" y="254000"/>
            <a:ext cx="11099800" cy="2159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Title Text</a:t>
            </a:r>
          </a:p>
        </p:txBody>
      </p:sp>
      <p:sp>
        <p:nvSpPr>
          <p:cNvPr id="3" name="Body Level One…"/>
          <p:cNvSpPr txBox="1"/>
          <p:nvPr>
            <p:ph type="body" idx="1"/>
          </p:nvPr>
        </p:nvSpPr>
        <p:spPr>
          <a:xfrm>
            <a:off x="952500" y="2590800"/>
            <a:ext cx="11099800" cy="62865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6328884" y="9296400"/>
            <a:ext cx="340259" cy="324306"/>
          </a:xfrm>
          <a:prstGeom prst="rect">
            <a:avLst/>
          </a:prstGeom>
          <a:ln w="12700">
            <a:miter lim="400000"/>
          </a:ln>
        </p:spPr>
        <p:txBody>
          <a:bodyPr wrap="none" lIns="50800" tIns="50800" rIns="50800" bIns="50800">
            <a:spAutoFit/>
          </a:bodyPr>
          <a:lstStyle>
            <a:lvl1pPr>
              <a:defRPr sz="1600">
                <a:latin typeface="Helvetica Neue Light"/>
                <a:ea typeface="Helvetica Neue Light"/>
                <a:cs typeface="Helvetica Neue Light"/>
                <a:sym typeface="Helvetica Neue Light"/>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transition xmlns:p14="http://schemas.microsoft.com/office/powerpoint/2010/main" spd="med" advClick="1"/>
  <p:txStyles>
    <p:titleStyle>
      <a:lvl1pPr marL="0" marR="0" indent="0" algn="ctr" defTabSz="584200" rtl="0" latinLnBrk="0">
        <a:lnSpc>
          <a:spcPct val="100000"/>
        </a:lnSpc>
        <a:spcBef>
          <a:spcPts val="0"/>
        </a:spcBef>
        <a:spcAft>
          <a:spcPts val="0"/>
        </a:spcAft>
        <a:buClrTx/>
        <a:buSzTx/>
        <a:buFontTx/>
        <a:buNone/>
        <a:tabLst/>
        <a:defRPr b="0" baseline="0" cap="none" i="0" spc="0" strike="noStrike" sz="8000" u="none">
          <a:ln>
            <a:noFill/>
          </a:ln>
          <a:solidFill>
            <a:srgbClr val="000000"/>
          </a:solidFill>
          <a:uFillTx/>
          <a:latin typeface="Helvetica Neue Medium"/>
          <a:ea typeface="Helvetica Neue Medium"/>
          <a:cs typeface="Helvetica Neue Medium"/>
          <a:sym typeface="Helvetica Neue Medium"/>
        </a:defRPr>
      </a:lvl1pPr>
      <a:lvl2pPr marL="0" marR="0" indent="0" algn="ctr" defTabSz="584200" rtl="0" latinLnBrk="0">
        <a:lnSpc>
          <a:spcPct val="100000"/>
        </a:lnSpc>
        <a:spcBef>
          <a:spcPts val="0"/>
        </a:spcBef>
        <a:spcAft>
          <a:spcPts val="0"/>
        </a:spcAft>
        <a:buClrTx/>
        <a:buSzTx/>
        <a:buFontTx/>
        <a:buNone/>
        <a:tabLst/>
        <a:defRPr b="0" baseline="0" cap="none" i="0" spc="0" strike="noStrike" sz="8000" u="none">
          <a:ln>
            <a:noFill/>
          </a:ln>
          <a:solidFill>
            <a:srgbClr val="000000"/>
          </a:solidFill>
          <a:uFillTx/>
          <a:latin typeface="Helvetica Neue Medium"/>
          <a:ea typeface="Helvetica Neue Medium"/>
          <a:cs typeface="Helvetica Neue Medium"/>
          <a:sym typeface="Helvetica Neue Medium"/>
        </a:defRPr>
      </a:lvl2pPr>
      <a:lvl3pPr marL="0" marR="0" indent="0" algn="ctr" defTabSz="584200" rtl="0" latinLnBrk="0">
        <a:lnSpc>
          <a:spcPct val="100000"/>
        </a:lnSpc>
        <a:spcBef>
          <a:spcPts val="0"/>
        </a:spcBef>
        <a:spcAft>
          <a:spcPts val="0"/>
        </a:spcAft>
        <a:buClrTx/>
        <a:buSzTx/>
        <a:buFontTx/>
        <a:buNone/>
        <a:tabLst/>
        <a:defRPr b="0" baseline="0" cap="none" i="0" spc="0" strike="noStrike" sz="8000" u="none">
          <a:ln>
            <a:noFill/>
          </a:ln>
          <a:solidFill>
            <a:srgbClr val="000000"/>
          </a:solidFill>
          <a:uFillTx/>
          <a:latin typeface="Helvetica Neue Medium"/>
          <a:ea typeface="Helvetica Neue Medium"/>
          <a:cs typeface="Helvetica Neue Medium"/>
          <a:sym typeface="Helvetica Neue Medium"/>
        </a:defRPr>
      </a:lvl3pPr>
      <a:lvl4pPr marL="0" marR="0" indent="0" algn="ctr" defTabSz="584200" rtl="0" latinLnBrk="0">
        <a:lnSpc>
          <a:spcPct val="100000"/>
        </a:lnSpc>
        <a:spcBef>
          <a:spcPts val="0"/>
        </a:spcBef>
        <a:spcAft>
          <a:spcPts val="0"/>
        </a:spcAft>
        <a:buClrTx/>
        <a:buSzTx/>
        <a:buFontTx/>
        <a:buNone/>
        <a:tabLst/>
        <a:defRPr b="0" baseline="0" cap="none" i="0" spc="0" strike="noStrike" sz="8000" u="none">
          <a:ln>
            <a:noFill/>
          </a:ln>
          <a:solidFill>
            <a:srgbClr val="000000"/>
          </a:solidFill>
          <a:uFillTx/>
          <a:latin typeface="Helvetica Neue Medium"/>
          <a:ea typeface="Helvetica Neue Medium"/>
          <a:cs typeface="Helvetica Neue Medium"/>
          <a:sym typeface="Helvetica Neue Medium"/>
        </a:defRPr>
      </a:lvl4pPr>
      <a:lvl5pPr marL="0" marR="0" indent="0" algn="ctr" defTabSz="584200" rtl="0" latinLnBrk="0">
        <a:lnSpc>
          <a:spcPct val="100000"/>
        </a:lnSpc>
        <a:spcBef>
          <a:spcPts val="0"/>
        </a:spcBef>
        <a:spcAft>
          <a:spcPts val="0"/>
        </a:spcAft>
        <a:buClrTx/>
        <a:buSzTx/>
        <a:buFontTx/>
        <a:buNone/>
        <a:tabLst/>
        <a:defRPr b="0" baseline="0" cap="none" i="0" spc="0" strike="noStrike" sz="8000" u="none">
          <a:ln>
            <a:noFill/>
          </a:ln>
          <a:solidFill>
            <a:srgbClr val="000000"/>
          </a:solidFill>
          <a:uFillTx/>
          <a:latin typeface="Helvetica Neue Medium"/>
          <a:ea typeface="Helvetica Neue Medium"/>
          <a:cs typeface="Helvetica Neue Medium"/>
          <a:sym typeface="Helvetica Neue Medium"/>
        </a:defRPr>
      </a:lvl5pPr>
      <a:lvl6pPr marL="0" marR="0" indent="0" algn="ctr" defTabSz="584200" rtl="0" latinLnBrk="0">
        <a:lnSpc>
          <a:spcPct val="100000"/>
        </a:lnSpc>
        <a:spcBef>
          <a:spcPts val="0"/>
        </a:spcBef>
        <a:spcAft>
          <a:spcPts val="0"/>
        </a:spcAft>
        <a:buClrTx/>
        <a:buSzTx/>
        <a:buFontTx/>
        <a:buNone/>
        <a:tabLst/>
        <a:defRPr b="0" baseline="0" cap="none" i="0" spc="0" strike="noStrike" sz="8000" u="none">
          <a:ln>
            <a:noFill/>
          </a:ln>
          <a:solidFill>
            <a:srgbClr val="000000"/>
          </a:solidFill>
          <a:uFillTx/>
          <a:latin typeface="Helvetica Neue Medium"/>
          <a:ea typeface="Helvetica Neue Medium"/>
          <a:cs typeface="Helvetica Neue Medium"/>
          <a:sym typeface="Helvetica Neue Medium"/>
        </a:defRPr>
      </a:lvl6pPr>
      <a:lvl7pPr marL="0" marR="0" indent="0" algn="ctr" defTabSz="584200" rtl="0" latinLnBrk="0">
        <a:lnSpc>
          <a:spcPct val="100000"/>
        </a:lnSpc>
        <a:spcBef>
          <a:spcPts val="0"/>
        </a:spcBef>
        <a:spcAft>
          <a:spcPts val="0"/>
        </a:spcAft>
        <a:buClrTx/>
        <a:buSzTx/>
        <a:buFontTx/>
        <a:buNone/>
        <a:tabLst/>
        <a:defRPr b="0" baseline="0" cap="none" i="0" spc="0" strike="noStrike" sz="8000" u="none">
          <a:ln>
            <a:noFill/>
          </a:ln>
          <a:solidFill>
            <a:srgbClr val="000000"/>
          </a:solidFill>
          <a:uFillTx/>
          <a:latin typeface="Helvetica Neue Medium"/>
          <a:ea typeface="Helvetica Neue Medium"/>
          <a:cs typeface="Helvetica Neue Medium"/>
          <a:sym typeface="Helvetica Neue Medium"/>
        </a:defRPr>
      </a:lvl7pPr>
      <a:lvl8pPr marL="0" marR="0" indent="0" algn="ctr" defTabSz="584200" rtl="0" latinLnBrk="0">
        <a:lnSpc>
          <a:spcPct val="100000"/>
        </a:lnSpc>
        <a:spcBef>
          <a:spcPts val="0"/>
        </a:spcBef>
        <a:spcAft>
          <a:spcPts val="0"/>
        </a:spcAft>
        <a:buClrTx/>
        <a:buSzTx/>
        <a:buFontTx/>
        <a:buNone/>
        <a:tabLst/>
        <a:defRPr b="0" baseline="0" cap="none" i="0" spc="0" strike="noStrike" sz="8000" u="none">
          <a:ln>
            <a:noFill/>
          </a:ln>
          <a:solidFill>
            <a:srgbClr val="000000"/>
          </a:solidFill>
          <a:uFillTx/>
          <a:latin typeface="Helvetica Neue Medium"/>
          <a:ea typeface="Helvetica Neue Medium"/>
          <a:cs typeface="Helvetica Neue Medium"/>
          <a:sym typeface="Helvetica Neue Medium"/>
        </a:defRPr>
      </a:lvl8pPr>
      <a:lvl9pPr marL="0" marR="0" indent="0" algn="ctr" defTabSz="584200" rtl="0" latinLnBrk="0">
        <a:lnSpc>
          <a:spcPct val="100000"/>
        </a:lnSpc>
        <a:spcBef>
          <a:spcPts val="0"/>
        </a:spcBef>
        <a:spcAft>
          <a:spcPts val="0"/>
        </a:spcAft>
        <a:buClrTx/>
        <a:buSzTx/>
        <a:buFontTx/>
        <a:buNone/>
        <a:tabLst/>
        <a:defRPr b="0" baseline="0" cap="none" i="0" spc="0" strike="noStrike" sz="8000" u="none">
          <a:ln>
            <a:noFill/>
          </a:ln>
          <a:solidFill>
            <a:srgbClr val="000000"/>
          </a:solidFill>
          <a:uFillTx/>
          <a:latin typeface="Helvetica Neue Medium"/>
          <a:ea typeface="Helvetica Neue Medium"/>
          <a:cs typeface="Helvetica Neue Medium"/>
          <a:sym typeface="Helvetica Neue Medium"/>
        </a:defRPr>
      </a:lvl9pPr>
    </p:titleStyle>
    <p:bodyStyle>
      <a:lvl1pPr marL="444500" marR="0" indent="-444500" algn="l" defTabSz="584200" rtl="0" latinLnBrk="0">
        <a:lnSpc>
          <a:spcPct val="100000"/>
        </a:lnSpc>
        <a:spcBef>
          <a:spcPts val="4200"/>
        </a:spcBef>
        <a:spcAft>
          <a:spcPts val="0"/>
        </a:spcAft>
        <a:buClrTx/>
        <a:buSzPct val="145000"/>
        <a:buFontTx/>
        <a:buChar char="•"/>
        <a:tabLst/>
        <a:defRPr b="0" baseline="0" cap="none" i="0" spc="0" strike="noStrike" sz="3200" u="none">
          <a:ln>
            <a:noFill/>
          </a:ln>
          <a:solidFill>
            <a:srgbClr val="000000"/>
          </a:solidFill>
          <a:uFillTx/>
          <a:latin typeface="+mn-lt"/>
          <a:ea typeface="+mn-ea"/>
          <a:cs typeface="+mn-cs"/>
          <a:sym typeface="Helvetica Neue"/>
        </a:defRPr>
      </a:lvl1pPr>
      <a:lvl2pPr marL="889000" marR="0" indent="-444500" algn="l" defTabSz="584200" rtl="0" latinLnBrk="0">
        <a:lnSpc>
          <a:spcPct val="100000"/>
        </a:lnSpc>
        <a:spcBef>
          <a:spcPts val="4200"/>
        </a:spcBef>
        <a:spcAft>
          <a:spcPts val="0"/>
        </a:spcAft>
        <a:buClrTx/>
        <a:buSzPct val="145000"/>
        <a:buFontTx/>
        <a:buChar char="•"/>
        <a:tabLst/>
        <a:defRPr b="0" baseline="0" cap="none" i="0" spc="0" strike="noStrike" sz="3200" u="none">
          <a:ln>
            <a:noFill/>
          </a:ln>
          <a:solidFill>
            <a:srgbClr val="000000"/>
          </a:solidFill>
          <a:uFillTx/>
          <a:latin typeface="+mn-lt"/>
          <a:ea typeface="+mn-ea"/>
          <a:cs typeface="+mn-cs"/>
          <a:sym typeface="Helvetica Neue"/>
        </a:defRPr>
      </a:lvl2pPr>
      <a:lvl3pPr marL="1333500" marR="0" indent="-444500" algn="l" defTabSz="584200" rtl="0" latinLnBrk="0">
        <a:lnSpc>
          <a:spcPct val="100000"/>
        </a:lnSpc>
        <a:spcBef>
          <a:spcPts val="4200"/>
        </a:spcBef>
        <a:spcAft>
          <a:spcPts val="0"/>
        </a:spcAft>
        <a:buClrTx/>
        <a:buSzPct val="145000"/>
        <a:buFontTx/>
        <a:buChar char="•"/>
        <a:tabLst/>
        <a:defRPr b="0" baseline="0" cap="none" i="0" spc="0" strike="noStrike" sz="3200" u="none">
          <a:ln>
            <a:noFill/>
          </a:ln>
          <a:solidFill>
            <a:srgbClr val="000000"/>
          </a:solidFill>
          <a:uFillTx/>
          <a:latin typeface="+mn-lt"/>
          <a:ea typeface="+mn-ea"/>
          <a:cs typeface="+mn-cs"/>
          <a:sym typeface="Helvetica Neue"/>
        </a:defRPr>
      </a:lvl3pPr>
      <a:lvl4pPr marL="1778000" marR="0" indent="-444500" algn="l" defTabSz="584200" rtl="0" latinLnBrk="0">
        <a:lnSpc>
          <a:spcPct val="100000"/>
        </a:lnSpc>
        <a:spcBef>
          <a:spcPts val="4200"/>
        </a:spcBef>
        <a:spcAft>
          <a:spcPts val="0"/>
        </a:spcAft>
        <a:buClrTx/>
        <a:buSzPct val="145000"/>
        <a:buFontTx/>
        <a:buChar char="•"/>
        <a:tabLst/>
        <a:defRPr b="0" baseline="0" cap="none" i="0" spc="0" strike="noStrike" sz="3200" u="none">
          <a:ln>
            <a:noFill/>
          </a:ln>
          <a:solidFill>
            <a:srgbClr val="000000"/>
          </a:solidFill>
          <a:uFillTx/>
          <a:latin typeface="+mn-lt"/>
          <a:ea typeface="+mn-ea"/>
          <a:cs typeface="+mn-cs"/>
          <a:sym typeface="Helvetica Neue"/>
        </a:defRPr>
      </a:lvl4pPr>
      <a:lvl5pPr marL="2222500" marR="0" indent="-444500" algn="l" defTabSz="584200" rtl="0" latinLnBrk="0">
        <a:lnSpc>
          <a:spcPct val="100000"/>
        </a:lnSpc>
        <a:spcBef>
          <a:spcPts val="4200"/>
        </a:spcBef>
        <a:spcAft>
          <a:spcPts val="0"/>
        </a:spcAft>
        <a:buClrTx/>
        <a:buSzPct val="145000"/>
        <a:buFontTx/>
        <a:buChar char="•"/>
        <a:tabLst/>
        <a:defRPr b="0" baseline="0" cap="none" i="0" spc="0" strike="noStrike" sz="3200" u="none">
          <a:ln>
            <a:noFill/>
          </a:ln>
          <a:solidFill>
            <a:srgbClr val="000000"/>
          </a:solidFill>
          <a:uFillTx/>
          <a:latin typeface="+mn-lt"/>
          <a:ea typeface="+mn-ea"/>
          <a:cs typeface="+mn-cs"/>
          <a:sym typeface="Helvetica Neue"/>
        </a:defRPr>
      </a:lvl5pPr>
      <a:lvl6pPr marL="2667000" marR="0" indent="-444500" algn="l" defTabSz="584200" rtl="0" latinLnBrk="0">
        <a:lnSpc>
          <a:spcPct val="100000"/>
        </a:lnSpc>
        <a:spcBef>
          <a:spcPts val="4200"/>
        </a:spcBef>
        <a:spcAft>
          <a:spcPts val="0"/>
        </a:spcAft>
        <a:buClrTx/>
        <a:buSzPct val="145000"/>
        <a:buFontTx/>
        <a:buChar char="•"/>
        <a:tabLst/>
        <a:defRPr b="0" baseline="0" cap="none" i="0" spc="0" strike="noStrike" sz="3200" u="none">
          <a:ln>
            <a:noFill/>
          </a:ln>
          <a:solidFill>
            <a:srgbClr val="000000"/>
          </a:solidFill>
          <a:uFillTx/>
          <a:latin typeface="+mn-lt"/>
          <a:ea typeface="+mn-ea"/>
          <a:cs typeface="+mn-cs"/>
          <a:sym typeface="Helvetica Neue"/>
        </a:defRPr>
      </a:lvl6pPr>
      <a:lvl7pPr marL="3111500" marR="0" indent="-444500" algn="l" defTabSz="584200" rtl="0" latinLnBrk="0">
        <a:lnSpc>
          <a:spcPct val="100000"/>
        </a:lnSpc>
        <a:spcBef>
          <a:spcPts val="4200"/>
        </a:spcBef>
        <a:spcAft>
          <a:spcPts val="0"/>
        </a:spcAft>
        <a:buClrTx/>
        <a:buSzPct val="145000"/>
        <a:buFontTx/>
        <a:buChar char="•"/>
        <a:tabLst/>
        <a:defRPr b="0" baseline="0" cap="none" i="0" spc="0" strike="noStrike" sz="3200" u="none">
          <a:ln>
            <a:noFill/>
          </a:ln>
          <a:solidFill>
            <a:srgbClr val="000000"/>
          </a:solidFill>
          <a:uFillTx/>
          <a:latin typeface="+mn-lt"/>
          <a:ea typeface="+mn-ea"/>
          <a:cs typeface="+mn-cs"/>
          <a:sym typeface="Helvetica Neue"/>
        </a:defRPr>
      </a:lvl7pPr>
      <a:lvl8pPr marL="3556000" marR="0" indent="-444500" algn="l" defTabSz="584200" rtl="0" latinLnBrk="0">
        <a:lnSpc>
          <a:spcPct val="100000"/>
        </a:lnSpc>
        <a:spcBef>
          <a:spcPts val="4200"/>
        </a:spcBef>
        <a:spcAft>
          <a:spcPts val="0"/>
        </a:spcAft>
        <a:buClrTx/>
        <a:buSzPct val="145000"/>
        <a:buFontTx/>
        <a:buChar char="•"/>
        <a:tabLst/>
        <a:defRPr b="0" baseline="0" cap="none" i="0" spc="0" strike="noStrike" sz="3200" u="none">
          <a:ln>
            <a:noFill/>
          </a:ln>
          <a:solidFill>
            <a:srgbClr val="000000"/>
          </a:solidFill>
          <a:uFillTx/>
          <a:latin typeface="+mn-lt"/>
          <a:ea typeface="+mn-ea"/>
          <a:cs typeface="+mn-cs"/>
          <a:sym typeface="Helvetica Neue"/>
        </a:defRPr>
      </a:lvl8pPr>
      <a:lvl9pPr marL="4000500" marR="0" indent="-444500" algn="l" defTabSz="584200" rtl="0" latinLnBrk="0">
        <a:lnSpc>
          <a:spcPct val="100000"/>
        </a:lnSpc>
        <a:spcBef>
          <a:spcPts val="4200"/>
        </a:spcBef>
        <a:spcAft>
          <a:spcPts val="0"/>
        </a:spcAft>
        <a:buClrTx/>
        <a:buSzPct val="145000"/>
        <a:buFontTx/>
        <a:buChar char="•"/>
        <a:tabLst/>
        <a:defRPr b="0" baseline="0" cap="none" i="0" spc="0" strike="noStrike" sz="3200" u="none">
          <a:ln>
            <a:noFill/>
          </a:ln>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600" u="none">
          <a:ln>
            <a:noFill/>
          </a:ln>
          <a:solidFill>
            <a:schemeClr val="tx1"/>
          </a:solidFill>
          <a:uFillTx/>
          <a:latin typeface="+mn-lt"/>
          <a:ea typeface="+mn-ea"/>
          <a:cs typeface="+mn-cs"/>
          <a:sym typeface="Helvetica Neue Light"/>
        </a:defRPr>
      </a:lvl1pPr>
      <a:lvl2pPr marL="0" marR="0" indent="0" algn="ctr" defTabSz="584200" rtl="0" latinLnBrk="0">
        <a:lnSpc>
          <a:spcPct val="100000"/>
        </a:lnSpc>
        <a:spcBef>
          <a:spcPts val="0"/>
        </a:spcBef>
        <a:spcAft>
          <a:spcPts val="0"/>
        </a:spcAft>
        <a:buClrTx/>
        <a:buSzTx/>
        <a:buFontTx/>
        <a:buNone/>
        <a:tabLst/>
        <a:defRPr b="0" baseline="0" cap="none" i="0" spc="0" strike="noStrike" sz="1600" u="none">
          <a:ln>
            <a:noFill/>
          </a:ln>
          <a:solidFill>
            <a:schemeClr val="tx1"/>
          </a:solidFill>
          <a:uFillTx/>
          <a:latin typeface="+mn-lt"/>
          <a:ea typeface="+mn-ea"/>
          <a:cs typeface="+mn-cs"/>
          <a:sym typeface="Helvetica Neue Light"/>
        </a:defRPr>
      </a:lvl2pPr>
      <a:lvl3pPr marL="0" marR="0" indent="0" algn="ctr" defTabSz="584200" rtl="0" latinLnBrk="0">
        <a:lnSpc>
          <a:spcPct val="100000"/>
        </a:lnSpc>
        <a:spcBef>
          <a:spcPts val="0"/>
        </a:spcBef>
        <a:spcAft>
          <a:spcPts val="0"/>
        </a:spcAft>
        <a:buClrTx/>
        <a:buSzTx/>
        <a:buFontTx/>
        <a:buNone/>
        <a:tabLst/>
        <a:defRPr b="0" baseline="0" cap="none" i="0" spc="0" strike="noStrike" sz="1600" u="none">
          <a:ln>
            <a:noFill/>
          </a:ln>
          <a:solidFill>
            <a:schemeClr val="tx1"/>
          </a:solidFill>
          <a:uFillTx/>
          <a:latin typeface="+mn-lt"/>
          <a:ea typeface="+mn-ea"/>
          <a:cs typeface="+mn-cs"/>
          <a:sym typeface="Helvetica Neue Light"/>
        </a:defRPr>
      </a:lvl3pPr>
      <a:lvl4pPr marL="0" marR="0" indent="0" algn="ctr" defTabSz="584200" rtl="0" latinLnBrk="0">
        <a:lnSpc>
          <a:spcPct val="100000"/>
        </a:lnSpc>
        <a:spcBef>
          <a:spcPts val="0"/>
        </a:spcBef>
        <a:spcAft>
          <a:spcPts val="0"/>
        </a:spcAft>
        <a:buClrTx/>
        <a:buSzTx/>
        <a:buFontTx/>
        <a:buNone/>
        <a:tabLst/>
        <a:defRPr b="0" baseline="0" cap="none" i="0" spc="0" strike="noStrike" sz="1600" u="none">
          <a:ln>
            <a:noFill/>
          </a:ln>
          <a:solidFill>
            <a:schemeClr val="tx1"/>
          </a:solidFill>
          <a:uFillTx/>
          <a:latin typeface="+mn-lt"/>
          <a:ea typeface="+mn-ea"/>
          <a:cs typeface="+mn-cs"/>
          <a:sym typeface="Helvetica Neue Light"/>
        </a:defRPr>
      </a:lvl4pPr>
      <a:lvl5pPr marL="0" marR="0" indent="0" algn="ctr" defTabSz="584200" rtl="0" latinLnBrk="0">
        <a:lnSpc>
          <a:spcPct val="100000"/>
        </a:lnSpc>
        <a:spcBef>
          <a:spcPts val="0"/>
        </a:spcBef>
        <a:spcAft>
          <a:spcPts val="0"/>
        </a:spcAft>
        <a:buClrTx/>
        <a:buSzTx/>
        <a:buFontTx/>
        <a:buNone/>
        <a:tabLst/>
        <a:defRPr b="0" baseline="0" cap="none" i="0" spc="0" strike="noStrike" sz="1600" u="none">
          <a:ln>
            <a:noFill/>
          </a:ln>
          <a:solidFill>
            <a:schemeClr val="tx1"/>
          </a:solidFill>
          <a:uFillTx/>
          <a:latin typeface="+mn-lt"/>
          <a:ea typeface="+mn-ea"/>
          <a:cs typeface="+mn-cs"/>
          <a:sym typeface="Helvetica Neue Light"/>
        </a:defRPr>
      </a:lvl5pPr>
      <a:lvl6pPr marL="0" marR="0" indent="0" algn="ctr" defTabSz="584200" rtl="0" latinLnBrk="0">
        <a:lnSpc>
          <a:spcPct val="100000"/>
        </a:lnSpc>
        <a:spcBef>
          <a:spcPts val="0"/>
        </a:spcBef>
        <a:spcAft>
          <a:spcPts val="0"/>
        </a:spcAft>
        <a:buClrTx/>
        <a:buSzTx/>
        <a:buFontTx/>
        <a:buNone/>
        <a:tabLst/>
        <a:defRPr b="0" baseline="0" cap="none" i="0" spc="0" strike="noStrike" sz="1600" u="none">
          <a:ln>
            <a:noFill/>
          </a:ln>
          <a:solidFill>
            <a:schemeClr val="tx1"/>
          </a:solidFill>
          <a:uFillTx/>
          <a:latin typeface="+mn-lt"/>
          <a:ea typeface="+mn-ea"/>
          <a:cs typeface="+mn-cs"/>
          <a:sym typeface="Helvetica Neue Light"/>
        </a:defRPr>
      </a:lvl6pPr>
      <a:lvl7pPr marL="0" marR="0" indent="0" algn="ctr" defTabSz="584200" rtl="0" latinLnBrk="0">
        <a:lnSpc>
          <a:spcPct val="100000"/>
        </a:lnSpc>
        <a:spcBef>
          <a:spcPts val="0"/>
        </a:spcBef>
        <a:spcAft>
          <a:spcPts val="0"/>
        </a:spcAft>
        <a:buClrTx/>
        <a:buSzTx/>
        <a:buFontTx/>
        <a:buNone/>
        <a:tabLst/>
        <a:defRPr b="0" baseline="0" cap="none" i="0" spc="0" strike="noStrike" sz="1600" u="none">
          <a:ln>
            <a:noFill/>
          </a:ln>
          <a:solidFill>
            <a:schemeClr val="tx1"/>
          </a:solidFill>
          <a:uFillTx/>
          <a:latin typeface="+mn-lt"/>
          <a:ea typeface="+mn-ea"/>
          <a:cs typeface="+mn-cs"/>
          <a:sym typeface="Helvetica Neue Light"/>
        </a:defRPr>
      </a:lvl7pPr>
      <a:lvl8pPr marL="0" marR="0" indent="0" algn="ctr" defTabSz="584200" rtl="0" latinLnBrk="0">
        <a:lnSpc>
          <a:spcPct val="100000"/>
        </a:lnSpc>
        <a:spcBef>
          <a:spcPts val="0"/>
        </a:spcBef>
        <a:spcAft>
          <a:spcPts val="0"/>
        </a:spcAft>
        <a:buClrTx/>
        <a:buSzTx/>
        <a:buFontTx/>
        <a:buNone/>
        <a:tabLst/>
        <a:defRPr b="0" baseline="0" cap="none" i="0" spc="0" strike="noStrike" sz="1600" u="none">
          <a:ln>
            <a:noFill/>
          </a:ln>
          <a:solidFill>
            <a:schemeClr val="tx1"/>
          </a:solidFill>
          <a:uFillTx/>
          <a:latin typeface="+mn-lt"/>
          <a:ea typeface="+mn-ea"/>
          <a:cs typeface="+mn-cs"/>
          <a:sym typeface="Helvetica Neue Light"/>
        </a:defRPr>
      </a:lvl8pPr>
      <a:lvl9pPr marL="0" marR="0" indent="0" algn="ctr" defTabSz="584200" rtl="0" latinLnBrk="0">
        <a:lnSpc>
          <a:spcPct val="100000"/>
        </a:lnSpc>
        <a:spcBef>
          <a:spcPts val="0"/>
        </a:spcBef>
        <a:spcAft>
          <a:spcPts val="0"/>
        </a:spcAft>
        <a:buClrTx/>
        <a:buSzTx/>
        <a:buFontTx/>
        <a:buNone/>
        <a:tabLst/>
        <a:defRPr b="0" baseline="0" cap="none" i="0" spc="0" strike="noStrike" sz="1600" u="none">
          <a:ln>
            <a:noFill/>
          </a:ln>
          <a:solidFill>
            <a:schemeClr val="tx1"/>
          </a:solidFill>
          <a:uFillTx/>
          <a:latin typeface="+mn-lt"/>
          <a:ea typeface="+mn-ea"/>
          <a:cs typeface="+mn-cs"/>
          <a:sym typeface="Helvetica Neue Ligh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gif"/></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image" Target="../media/image9.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 Id="rId3" Type="http://schemas.openxmlformats.org/officeDocument/2006/relationships/image" Target="../media/image13.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1.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2.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3.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4.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6.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7.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8.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9.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0.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9.png"/><Relationship Id="rId3" Type="http://schemas.openxmlformats.org/officeDocument/2006/relationships/image" Target="../media/image31.png"/></Relationships>

</file>

<file path=ppt/slides/_rels/slide3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2.png"/></Relationships>

</file>

<file path=ppt/slides/_rels/slide3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2.png"/></Relationships>

</file>

<file path=ppt/slides/_rels/slide3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s>

</file>

<file path=ppt/slides/_rels/slide3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6.png"/><Relationship Id="rId3" Type="http://schemas.openxmlformats.org/officeDocument/2006/relationships/image" Target="../media/image37.png"/></Relationships>

</file>

<file path=ppt/slides/_rels/slide3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8.png"/></Relationships>

</file>

<file path=ppt/slides/_rels/slide3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9.png"/><Relationship Id="rId3" Type="http://schemas.openxmlformats.org/officeDocument/2006/relationships/image" Target="../media/image40.png"/></Relationships>

</file>

<file path=ppt/slides/_rels/slide4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1.png"/></Relationships>

</file>

<file path=ppt/slides/_rels/slide4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2.png"/><Relationship Id="rId3" Type="http://schemas.openxmlformats.org/officeDocument/2006/relationships/image" Target="../media/image43.png"/></Relationships>

</file>

<file path=ppt/slides/_rels/slide4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4.png"/></Relationships>

</file>

<file path=ppt/slides/_rels/slide4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5.png"/></Relationships>

</file>

<file path=ppt/slides/_rels/slide4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5.png"/><Relationship Id="rId3" Type="http://schemas.openxmlformats.org/officeDocument/2006/relationships/image" Target="../media/image46.png"/></Relationships>

</file>

<file path=ppt/slides/_rels/slide4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7.png"/></Relationships>

</file>

<file path=ppt/slides/_rels/slide46.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8.png"/></Relationships>

</file>

<file path=ppt/slides/_rels/slide5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8.png"/></Relationships>

</file>

<file path=ppt/slides/_rels/slide5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8.png"/></Relationships>

</file>

<file path=ppt/slides/_rels/slide5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9.png"/><Relationship Id="rId3" Type="http://schemas.openxmlformats.org/officeDocument/2006/relationships/image" Target="../media/image50.png"/></Relationships>

</file>

<file path=ppt/slides/_rels/slide5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1.png"/></Relationships>

</file>

<file path=ppt/slides/_rels/slide5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2.png"/></Relationships>

</file>

<file path=ppt/slides/_rels/slide5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2.png"/><Relationship Id="rId3" Type="http://schemas.openxmlformats.org/officeDocument/2006/relationships/image" Target="../media/image53.png"/></Relationships>

</file>

<file path=ppt/slides/_rels/slide5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2.png"/><Relationship Id="rId3" Type="http://schemas.openxmlformats.org/officeDocument/2006/relationships/image" Target="../media/image54.png"/></Relationships>

</file>

<file path=ppt/slides/_rels/slide5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5.png"/></Relationships>

</file>

<file path=ppt/slides/_rels/slide6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6.png"/></Relationships>

</file>

<file path=ppt/slides/_rels/slide6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6.png"/><Relationship Id="rId3" Type="http://schemas.openxmlformats.org/officeDocument/2006/relationships/image" Target="../media/image57.png"/></Relationships>

</file>

<file path=ppt/slides/_rels/slide62.xml.rels><?xml version="1.0" encoding="UTF-8"?>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8.png"/></Relationships>

</file>

<file path=ppt/slides/_rels/slide64.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Relationships xmlns="http://schemas.openxmlformats.org/package/2006/relationships"><Relationship Id="rId1" Type="http://schemas.openxmlformats.org/officeDocument/2006/relationships/slideLayout" Target="../slideLayouts/slideLayout15.xml"/></Relationships>

</file>

<file path=ppt/slides/_rels/slide66.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s>

</file>

<file path=ppt/slides/_rels/slide67.xml.rels><?xml version="1.0" encoding="UTF-8"?>
<Relationships xmlns="http://schemas.openxmlformats.org/package/2006/relationships"><Relationship Id="rId1" Type="http://schemas.openxmlformats.org/officeDocument/2006/relationships/slideLayout" Target="../slideLayouts/slideLayout15.xml"/></Relationships>

</file>

<file path=ppt/slides/_rels/slide68.xml.rels><?xml version="1.0" encoding="UTF-8"?>
<Relationships xmlns="http://schemas.openxmlformats.org/package/2006/relationships"><Relationship Id="rId1" Type="http://schemas.openxmlformats.org/officeDocument/2006/relationships/slideLayout" Target="../slideLayouts/slideLayout15.xml"/></Relationships>

</file>

<file path=ppt/slides/_rels/slide69.xml.rels><?xml version="1.0" encoding="UTF-8"?>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Week 5"/>
          <p:cNvSpPr txBox="1"/>
          <p:nvPr>
            <p:ph type="ctrTitle"/>
          </p:nvPr>
        </p:nvSpPr>
        <p:spPr>
          <a:prstGeom prst="rect">
            <a:avLst/>
          </a:prstGeom>
        </p:spPr>
        <p:txBody>
          <a:bodyPr/>
          <a:lstStyle/>
          <a:p>
            <a:pPr/>
            <a:r>
              <a:t>Week 5</a:t>
            </a:r>
          </a:p>
        </p:txBody>
      </p:sp>
      <p:sp>
        <p:nvSpPr>
          <p:cNvPr id="153" name="Introduction to Electrical Circuits"/>
          <p:cNvSpPr txBox="1"/>
          <p:nvPr>
            <p:ph type="subTitle" sz="quarter" idx="1"/>
          </p:nvPr>
        </p:nvSpPr>
        <p:spPr>
          <a:prstGeom prst="rect">
            <a:avLst/>
          </a:prstGeom>
        </p:spPr>
        <p:txBody>
          <a:bodyPr/>
          <a:lstStyle/>
          <a:p>
            <a:pPr/>
            <a:r>
              <a:t>Introduction to Electrical Circuits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Appendix - I"/>
          <p:cNvSpPr txBox="1"/>
          <p:nvPr>
            <p:ph type="title"/>
          </p:nvPr>
        </p:nvSpPr>
        <p:spPr>
          <a:prstGeom prst="rect">
            <a:avLst/>
          </a:prstGeom>
        </p:spPr>
        <p:txBody>
          <a:bodyPr/>
          <a:lstStyle/>
          <a:p>
            <a:pPr/>
            <a:r>
              <a:t>Appendix - I</a:t>
            </a:r>
          </a:p>
        </p:txBody>
      </p:sp>
      <p:sp>
        <p:nvSpPr>
          <p:cNvPr id="156" name="Content Placeholder 1"/>
          <p:cNvSpPr txBox="1"/>
          <p:nvPr/>
        </p:nvSpPr>
        <p:spPr>
          <a:xfrm>
            <a:off x="1423329" y="3578926"/>
            <a:ext cx="10587519" cy="1894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lvl="1" marL="742950" indent="-285750" algn="l" defTabSz="914400">
              <a:spcBef>
                <a:spcPts val="600"/>
              </a:spcBef>
              <a:buClr>
                <a:srgbClr val="99CCCC"/>
              </a:buClr>
              <a:buSzPct val="70000"/>
              <a:buChar char="●"/>
              <a:defRPr sz="2800">
                <a:latin typeface="Verdana"/>
                <a:ea typeface="Verdana"/>
                <a:cs typeface="Verdana"/>
                <a:sym typeface="Verdana"/>
              </a:defRPr>
            </a:pPr>
            <a:r>
              <a:t>Recommendation:</a:t>
            </a:r>
            <a:endParaRPr sz="2500"/>
          </a:p>
          <a:p>
            <a:pPr lvl="2" marL="1143000" indent="-228600" algn="l" defTabSz="914400">
              <a:spcBef>
                <a:spcPts val="600"/>
              </a:spcBef>
              <a:buClr>
                <a:srgbClr val="006666"/>
              </a:buClr>
              <a:buSzPct val="65000"/>
              <a:buChar char="○"/>
              <a:defRPr sz="2800">
                <a:latin typeface="Verdana"/>
                <a:ea typeface="Verdana"/>
                <a:cs typeface="Verdana"/>
                <a:sym typeface="Verdana"/>
              </a:defRPr>
            </a:pPr>
            <a:r>
              <a:t>Use nodal analysis for circuits with fewer nodes than meshes, and use mesh analysis for circuits with fewer meshes than nodes. </a:t>
            </a:r>
          </a:p>
        </p:txBody>
      </p:sp>
      <p:sp>
        <p:nvSpPr>
          <p:cNvPr id="157" name="Content Placeholder 1"/>
          <p:cNvSpPr txBox="1"/>
          <p:nvPr/>
        </p:nvSpPr>
        <p:spPr>
          <a:xfrm>
            <a:off x="1466342" y="5814126"/>
            <a:ext cx="3657603" cy="13614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lvl="1" marL="742950" indent="-285750" algn="l" defTabSz="914400">
              <a:spcBef>
                <a:spcPts val="400"/>
              </a:spcBef>
              <a:buClr>
                <a:srgbClr val="99CCCC"/>
              </a:buClr>
              <a:buSzPct val="70000"/>
              <a:buChar char="●"/>
              <a:defRPr sz="2000">
                <a:latin typeface="Verdana"/>
                <a:ea typeface="Verdana"/>
                <a:cs typeface="Verdana"/>
                <a:sym typeface="Verdana"/>
              </a:defRPr>
            </a:pPr>
            <a:r>
              <a:t>How many nodes does this circuit have?</a:t>
            </a:r>
            <a:endParaRPr sz="2500"/>
          </a:p>
          <a:p>
            <a:pPr lvl="1" marL="742950" indent="-285750" algn="l" defTabSz="914400">
              <a:spcBef>
                <a:spcPts val="400"/>
              </a:spcBef>
              <a:buClr>
                <a:srgbClr val="99CCCC"/>
              </a:buClr>
              <a:buSzPct val="70000"/>
              <a:buChar char="●"/>
              <a:defRPr sz="2000">
                <a:latin typeface="Verdana"/>
                <a:ea typeface="Verdana"/>
                <a:cs typeface="Verdana"/>
                <a:sym typeface="Verdana"/>
              </a:defRPr>
            </a:pPr>
            <a:r>
              <a:t>How many meshes?</a:t>
            </a:r>
          </a:p>
        </p:txBody>
      </p:sp>
      <p:pic>
        <p:nvPicPr>
          <p:cNvPr id="158" name="Picture 1" descr="Picture 1"/>
          <p:cNvPicPr>
            <a:picLocks noChangeAspect="1"/>
          </p:cNvPicPr>
          <p:nvPr/>
        </p:nvPicPr>
        <p:blipFill>
          <a:blip r:embed="rId2">
            <a:extLst/>
          </a:blip>
          <a:srcRect l="0" t="6694" r="0" b="0"/>
          <a:stretch>
            <a:fillRect/>
          </a:stretch>
        </p:blipFill>
        <p:spPr>
          <a:xfrm>
            <a:off x="5196316" y="6245926"/>
            <a:ext cx="5238752" cy="2124077"/>
          </a:xfrm>
          <a:prstGeom prst="rect">
            <a:avLst/>
          </a:prstGeom>
          <a:ln w="12700">
            <a:miter lim="400000"/>
          </a:ln>
        </p:spPr>
      </p:pic>
      <p:sp>
        <p:nvSpPr>
          <p:cNvPr id="159" name="Rectangle 2"/>
          <p:cNvSpPr txBox="1"/>
          <p:nvPr/>
        </p:nvSpPr>
        <p:spPr>
          <a:xfrm>
            <a:off x="1511647" y="2104711"/>
            <a:ext cx="10587520" cy="114300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b">
            <a:normAutofit fontScale="100000" lnSpcReduction="0"/>
          </a:bodyPr>
          <a:lstStyle>
            <a:lvl1pPr algn="l" defTabSz="914400">
              <a:defRPr sz="3600">
                <a:solidFill>
                  <a:srgbClr val="006666"/>
                </a:solidFill>
                <a:latin typeface="Arial"/>
                <a:ea typeface="Arial"/>
                <a:cs typeface="Arial"/>
                <a:sym typeface="Arial"/>
              </a:defRPr>
            </a:lvl1pPr>
          </a:lstStyle>
          <a:p>
            <a:pPr/>
            <a:r>
              <a:t>Should You Use Nodal Analysis or Mesh Analysis?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1" name="Appendix - II"/>
          <p:cNvSpPr txBox="1"/>
          <p:nvPr>
            <p:ph type="title"/>
          </p:nvPr>
        </p:nvSpPr>
        <p:spPr>
          <a:prstGeom prst="rect">
            <a:avLst/>
          </a:prstGeom>
        </p:spPr>
        <p:txBody>
          <a:bodyPr/>
          <a:lstStyle/>
          <a:p>
            <a:pPr/>
            <a:r>
              <a:t>Appendix - II</a:t>
            </a:r>
          </a:p>
        </p:txBody>
      </p:sp>
      <p:sp>
        <p:nvSpPr>
          <p:cNvPr id="162" name="For advancement in circuit analysis use all skills you obtain.…"/>
          <p:cNvSpPr txBox="1"/>
          <p:nvPr>
            <p:ph type="body" idx="4294967295"/>
          </p:nvPr>
        </p:nvSpPr>
        <p:spPr>
          <a:xfrm>
            <a:off x="1276699" y="2308126"/>
            <a:ext cx="10720745" cy="6864547"/>
          </a:xfrm>
          <a:prstGeom prst="rect">
            <a:avLst/>
          </a:prstGeom>
        </p:spPr>
        <p:txBody>
          <a:bodyPr lIns="45718" tIns="45718" rIns="45718" bIns="45718" anchor="t"/>
          <a:lstStyle/>
          <a:p>
            <a:pPr marL="329183" indent="-329183" defTabSz="877822">
              <a:lnSpc>
                <a:spcPct val="90000"/>
              </a:lnSpc>
              <a:spcBef>
                <a:spcPts val="500"/>
              </a:spcBef>
              <a:buClr>
                <a:srgbClr val="023761"/>
              </a:buClr>
              <a:buSzPct val="100000"/>
              <a:defRPr sz="3700">
                <a:latin typeface="Arial"/>
                <a:ea typeface="Arial"/>
                <a:cs typeface="Arial"/>
                <a:sym typeface="Arial"/>
              </a:defRPr>
            </a:pPr>
            <a:r>
              <a:t>For advancement in circuit analysis use all skills you obtain. </a:t>
            </a:r>
          </a:p>
          <a:p>
            <a:pPr marL="329183" indent="-329183" defTabSz="877822">
              <a:lnSpc>
                <a:spcPct val="90000"/>
              </a:lnSpc>
              <a:spcBef>
                <a:spcPts val="500"/>
              </a:spcBef>
              <a:buClr>
                <a:srgbClr val="023761"/>
              </a:buClr>
              <a:buSzPct val="100000"/>
              <a:defRPr sz="3700">
                <a:latin typeface="Arial"/>
                <a:ea typeface="Arial"/>
                <a:cs typeface="Arial"/>
                <a:sym typeface="Arial"/>
              </a:defRPr>
            </a:pPr>
            <a:r>
              <a:t>Graph theory</a:t>
            </a:r>
          </a:p>
          <a:p>
            <a:pPr lvl="1" marL="713230" indent="-274319" defTabSz="877822">
              <a:lnSpc>
                <a:spcPct val="90000"/>
              </a:lnSpc>
              <a:spcBef>
                <a:spcPts val="400"/>
              </a:spcBef>
              <a:buClr>
                <a:srgbClr val="023761"/>
              </a:buClr>
              <a:buSzPct val="100000"/>
              <a:buChar char="–"/>
              <a:defRPr sz="3700">
                <a:latin typeface="Arial"/>
                <a:ea typeface="Arial"/>
                <a:cs typeface="Arial"/>
                <a:sym typeface="Arial"/>
              </a:defRPr>
            </a:pPr>
            <a:r>
              <a:t>Take advantage of topology</a:t>
            </a:r>
          </a:p>
          <a:p>
            <a:pPr marL="329183" indent="-329183" defTabSz="877822">
              <a:lnSpc>
                <a:spcPct val="90000"/>
              </a:lnSpc>
              <a:spcBef>
                <a:spcPts val="500"/>
              </a:spcBef>
              <a:buClr>
                <a:srgbClr val="023761"/>
              </a:buClr>
              <a:buSzPct val="100000"/>
              <a:defRPr sz="3700">
                <a:latin typeface="Arial"/>
                <a:ea typeface="Arial"/>
                <a:cs typeface="Arial"/>
                <a:sym typeface="Arial"/>
              </a:defRPr>
            </a:pPr>
            <a:r>
              <a:t>Node-voltage approach</a:t>
            </a:r>
          </a:p>
          <a:p>
            <a:pPr lvl="1" marL="713230" indent="-274319" defTabSz="877822">
              <a:lnSpc>
                <a:spcPct val="90000"/>
              </a:lnSpc>
              <a:spcBef>
                <a:spcPts val="400"/>
              </a:spcBef>
              <a:buClr>
                <a:srgbClr val="023761"/>
              </a:buClr>
              <a:buSzPct val="100000"/>
              <a:buChar char="–"/>
              <a:defRPr sz="3700">
                <a:latin typeface="Arial"/>
                <a:ea typeface="Arial"/>
                <a:cs typeface="Arial"/>
                <a:sym typeface="Arial"/>
              </a:defRPr>
            </a:pPr>
            <a:r>
              <a:t>Aim to find all tree voltages initially</a:t>
            </a:r>
          </a:p>
          <a:p>
            <a:pPr marL="329183" indent="-329183" defTabSz="877822">
              <a:lnSpc>
                <a:spcPct val="90000"/>
              </a:lnSpc>
              <a:spcBef>
                <a:spcPts val="500"/>
              </a:spcBef>
              <a:buClr>
                <a:srgbClr val="023761"/>
              </a:buClr>
              <a:buSzPct val="100000"/>
              <a:defRPr sz="3700">
                <a:latin typeface="Arial"/>
                <a:ea typeface="Arial"/>
                <a:cs typeface="Arial"/>
                <a:sym typeface="Arial"/>
              </a:defRPr>
            </a:pPr>
            <a:r>
              <a:t>Loop-current approach</a:t>
            </a:r>
          </a:p>
          <a:p>
            <a:pPr lvl="1" marL="713230" indent="-274319" defTabSz="877822">
              <a:lnSpc>
                <a:spcPct val="90000"/>
              </a:lnSpc>
              <a:spcBef>
                <a:spcPts val="400"/>
              </a:spcBef>
              <a:buClr>
                <a:srgbClr val="023761"/>
              </a:buClr>
              <a:buSzPct val="100000"/>
              <a:buChar char="–"/>
              <a:defRPr sz="3700">
                <a:latin typeface="Arial"/>
                <a:ea typeface="Arial"/>
                <a:cs typeface="Arial"/>
                <a:sym typeface="Arial"/>
              </a:defRPr>
            </a:pPr>
            <a:r>
              <a:t>Aim to find all branch currents initially</a:t>
            </a:r>
          </a:p>
          <a:p>
            <a:pPr marL="0" indent="0" defTabSz="560830">
              <a:lnSpc>
                <a:spcPct val="90000"/>
              </a:lnSpc>
              <a:spcBef>
                <a:spcPts val="4000"/>
              </a:spcBef>
              <a:buSzTx/>
              <a:buNone/>
              <a:defRPr sz="2400"/>
            </a:pPr>
            <a:r>
              <a:t>Note: From Node and Mesh Analysis, the final homework assignment is posted on Canvas. Last problem requires you to use LTSpice to simulate the circuit and verify the results. Please submit your LTSpice Image file and the resulting values using DC .op analysis (same as I did in class demo) </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Agenda"/>
          <p:cNvSpPr txBox="1"/>
          <p:nvPr>
            <p:ph type="title"/>
          </p:nvPr>
        </p:nvSpPr>
        <p:spPr>
          <a:prstGeom prst="rect">
            <a:avLst/>
          </a:prstGeom>
        </p:spPr>
        <p:txBody>
          <a:bodyPr/>
          <a:lstStyle/>
          <a:p>
            <a:pPr/>
            <a:r>
              <a:t>Agenda</a:t>
            </a:r>
          </a:p>
        </p:txBody>
      </p:sp>
      <p:sp>
        <p:nvSpPr>
          <p:cNvPr id="165" name="Source Transformations…"/>
          <p:cNvSpPr txBox="1"/>
          <p:nvPr>
            <p:ph type="body" idx="1"/>
          </p:nvPr>
        </p:nvSpPr>
        <p:spPr>
          <a:xfrm>
            <a:off x="952500" y="2219010"/>
            <a:ext cx="11099800" cy="6286502"/>
          </a:xfrm>
          <a:prstGeom prst="rect">
            <a:avLst/>
          </a:prstGeom>
        </p:spPr>
        <p:txBody>
          <a:bodyPr/>
          <a:lstStyle/>
          <a:p>
            <a:pPr marL="404495" indent="-404495" defTabSz="531622">
              <a:spcBef>
                <a:spcPts val="3800"/>
              </a:spcBef>
              <a:defRPr sz="2900"/>
            </a:pPr>
            <a:r>
              <a:t>Source Transformations</a:t>
            </a:r>
          </a:p>
          <a:p>
            <a:pPr marL="404495" indent="-404495" defTabSz="531622">
              <a:spcBef>
                <a:spcPts val="3800"/>
              </a:spcBef>
              <a:defRPr sz="2900"/>
            </a:pPr>
            <a:r>
              <a:t>Thevenin’s Theorem</a:t>
            </a:r>
          </a:p>
          <a:p>
            <a:pPr marL="404495" indent="-404495" defTabSz="531622">
              <a:spcBef>
                <a:spcPts val="3800"/>
              </a:spcBef>
              <a:defRPr sz="2900"/>
            </a:pPr>
            <a:r>
              <a:t>Norton’s Equivalent Circuit</a:t>
            </a:r>
          </a:p>
          <a:p>
            <a:pPr marL="404495" indent="-404495" defTabSz="531622">
              <a:spcBef>
                <a:spcPts val="3800"/>
              </a:spcBef>
              <a:defRPr sz="2900"/>
            </a:pPr>
            <a:r>
              <a:t>Superposition</a:t>
            </a:r>
          </a:p>
          <a:p>
            <a:pPr marL="404495" indent="-404495" defTabSz="531622">
              <a:spcBef>
                <a:spcPts val="3800"/>
              </a:spcBef>
              <a:defRPr sz="2900"/>
            </a:pPr>
            <a:r>
              <a:t>Maximum Power Transfer</a:t>
            </a:r>
          </a:p>
          <a:p>
            <a:pPr marL="404495" indent="-404495" defTabSz="531622">
              <a:spcBef>
                <a:spcPts val="3800"/>
              </a:spcBef>
              <a:defRPr sz="2900"/>
            </a:pPr>
            <a:r>
              <a:t>LTSpice Simulation of Equivalent Circuits</a:t>
            </a:r>
          </a:p>
          <a:p>
            <a:pPr marL="0" indent="0" defTabSz="531622">
              <a:spcBef>
                <a:spcPts val="3800"/>
              </a:spcBef>
              <a:buSzTx/>
              <a:buNone/>
              <a:defRPr sz="1900"/>
            </a:pPr>
            <a:r>
              <a:t>(Ref: This section is directly based on material from chapter 5 of text, UW, and VirginiaTech EE department resources)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7" name="Source Transformation"/>
          <p:cNvSpPr txBox="1"/>
          <p:nvPr>
            <p:ph type="title"/>
          </p:nvPr>
        </p:nvSpPr>
        <p:spPr>
          <a:prstGeom prst="rect">
            <a:avLst/>
          </a:prstGeom>
        </p:spPr>
        <p:txBody>
          <a:bodyPr/>
          <a:lstStyle/>
          <a:p>
            <a:pPr/>
            <a:r>
              <a:t>Source Transformation</a:t>
            </a:r>
          </a:p>
        </p:txBody>
      </p:sp>
      <p:sp>
        <p:nvSpPr>
          <p:cNvPr id="168" name="We primarily deal with two kind of sources :…"/>
          <p:cNvSpPr txBox="1"/>
          <p:nvPr>
            <p:ph type="body" idx="1"/>
          </p:nvPr>
        </p:nvSpPr>
        <p:spPr>
          <a:xfrm>
            <a:off x="952500" y="2590800"/>
            <a:ext cx="11099800" cy="6286500"/>
          </a:xfrm>
          <a:prstGeom prst="rect">
            <a:avLst/>
          </a:prstGeom>
        </p:spPr>
        <p:txBody>
          <a:bodyPr/>
          <a:lstStyle/>
          <a:p>
            <a:pPr marL="336041" indent="-336041" defTabSz="572516">
              <a:lnSpc>
                <a:spcPct val="90000"/>
              </a:lnSpc>
              <a:spcBef>
                <a:spcPts val="3100"/>
              </a:spcBef>
              <a:defRPr sz="2700">
                <a:latin typeface="Times New Roman"/>
                <a:ea typeface="Times New Roman"/>
                <a:cs typeface="Times New Roman"/>
                <a:sym typeface="Times New Roman"/>
              </a:defRPr>
            </a:pPr>
            <a:r>
              <a:t>We primarily deal with two kind of sources :</a:t>
            </a:r>
          </a:p>
          <a:p>
            <a:pPr lvl="1" marL="672083" indent="-336041" defTabSz="572516">
              <a:lnSpc>
                <a:spcPct val="90000"/>
              </a:lnSpc>
              <a:spcBef>
                <a:spcPts val="3100"/>
              </a:spcBef>
              <a:defRPr sz="2100">
                <a:latin typeface="Times New Roman"/>
                <a:ea typeface="Times New Roman"/>
                <a:cs typeface="Times New Roman"/>
                <a:sym typeface="Times New Roman"/>
              </a:defRPr>
            </a:pPr>
            <a:r>
              <a:t>Voltage and Current Sources</a:t>
            </a:r>
          </a:p>
          <a:p>
            <a:pPr marL="336041" indent="-336041" defTabSz="572516">
              <a:lnSpc>
                <a:spcPct val="90000"/>
              </a:lnSpc>
              <a:spcBef>
                <a:spcPts val="3100"/>
              </a:spcBef>
              <a:defRPr sz="2700">
                <a:latin typeface="Times New Roman"/>
                <a:ea typeface="Times New Roman"/>
                <a:cs typeface="Times New Roman"/>
                <a:sym typeface="Times New Roman"/>
              </a:defRPr>
            </a:pPr>
            <a:r>
              <a:t>For our analysis we have always thought of them to be ideal. </a:t>
            </a:r>
          </a:p>
          <a:p>
            <a:pPr marL="336041" indent="-336041" defTabSz="572516">
              <a:lnSpc>
                <a:spcPct val="90000"/>
              </a:lnSpc>
              <a:spcBef>
                <a:spcPts val="3100"/>
              </a:spcBef>
              <a:defRPr sz="2700">
                <a:latin typeface="Times New Roman"/>
                <a:ea typeface="Times New Roman"/>
                <a:cs typeface="Times New Roman"/>
                <a:sym typeface="Times New Roman"/>
              </a:defRPr>
            </a:pPr>
            <a:r>
              <a:t>Voltage source was supposed to be with no internal resistance, so it</a:t>
            </a:r>
          </a:p>
          <a:p>
            <a:pPr marL="544512" indent="-544512" defTabSz="572516">
              <a:lnSpc>
                <a:spcPct val="90000"/>
              </a:lnSpc>
              <a:spcBef>
                <a:spcPts val="2100"/>
              </a:spcBef>
              <a:buSzPct val="100000"/>
              <a:buAutoNum type="arabicPeriod" startAt="1"/>
              <a:defRPr sz="2700">
                <a:latin typeface="Times New Roman"/>
                <a:ea typeface="Times New Roman"/>
                <a:cs typeface="Times New Roman"/>
                <a:sym typeface="Times New Roman"/>
              </a:defRPr>
            </a:pPr>
            <a:r>
              <a:t>Supplied its rated voltage value over time.</a:t>
            </a:r>
          </a:p>
          <a:p>
            <a:pPr marL="544512" indent="-544512" defTabSz="572516">
              <a:lnSpc>
                <a:spcPct val="90000"/>
              </a:lnSpc>
              <a:spcBef>
                <a:spcPts val="2100"/>
              </a:spcBef>
              <a:buSzPct val="100000"/>
              <a:buAutoNum type="arabicPeriod" startAt="1"/>
              <a:defRPr sz="2700">
                <a:latin typeface="Times New Roman"/>
                <a:ea typeface="Times New Roman"/>
                <a:cs typeface="Times New Roman"/>
                <a:sym typeface="Times New Roman"/>
              </a:defRPr>
            </a:pPr>
            <a:r>
              <a:t>Its voltage stayed same as the power supplied from this source increased. </a:t>
            </a:r>
          </a:p>
          <a:p>
            <a:pPr marL="336041" indent="-336041" defTabSz="572516">
              <a:lnSpc>
                <a:spcPct val="90000"/>
              </a:lnSpc>
              <a:spcBef>
                <a:spcPts val="3100"/>
              </a:spcBef>
              <a:defRPr sz="2700">
                <a:latin typeface="Times New Roman"/>
                <a:ea typeface="Times New Roman"/>
                <a:cs typeface="Times New Roman"/>
                <a:sym typeface="Times New Roman"/>
              </a:defRPr>
            </a:pPr>
            <a:r>
              <a:t>Current source was supposed to exhibit no leakage</a:t>
            </a:r>
          </a:p>
          <a:p>
            <a:pPr marL="544512" indent="-544512" defTabSz="572516">
              <a:lnSpc>
                <a:spcPct val="90000"/>
              </a:lnSpc>
              <a:spcBef>
                <a:spcPts val="2100"/>
              </a:spcBef>
              <a:buSzPct val="100000"/>
              <a:buAutoNum type="arabicPeriod" startAt="1"/>
              <a:defRPr sz="2700">
                <a:latin typeface="Times New Roman"/>
                <a:ea typeface="Times New Roman"/>
                <a:cs typeface="Times New Roman"/>
                <a:sym typeface="Times New Roman"/>
              </a:defRPr>
            </a:pPr>
            <a:r>
              <a:t>It supplied constant/same value of current always in our circuit</a:t>
            </a:r>
          </a:p>
          <a:p>
            <a:pPr marL="544512" indent="-544512" defTabSz="572516">
              <a:lnSpc>
                <a:spcPct val="90000"/>
              </a:lnSpc>
              <a:spcBef>
                <a:spcPts val="2100"/>
              </a:spcBef>
              <a:buSzPct val="100000"/>
              <a:buAutoNum type="arabicPeriod" startAt="1"/>
              <a:defRPr sz="2700">
                <a:latin typeface="Times New Roman"/>
                <a:ea typeface="Times New Roman"/>
                <a:cs typeface="Times New Roman"/>
                <a:sym typeface="Times New Roman"/>
              </a:defRPr>
            </a:pPr>
            <a:r>
              <a:t>Its current stayed same as the power supplied from this source increased.</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0" name="Screen Shot 2019-05-05 at 11.10.25 PM.png" descr="Screen Shot 2019-05-05 at 11.10.25 PM.png"/>
          <p:cNvPicPr>
            <a:picLocks noChangeAspect="1"/>
          </p:cNvPicPr>
          <p:nvPr>
            <p:ph type="pic" idx="13"/>
          </p:nvPr>
        </p:nvPicPr>
        <p:blipFill>
          <a:blip r:embed="rId2">
            <a:extLst/>
          </a:blip>
          <a:srcRect l="9699" t="6650" r="0" b="0"/>
          <a:stretch>
            <a:fillRect/>
          </a:stretch>
        </p:blipFill>
        <p:spPr>
          <a:xfrm>
            <a:off x="7807483" y="2795428"/>
            <a:ext cx="3189424" cy="2729035"/>
          </a:xfrm>
          <a:prstGeom prst="rect">
            <a:avLst/>
          </a:prstGeom>
        </p:spPr>
      </p:pic>
      <p:sp>
        <p:nvSpPr>
          <p:cNvPr id="171" name="Source Transformation"/>
          <p:cNvSpPr txBox="1"/>
          <p:nvPr>
            <p:ph type="title"/>
          </p:nvPr>
        </p:nvSpPr>
        <p:spPr>
          <a:prstGeom prst="rect">
            <a:avLst/>
          </a:prstGeom>
        </p:spPr>
        <p:txBody>
          <a:bodyPr/>
          <a:lstStyle/>
          <a:p>
            <a:pPr/>
            <a:r>
              <a:t>Source Transformation</a:t>
            </a:r>
          </a:p>
        </p:txBody>
      </p:sp>
      <p:sp>
        <p:nvSpPr>
          <p:cNvPr id="172" name="Realistic or practical voltage source has some inherent resistance.…"/>
          <p:cNvSpPr txBox="1"/>
          <p:nvPr>
            <p:ph type="body" sz="half" idx="1"/>
          </p:nvPr>
        </p:nvSpPr>
        <p:spPr>
          <a:xfrm>
            <a:off x="952499" y="2590800"/>
            <a:ext cx="5956943" cy="6286500"/>
          </a:xfrm>
          <a:prstGeom prst="rect">
            <a:avLst/>
          </a:prstGeom>
        </p:spPr>
        <p:txBody>
          <a:bodyPr/>
          <a:lstStyle/>
          <a:p>
            <a:pPr marL="322324" indent="-322324" defTabSz="549148">
              <a:spcBef>
                <a:spcPts val="3000"/>
              </a:spcBef>
              <a:defRPr sz="2600"/>
            </a:pPr>
            <a:r>
              <a:t>Realistic or practical voltage source has some inherent resistance. </a:t>
            </a:r>
          </a:p>
          <a:p>
            <a:pPr marL="322324" indent="-322324" defTabSz="549148">
              <a:spcBef>
                <a:spcPts val="3000"/>
              </a:spcBef>
              <a:defRPr sz="2600"/>
            </a:pPr>
            <a:r>
              <a:t>Because it impedes the current and decreases the voltage drop across terminals it can be viewed as </a:t>
            </a:r>
            <a:r>
              <a:rPr b="1" u="sng"/>
              <a:t>an ideal source with series resistance</a:t>
            </a:r>
          </a:p>
          <a:p>
            <a:pPr marL="322324" indent="-322324" defTabSz="549148">
              <a:spcBef>
                <a:spcPts val="3000"/>
              </a:spcBef>
              <a:defRPr sz="2600"/>
            </a:pPr>
            <a:r>
              <a:t>Realistic or practical current source has current leakage. </a:t>
            </a:r>
          </a:p>
          <a:p>
            <a:pPr marL="322324" indent="-322324" defTabSz="549148">
              <a:spcBef>
                <a:spcPts val="3000"/>
              </a:spcBef>
              <a:defRPr sz="2600"/>
            </a:pPr>
            <a:r>
              <a:t>Because it decreases current with increasing power, it can be viewed as </a:t>
            </a:r>
            <a:r>
              <a:rPr b="1" u="sng"/>
              <a:t>an ideal source with parallel resistance. </a:t>
            </a:r>
          </a:p>
        </p:txBody>
      </p:sp>
      <p:pic>
        <p:nvPicPr>
          <p:cNvPr id="173" name="Screen Shot 2019-05-05 at 11.11.17 PM.png" descr="Screen Shot 2019-05-05 at 11.11.17 PM.png"/>
          <p:cNvPicPr>
            <a:picLocks noChangeAspect="1"/>
          </p:cNvPicPr>
          <p:nvPr/>
        </p:nvPicPr>
        <p:blipFill>
          <a:blip r:embed="rId3">
            <a:extLst/>
          </a:blip>
          <a:stretch>
            <a:fillRect/>
          </a:stretch>
        </p:blipFill>
        <p:spPr>
          <a:xfrm>
            <a:off x="7510133" y="5824134"/>
            <a:ext cx="3836807" cy="2728914"/>
          </a:xfrm>
          <a:prstGeom prst="rect">
            <a:avLst/>
          </a:prstGeom>
          <a:ln w="12700">
            <a:miter lim="400000"/>
          </a:ln>
        </p:spPr>
      </p:pic>
      <p:sp>
        <p:nvSpPr>
          <p:cNvPr id="174" name="The best part - these are interchangeable…"/>
          <p:cNvSpPr txBox="1"/>
          <p:nvPr/>
        </p:nvSpPr>
        <p:spPr>
          <a:xfrm>
            <a:off x="6476322" y="8675737"/>
            <a:ext cx="6284062" cy="82936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b="1">
                <a:latin typeface="+mn-lt"/>
                <a:ea typeface="+mn-ea"/>
                <a:cs typeface="+mn-cs"/>
                <a:sym typeface="Helvetica Neue"/>
              </a:defRPr>
            </a:pPr>
            <a:r>
              <a:t>The best part - these are interchangeable </a:t>
            </a:r>
          </a:p>
          <a:p>
            <a:pPr>
              <a:defRPr b="1">
                <a:latin typeface="+mn-lt"/>
                <a:ea typeface="+mn-ea"/>
                <a:cs typeface="+mn-cs"/>
                <a:sym typeface="Helvetica Neue"/>
              </a:defRPr>
            </a:pPr>
            <a:r>
              <a:t>(Hence “transformation”)</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17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nodeType="clickEffect" presetID="9" grpId="3" fill="hold">
                                  <p:stCondLst>
                                    <p:cond delay="0"/>
                                  </p:stCondLst>
                                  <p:iterate type="el" backwards="0">
                                    <p:tmAbs val="0"/>
                                  </p:iterate>
                                  <p:childTnLst>
                                    <p:set>
                                      <p:cBhvr>
                                        <p:cTn id="14" fill="hold"/>
                                        <p:tgtEl>
                                          <p:spTgt spid="174"/>
                                        </p:tgtEl>
                                        <p:attrNameLst>
                                          <p:attrName>style.visibility</p:attrName>
                                        </p:attrNameLst>
                                      </p:cBhvr>
                                      <p:to>
                                        <p:strVal val="visible"/>
                                      </p:to>
                                    </p:set>
                                    <p:animEffect filter="dissolve" transition="in">
                                      <p:cBhvr>
                                        <p:cTn id="15" dur="1000"/>
                                        <p:tgtEl>
                                          <p:spTgt spid="1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70" grpId="1"/>
      <p:bldP build="whole" bldLvl="1" animBg="1" rev="0" advAuto="0" spid="173" grpId="2"/>
      <p:bldP build="whole" bldLvl="1" animBg="1" rev="0" advAuto="0" spid="174" grpId="3"/>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Source Transformation: Step 1"/>
          <p:cNvSpPr txBox="1"/>
          <p:nvPr>
            <p:ph type="title"/>
          </p:nvPr>
        </p:nvSpPr>
        <p:spPr>
          <a:prstGeom prst="rect">
            <a:avLst/>
          </a:prstGeom>
        </p:spPr>
        <p:txBody>
          <a:bodyPr/>
          <a:lstStyle>
            <a:lvl1pPr defTabSz="484886">
              <a:defRPr sz="6600"/>
            </a:lvl1pPr>
          </a:lstStyle>
          <a:p>
            <a:pPr/>
            <a:r>
              <a:t>Source Transformation: Step 1</a:t>
            </a:r>
          </a:p>
        </p:txBody>
      </p:sp>
      <p:sp>
        <p:nvSpPr>
          <p:cNvPr id="177" name="Find out the series resistance of the non-ideal source.…"/>
          <p:cNvSpPr txBox="1"/>
          <p:nvPr>
            <p:ph type="body" sz="half" idx="1"/>
          </p:nvPr>
        </p:nvSpPr>
        <p:spPr>
          <a:xfrm>
            <a:off x="952500" y="2590799"/>
            <a:ext cx="11099800" cy="2900446"/>
          </a:xfrm>
          <a:prstGeom prst="rect">
            <a:avLst/>
          </a:prstGeom>
        </p:spPr>
        <p:txBody>
          <a:bodyPr/>
          <a:lstStyle/>
          <a:p>
            <a:pPr marL="297815" indent="-297815" defTabSz="391413">
              <a:spcBef>
                <a:spcPts val="2800"/>
              </a:spcBef>
              <a:defRPr sz="2100"/>
            </a:pPr>
            <a:r>
              <a:t>Find out the series resistance of the non-ideal source. </a:t>
            </a:r>
          </a:p>
          <a:p>
            <a:pPr marL="297815" indent="-297815" defTabSz="391413">
              <a:spcBef>
                <a:spcPts val="2800"/>
              </a:spcBef>
              <a:defRPr sz="2100"/>
            </a:pPr>
            <a:r>
              <a:t>This is typically done by calculating voltage at open circuit condition first. </a:t>
            </a:r>
          </a:p>
          <a:p>
            <a:pPr marL="297815" indent="-297815" defTabSz="391413">
              <a:spcBef>
                <a:spcPts val="2800"/>
              </a:spcBef>
              <a:defRPr sz="2100"/>
            </a:pPr>
            <a:r>
              <a:t>Then moving on from open circuit to maximum current value where voltage across the terminals of the source becomes negligible. </a:t>
            </a:r>
          </a:p>
          <a:p>
            <a:pPr marL="297815" indent="-297815" defTabSz="391413">
              <a:spcBef>
                <a:spcPts val="2800"/>
              </a:spcBef>
              <a:defRPr sz="2100"/>
            </a:pPr>
            <a:r>
              <a:t>The slope of the </a:t>
            </a:r>
            <a:r>
              <a:rPr>
                <a:latin typeface="Times New Roman"/>
                <a:ea typeface="Times New Roman"/>
                <a:cs typeface="Times New Roman"/>
                <a:sym typeface="Times New Roman"/>
              </a:rPr>
              <a:t>V-I</a:t>
            </a:r>
            <a:r>
              <a:t> curve gives us the resistance value. </a:t>
            </a:r>
          </a:p>
        </p:txBody>
      </p:sp>
      <p:pic>
        <p:nvPicPr>
          <p:cNvPr id="178" name="Image" descr="Image"/>
          <p:cNvPicPr>
            <a:picLocks noChangeAspect="1"/>
          </p:cNvPicPr>
          <p:nvPr/>
        </p:nvPicPr>
        <p:blipFill>
          <a:blip r:embed="rId2">
            <a:extLst/>
          </a:blip>
          <a:stretch>
            <a:fillRect/>
          </a:stretch>
        </p:blipFill>
        <p:spPr>
          <a:xfrm>
            <a:off x="2920582" y="5453143"/>
            <a:ext cx="7163637" cy="4242154"/>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Source Transformation: Step 2"/>
          <p:cNvSpPr txBox="1"/>
          <p:nvPr>
            <p:ph type="title"/>
          </p:nvPr>
        </p:nvSpPr>
        <p:spPr>
          <a:prstGeom prst="rect">
            <a:avLst/>
          </a:prstGeom>
        </p:spPr>
        <p:txBody>
          <a:bodyPr/>
          <a:lstStyle>
            <a:lvl1pPr defTabSz="484886">
              <a:defRPr sz="6600"/>
            </a:lvl1pPr>
          </a:lstStyle>
          <a:p>
            <a:pPr/>
            <a:r>
              <a:t>Source Transformation: Step 2</a:t>
            </a:r>
          </a:p>
        </p:txBody>
      </p:sp>
      <p:sp>
        <p:nvSpPr>
          <p:cNvPr id="181" name="Compute the value of source current by dividing the labeled/open circuit voltage with this computed resistance.…"/>
          <p:cNvSpPr txBox="1"/>
          <p:nvPr>
            <p:ph type="body" sz="half" idx="1"/>
          </p:nvPr>
        </p:nvSpPr>
        <p:spPr>
          <a:xfrm>
            <a:off x="952500" y="2590799"/>
            <a:ext cx="11099800" cy="2879093"/>
          </a:xfrm>
          <a:prstGeom prst="rect">
            <a:avLst/>
          </a:prstGeom>
        </p:spPr>
        <p:txBody>
          <a:bodyPr/>
          <a:lstStyle/>
          <a:p>
            <a:pPr marL="413384" indent="-413384" defTabSz="543305">
              <a:lnSpc>
                <a:spcPct val="90000"/>
              </a:lnSpc>
              <a:spcBef>
                <a:spcPts val="3900"/>
              </a:spcBef>
              <a:defRPr sz="2900"/>
            </a:pPr>
            <a:r>
              <a:t>Compute the value of source current by dividing the labeled/open circuit voltage with this computed resistance. </a:t>
            </a:r>
          </a:p>
          <a:p>
            <a:pPr marL="413384" indent="-413384" defTabSz="543305">
              <a:lnSpc>
                <a:spcPct val="90000"/>
              </a:lnSpc>
              <a:spcBef>
                <a:spcPts val="3900"/>
              </a:spcBef>
              <a:defRPr sz="2900"/>
            </a:pPr>
            <a:r>
              <a:t>This becomes the new source current. </a:t>
            </a:r>
          </a:p>
          <a:p>
            <a:pPr marL="413384" indent="-413384" defTabSz="543305">
              <a:lnSpc>
                <a:spcPct val="90000"/>
              </a:lnSpc>
              <a:spcBef>
                <a:spcPts val="3900"/>
              </a:spcBef>
              <a:defRPr sz="2900"/>
            </a:pPr>
            <a:r>
              <a:t>Put the same resistance value in parallel with this source. </a:t>
            </a:r>
          </a:p>
        </p:txBody>
      </p:sp>
      <p:pic>
        <p:nvPicPr>
          <p:cNvPr id="182" name="Screen Shot 2019-05-05 at 11.27.54 PM.png" descr="Screen Shot 2019-05-05 at 11.27.54 PM.png"/>
          <p:cNvPicPr>
            <a:picLocks noChangeAspect="1"/>
          </p:cNvPicPr>
          <p:nvPr/>
        </p:nvPicPr>
        <p:blipFill>
          <a:blip r:embed="rId2">
            <a:extLst/>
          </a:blip>
          <a:stretch>
            <a:fillRect/>
          </a:stretch>
        </p:blipFill>
        <p:spPr>
          <a:xfrm>
            <a:off x="2547154" y="5647690"/>
            <a:ext cx="7357512" cy="4069687"/>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Source Transformation: In Class Exercise"/>
          <p:cNvSpPr txBox="1"/>
          <p:nvPr>
            <p:ph type="title"/>
          </p:nvPr>
        </p:nvSpPr>
        <p:spPr>
          <a:prstGeom prst="rect">
            <a:avLst/>
          </a:prstGeom>
        </p:spPr>
        <p:txBody>
          <a:bodyPr/>
          <a:lstStyle>
            <a:lvl1pPr defTabSz="484886">
              <a:defRPr sz="6600"/>
            </a:lvl1pPr>
          </a:lstStyle>
          <a:p>
            <a:pPr/>
            <a:r>
              <a:t>Source Transformation: In Class Exercise</a:t>
            </a:r>
          </a:p>
        </p:txBody>
      </p:sp>
      <p:sp>
        <p:nvSpPr>
          <p:cNvPr id="185" name="Take a Voltage source with 2k Ohm resistance connected to its terminals. We know it’s internal resistance is 6k Ohm…"/>
          <p:cNvSpPr txBox="1"/>
          <p:nvPr>
            <p:ph type="body" sz="half" idx="1"/>
          </p:nvPr>
        </p:nvSpPr>
        <p:spPr>
          <a:xfrm>
            <a:off x="952500" y="2590800"/>
            <a:ext cx="11099800" cy="2349702"/>
          </a:xfrm>
          <a:prstGeom prst="rect">
            <a:avLst/>
          </a:prstGeom>
        </p:spPr>
        <p:txBody>
          <a:bodyPr/>
          <a:lstStyle/>
          <a:p>
            <a:pPr marL="435609" indent="-435609" defTabSz="572516">
              <a:spcBef>
                <a:spcPts val="4100"/>
              </a:spcBef>
              <a:defRPr sz="3100"/>
            </a:pPr>
            <a:r>
              <a:t>Take a Voltage source with 2k Ohm resistance connected to its terminals. We know it’s internal resistance is 6k Ohm</a:t>
            </a:r>
          </a:p>
          <a:p>
            <a:pPr marL="435609" indent="-435609" defTabSz="572516">
              <a:spcBef>
                <a:spcPts val="4100"/>
              </a:spcBef>
              <a:defRPr sz="3100"/>
            </a:pPr>
            <a:r>
              <a:t>Convert it to a current source, and then compare V</a:t>
            </a:r>
            <a:r>
              <a:rPr baseline="-5998"/>
              <a:t>a</a:t>
            </a:r>
            <a:r>
              <a:t> and V</a:t>
            </a:r>
            <a:r>
              <a:rPr baseline="-5998"/>
              <a:t>b</a:t>
            </a:r>
          </a:p>
        </p:txBody>
      </p:sp>
      <p:pic>
        <p:nvPicPr>
          <p:cNvPr id="186" name="Screen Shot 2019-05-05 at 11.18.14 PM.png" descr="Screen Shot 2019-05-05 at 11.18.14 PM.png"/>
          <p:cNvPicPr>
            <a:picLocks noChangeAspect="1"/>
          </p:cNvPicPr>
          <p:nvPr/>
        </p:nvPicPr>
        <p:blipFill>
          <a:blip r:embed="rId2">
            <a:extLst/>
          </a:blip>
          <a:stretch>
            <a:fillRect/>
          </a:stretch>
        </p:blipFill>
        <p:spPr>
          <a:xfrm>
            <a:off x="929582" y="5556570"/>
            <a:ext cx="4847572" cy="2945032"/>
          </a:xfrm>
          <a:prstGeom prst="rect">
            <a:avLst/>
          </a:prstGeom>
          <a:ln w="12700">
            <a:miter lim="400000"/>
          </a:ln>
        </p:spPr>
      </p:pic>
      <p:pic>
        <p:nvPicPr>
          <p:cNvPr id="187" name="Screen Shot 2019-05-05 at 11.20.07 PM.png" descr="Screen Shot 2019-05-05 at 11.20.07 PM.png"/>
          <p:cNvPicPr>
            <a:picLocks noChangeAspect="1"/>
          </p:cNvPicPr>
          <p:nvPr/>
        </p:nvPicPr>
        <p:blipFill>
          <a:blip r:embed="rId3">
            <a:extLst/>
          </a:blip>
          <a:stretch>
            <a:fillRect/>
          </a:stretch>
        </p:blipFill>
        <p:spPr>
          <a:xfrm>
            <a:off x="6441332" y="5556184"/>
            <a:ext cx="5073325" cy="2945803"/>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Thévenin’s Theorem"/>
          <p:cNvSpPr txBox="1"/>
          <p:nvPr>
            <p:ph type="title"/>
          </p:nvPr>
        </p:nvSpPr>
        <p:spPr>
          <a:prstGeom prst="rect">
            <a:avLst/>
          </a:prstGeom>
        </p:spPr>
        <p:txBody>
          <a:bodyPr/>
          <a:lstStyle/>
          <a:p>
            <a:pPr/>
            <a:r>
              <a:t>Thévenin’s Theorem</a:t>
            </a:r>
          </a:p>
        </p:txBody>
      </p:sp>
      <p:sp>
        <p:nvSpPr>
          <p:cNvPr id="190" name="A linear two-terminal circuit can be replaced with an equivalent circuit of an ideal voltage source, VTh, in series with a resistor, RTh.…"/>
          <p:cNvSpPr txBox="1"/>
          <p:nvPr>
            <p:ph type="body" idx="1"/>
          </p:nvPr>
        </p:nvSpPr>
        <p:spPr>
          <a:xfrm>
            <a:off x="952500" y="1733550"/>
            <a:ext cx="11099800" cy="6286500"/>
          </a:xfrm>
          <a:prstGeom prst="rect">
            <a:avLst/>
          </a:prstGeom>
        </p:spPr>
        <p:txBody>
          <a:bodyPr/>
          <a:lstStyle/>
          <a:p>
            <a:pPr/>
            <a:r>
              <a:t>A linear two-terminal circuit can be replaced with an equivalent circuit of an ideal voltage source, V</a:t>
            </a:r>
            <a:r>
              <a:rPr baseline="-21436"/>
              <a:t>Th</a:t>
            </a:r>
            <a:r>
              <a:t>, in series with a resistor, R</a:t>
            </a:r>
            <a:r>
              <a:rPr baseline="-21436"/>
              <a:t>Th</a:t>
            </a:r>
            <a:r>
              <a:t>.</a:t>
            </a:r>
          </a:p>
          <a:p>
            <a:pPr lvl="1" marL="916780" indent="-472281">
              <a:spcBef>
                <a:spcPts val="0"/>
              </a:spcBef>
              <a:buClr>
                <a:srgbClr val="CEB966"/>
              </a:buClr>
              <a:defRPr sz="3400"/>
            </a:pPr>
            <a:r>
              <a:t>V</a:t>
            </a:r>
            <a:r>
              <a:rPr baseline="-19411"/>
              <a:t>Th</a:t>
            </a:r>
            <a:r>
              <a:t> is equal to the open-circuit voltage at the terminals.</a:t>
            </a:r>
          </a:p>
          <a:p>
            <a:pPr lvl="1" marL="916780" indent="-472281">
              <a:spcBef>
                <a:spcPts val="0"/>
              </a:spcBef>
              <a:buClr>
                <a:srgbClr val="CEB966"/>
              </a:buClr>
              <a:defRPr sz="3400"/>
            </a:pPr>
            <a:r>
              <a:t>R</a:t>
            </a:r>
            <a:r>
              <a:rPr baseline="-19411"/>
              <a:t>Th</a:t>
            </a:r>
            <a:r>
              <a:t> is the equivalent or input resistance when the independent sources  in the linear circuit are turned off.</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Circuit Schematic: Thévenin’s Theorem"/>
          <p:cNvSpPr txBox="1"/>
          <p:nvPr>
            <p:ph type="title"/>
          </p:nvPr>
        </p:nvSpPr>
        <p:spPr>
          <a:prstGeom prst="rect">
            <a:avLst/>
          </a:prstGeom>
        </p:spPr>
        <p:txBody>
          <a:bodyPr/>
          <a:lstStyle/>
          <a:p>
            <a:pPr>
              <a:defRPr sz="6400"/>
            </a:pPr>
            <a:r>
              <a:t>Circuit Schematic:</a:t>
            </a:r>
            <a:br/>
            <a:r>
              <a:t>Thévenin’s Theorem</a:t>
            </a:r>
          </a:p>
        </p:txBody>
      </p:sp>
      <p:pic>
        <p:nvPicPr>
          <p:cNvPr id="193" name="image.png" descr="image.png"/>
          <p:cNvPicPr>
            <a:picLocks noChangeAspect="1"/>
          </p:cNvPicPr>
          <p:nvPr/>
        </p:nvPicPr>
        <p:blipFill>
          <a:blip r:embed="rId2">
            <a:extLst/>
          </a:blip>
          <a:stretch>
            <a:fillRect/>
          </a:stretch>
        </p:blipFill>
        <p:spPr>
          <a:xfrm>
            <a:off x="2451946" y="2865118"/>
            <a:ext cx="7518401" cy="6014722"/>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Definitions for Thévenin’s Theorem"/>
          <p:cNvSpPr txBox="1"/>
          <p:nvPr>
            <p:ph type="title"/>
          </p:nvPr>
        </p:nvSpPr>
        <p:spPr>
          <a:prstGeom prst="rect">
            <a:avLst/>
          </a:prstGeom>
        </p:spPr>
        <p:txBody>
          <a:bodyPr/>
          <a:lstStyle>
            <a:lvl1pPr>
              <a:defRPr sz="6400"/>
            </a:lvl1pPr>
          </a:lstStyle>
          <a:p>
            <a:pPr/>
            <a:r>
              <a:t>Definitions for Thévenin’s Theorem</a:t>
            </a:r>
          </a:p>
        </p:txBody>
      </p:sp>
      <p:sp>
        <p:nvSpPr>
          <p:cNvPr id="196" name="Linear  circuit is a circuit where the voltage is directly proportional to the current (i.e., Ohm’s Law is followed).…"/>
          <p:cNvSpPr txBox="1"/>
          <p:nvPr>
            <p:ph type="body" sz="half" idx="1"/>
          </p:nvPr>
        </p:nvSpPr>
        <p:spPr>
          <a:xfrm>
            <a:off x="934795" y="1733550"/>
            <a:ext cx="5127927" cy="6286500"/>
          </a:xfrm>
          <a:prstGeom prst="rect">
            <a:avLst/>
          </a:prstGeom>
        </p:spPr>
        <p:txBody>
          <a:bodyPr/>
          <a:lstStyle/>
          <a:p>
            <a:pPr marL="0" indent="0" defTabSz="1300480">
              <a:spcBef>
                <a:spcPts val="0"/>
              </a:spcBef>
              <a:buSzTx/>
              <a:buNone/>
              <a:defRPr sz="2800">
                <a:latin typeface="Constantia"/>
                <a:ea typeface="Constantia"/>
                <a:cs typeface="Constantia"/>
                <a:sym typeface="Constantia"/>
              </a:defRPr>
            </a:pPr>
            <a:r>
              <a:t>Linear  circuit is a circuit where the voltage is directly proportional to the current (i.e., Ohm’s Law is followed).</a:t>
            </a:r>
          </a:p>
          <a:p>
            <a:pPr marL="0" indent="0" defTabSz="1300480">
              <a:spcBef>
                <a:spcPts val="0"/>
              </a:spcBef>
              <a:buSzTx/>
              <a:buNone/>
              <a:defRPr sz="2800">
                <a:latin typeface="Constantia"/>
                <a:ea typeface="Constantia"/>
                <a:cs typeface="Constantia"/>
                <a:sym typeface="Constantia"/>
              </a:defRPr>
            </a:pPr>
          </a:p>
          <a:p>
            <a:pPr marL="0" indent="0" defTabSz="1300480">
              <a:spcBef>
                <a:spcPts val="0"/>
              </a:spcBef>
              <a:buSzTx/>
              <a:buNone/>
              <a:defRPr sz="2800">
                <a:latin typeface="Constantia"/>
                <a:ea typeface="Constantia"/>
                <a:cs typeface="Constantia"/>
                <a:sym typeface="Constantia"/>
              </a:defRPr>
            </a:pPr>
            <a:r>
              <a:t>Two terminals are the 2 nodes/2 wires that can make a connection between the circuit to the load.</a:t>
            </a:r>
          </a:p>
        </p:txBody>
      </p:sp>
      <p:pic>
        <p:nvPicPr>
          <p:cNvPr id="197" name="image.png" descr="image.png"/>
          <p:cNvPicPr>
            <a:picLocks noChangeAspect="1"/>
          </p:cNvPicPr>
          <p:nvPr/>
        </p:nvPicPr>
        <p:blipFill>
          <a:blip r:embed="rId2">
            <a:extLst/>
          </a:blip>
          <a:stretch>
            <a:fillRect/>
          </a:stretch>
        </p:blipFill>
        <p:spPr>
          <a:xfrm>
            <a:off x="6784509" y="3332479"/>
            <a:ext cx="4673603" cy="3088643"/>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Definitions for Thévenin’s Theorem"/>
          <p:cNvSpPr txBox="1"/>
          <p:nvPr>
            <p:ph type="title"/>
          </p:nvPr>
        </p:nvSpPr>
        <p:spPr>
          <a:prstGeom prst="rect">
            <a:avLst/>
          </a:prstGeom>
        </p:spPr>
        <p:txBody>
          <a:bodyPr/>
          <a:lstStyle>
            <a:lvl1pPr>
              <a:defRPr sz="6400"/>
            </a:lvl1pPr>
          </a:lstStyle>
          <a:p>
            <a:pPr/>
            <a:r>
              <a:t>Definitions for Thévenin’s Theorem</a:t>
            </a:r>
          </a:p>
        </p:txBody>
      </p:sp>
      <p:pic>
        <p:nvPicPr>
          <p:cNvPr id="200" name="image.png" descr="image.png"/>
          <p:cNvPicPr>
            <a:picLocks noChangeAspect="1"/>
          </p:cNvPicPr>
          <p:nvPr/>
        </p:nvPicPr>
        <p:blipFill>
          <a:blip r:embed="rId2">
            <a:extLst/>
          </a:blip>
          <a:stretch>
            <a:fillRect/>
          </a:stretch>
        </p:blipFill>
        <p:spPr>
          <a:xfrm>
            <a:off x="2573865" y="2817705"/>
            <a:ext cx="6204377" cy="2384216"/>
          </a:xfrm>
          <a:prstGeom prst="rect">
            <a:avLst/>
          </a:prstGeom>
          <a:ln w="12700">
            <a:miter lim="400000"/>
          </a:ln>
        </p:spPr>
      </p:pic>
      <p:sp>
        <p:nvSpPr>
          <p:cNvPr id="201" name="Open-circuit voltage Voc is the voltage, V, when the load is an open circuit (i.e., RL = ∞Ω)."/>
          <p:cNvSpPr txBox="1"/>
          <p:nvPr/>
        </p:nvSpPr>
        <p:spPr>
          <a:xfrm>
            <a:off x="975358" y="5703146"/>
            <a:ext cx="11487577" cy="1166364"/>
          </a:xfrm>
          <a:prstGeom prst="rect">
            <a:avLst/>
          </a:prstGeom>
          <a:ln w="12700">
            <a:miter lim="400000"/>
          </a:ln>
          <a:extLst>
            <a:ext uri="{C572A759-6A51-4108-AA02-DFA0A04FC94B}">
              <ma14:wrappingTextBoxFlag xmlns:ma14="http://schemas.microsoft.com/office/mac/drawingml/2011/main" val="1"/>
            </a:ext>
          </a:extLst>
        </p:spPr>
        <p:txBody>
          <a:bodyPr lIns="65022" tIns="65022" rIns="65022" bIns="65022">
            <a:spAutoFit/>
          </a:bodyPr>
          <a:lstStyle/>
          <a:p>
            <a:pPr algn="l" defTabSz="1300480">
              <a:defRPr sz="2800">
                <a:latin typeface="Constantia"/>
                <a:ea typeface="Constantia"/>
                <a:cs typeface="Constantia"/>
                <a:sym typeface="Constantia"/>
              </a:defRPr>
            </a:pPr>
            <a:r>
              <a:t>Open-circuit voltage V</a:t>
            </a:r>
            <a:r>
              <a:rPr baseline="-19571"/>
              <a:t>oc</a:t>
            </a:r>
            <a:r>
              <a:t> is the voltage, V, when the load is an open circuit (i.e., R</a:t>
            </a:r>
            <a:r>
              <a:rPr baseline="-19571"/>
              <a:t>L </a:t>
            </a:r>
            <a:r>
              <a:t>= ∞</a:t>
            </a:r>
            <a:r>
              <a:rPr>
                <a:latin typeface="Symbol"/>
                <a:ea typeface="Symbol"/>
                <a:cs typeface="Symbol"/>
                <a:sym typeface="Symbol"/>
              </a:rPr>
              <a:t>W</a:t>
            </a:r>
            <a:r>
              <a:t>).</a:t>
            </a:r>
          </a:p>
        </p:txBody>
      </p:sp>
      <p:sp>
        <p:nvSpPr>
          <p:cNvPr id="202" name="+…"/>
          <p:cNvSpPr txBox="1"/>
          <p:nvPr/>
        </p:nvSpPr>
        <p:spPr>
          <a:xfrm>
            <a:off x="8236373" y="3467946"/>
            <a:ext cx="975362" cy="1392681"/>
          </a:xfrm>
          <a:prstGeom prst="rect">
            <a:avLst/>
          </a:prstGeom>
          <a:ln w="12700">
            <a:miter lim="400000"/>
          </a:ln>
          <a:extLst>
            <a:ext uri="{C572A759-6A51-4108-AA02-DFA0A04FC94B}">
              <ma14:wrappingTextBoxFlag xmlns:ma14="http://schemas.microsoft.com/office/mac/drawingml/2011/main" val="1"/>
            </a:ext>
          </a:extLst>
        </p:spPr>
        <p:txBody>
          <a:bodyPr lIns="65022" tIns="65022" rIns="65022" bIns="65022">
            <a:spAutoFit/>
          </a:bodyPr>
          <a:lstStyle/>
          <a:p>
            <a:pPr algn="l" defTabSz="1300480">
              <a:defRPr>
                <a:latin typeface="Constantia"/>
                <a:ea typeface="Constantia"/>
                <a:cs typeface="Constantia"/>
                <a:sym typeface="Constantia"/>
              </a:defRPr>
            </a:pPr>
            <a:r>
              <a:t>+</a:t>
            </a:r>
          </a:p>
          <a:p>
            <a:pPr algn="l" defTabSz="1300480">
              <a:defRPr>
                <a:latin typeface="Constantia"/>
                <a:ea typeface="Constantia"/>
                <a:cs typeface="Constantia"/>
                <a:sym typeface="Constantia"/>
              </a:defRPr>
            </a:pPr>
            <a:r>
              <a:t>V</a:t>
            </a:r>
            <a:r>
              <a:rPr baseline="-20250"/>
              <a:t>oc</a:t>
            </a:r>
          </a:p>
          <a:p>
            <a:pPr algn="l" defTabSz="1300480">
              <a:defRPr>
                <a:latin typeface="Constantia"/>
                <a:ea typeface="Constantia"/>
                <a:cs typeface="Constantia"/>
                <a:sym typeface="Constantia"/>
              </a:defRPr>
            </a:pPr>
            <a:r>
              <a:t>_</a:t>
            </a:r>
          </a:p>
        </p:txBody>
      </p:sp>
      <p:pic>
        <p:nvPicPr>
          <p:cNvPr id="203" name="image.pdf" descr="image.pdf"/>
          <p:cNvPicPr>
            <a:picLocks noChangeAspect="1"/>
          </p:cNvPicPr>
          <p:nvPr/>
        </p:nvPicPr>
        <p:blipFill>
          <a:blip r:embed="rId3">
            <a:extLst/>
          </a:blip>
          <a:stretch>
            <a:fillRect/>
          </a:stretch>
        </p:blipFill>
        <p:spPr>
          <a:xfrm>
            <a:off x="5201920" y="7261013"/>
            <a:ext cx="2214882" cy="930206"/>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Definitions for Thévenin’s Theorem"/>
          <p:cNvSpPr txBox="1"/>
          <p:nvPr>
            <p:ph type="title"/>
          </p:nvPr>
        </p:nvSpPr>
        <p:spPr>
          <a:prstGeom prst="rect">
            <a:avLst/>
          </a:prstGeom>
        </p:spPr>
        <p:txBody>
          <a:bodyPr/>
          <a:lstStyle>
            <a:lvl1pPr>
              <a:defRPr sz="6400"/>
            </a:lvl1pPr>
          </a:lstStyle>
          <a:p>
            <a:pPr/>
            <a:r>
              <a:t>Definitions for Thévenin’s Theorem</a:t>
            </a:r>
          </a:p>
        </p:txBody>
      </p:sp>
      <p:sp>
        <p:nvSpPr>
          <p:cNvPr id="206" name="Input resistance is the resistance seen by the load when VTh = 0V.…"/>
          <p:cNvSpPr txBox="1"/>
          <p:nvPr>
            <p:ph type="body" sz="half" idx="1"/>
          </p:nvPr>
        </p:nvSpPr>
        <p:spPr>
          <a:xfrm>
            <a:off x="952500" y="2590800"/>
            <a:ext cx="11099800" cy="4329854"/>
          </a:xfrm>
          <a:prstGeom prst="rect">
            <a:avLst/>
          </a:prstGeom>
        </p:spPr>
        <p:txBody>
          <a:bodyPr/>
          <a:lstStyle/>
          <a:p>
            <a:pPr marL="326098" indent="-326098" defTabSz="514094">
              <a:spcBef>
                <a:spcPts val="800"/>
              </a:spcBef>
              <a:defRPr sz="3300"/>
            </a:pPr>
            <a:r>
              <a:t>Input resistance is the resistance seen by the load when V</a:t>
            </a:r>
            <a:r>
              <a:rPr baseline="-21908"/>
              <a:t>Th</a:t>
            </a:r>
            <a:r>
              <a:t> = </a:t>
            </a:r>
            <a:r>
              <a:rPr>
                <a:latin typeface="Calibri"/>
                <a:ea typeface="Calibri"/>
                <a:cs typeface="Calibri"/>
                <a:sym typeface="Calibri"/>
              </a:rPr>
              <a:t>0</a:t>
            </a:r>
            <a:r>
              <a:t>V.  </a:t>
            </a:r>
          </a:p>
          <a:p>
            <a:pPr marL="326098" indent="-326098" defTabSz="514094">
              <a:spcBef>
                <a:spcPts val="3600"/>
              </a:spcBef>
              <a:defRPr sz="3300"/>
            </a:pPr>
          </a:p>
          <a:p>
            <a:pPr marL="326098" indent="-326098" defTabSz="514094">
              <a:spcBef>
                <a:spcPts val="3600"/>
              </a:spcBef>
              <a:defRPr sz="3300"/>
            </a:pPr>
          </a:p>
          <a:p>
            <a:pPr marL="326098" indent="-326098" defTabSz="514094">
              <a:spcBef>
                <a:spcPts val="800"/>
              </a:spcBef>
              <a:defRPr sz="3300"/>
            </a:pPr>
            <a:r>
              <a:t>It is also the resistance of the linear circuit when the load is a short circuit (R</a:t>
            </a:r>
            <a:r>
              <a:rPr baseline="-21908"/>
              <a:t>L</a:t>
            </a:r>
            <a:r>
              <a:t> = </a:t>
            </a:r>
            <a:r>
              <a:rPr>
                <a:latin typeface="Calibri"/>
                <a:ea typeface="Calibri"/>
                <a:cs typeface="Calibri"/>
                <a:sym typeface="Calibri"/>
              </a:rPr>
              <a:t>0</a:t>
            </a:r>
            <a:r>
              <a:rPr>
                <a:latin typeface="Symbol"/>
                <a:ea typeface="Symbol"/>
                <a:cs typeface="Symbol"/>
                <a:sym typeface="Symbol"/>
              </a:rPr>
              <a:t>W</a:t>
            </a:r>
            <a:r>
              <a:t>).</a:t>
            </a:r>
          </a:p>
        </p:txBody>
      </p:sp>
      <p:pic>
        <p:nvPicPr>
          <p:cNvPr id="207" name="image.png" descr="image.png"/>
          <p:cNvPicPr>
            <a:picLocks noChangeAspect="1"/>
          </p:cNvPicPr>
          <p:nvPr/>
        </p:nvPicPr>
        <p:blipFill>
          <a:blip r:embed="rId2">
            <a:extLst/>
          </a:blip>
          <a:stretch>
            <a:fillRect/>
          </a:stretch>
        </p:blipFill>
        <p:spPr>
          <a:xfrm>
            <a:off x="4876800" y="3359572"/>
            <a:ext cx="5960534" cy="2199077"/>
          </a:xfrm>
          <a:prstGeom prst="rect">
            <a:avLst/>
          </a:prstGeom>
          <a:ln w="12700">
            <a:miter lim="400000"/>
          </a:ln>
        </p:spPr>
      </p:pic>
      <p:pic>
        <p:nvPicPr>
          <p:cNvPr id="208" name="image.pdf" descr="image.pdf"/>
          <p:cNvPicPr>
            <a:picLocks noChangeAspect="1"/>
          </p:cNvPicPr>
          <p:nvPr/>
        </p:nvPicPr>
        <p:blipFill>
          <a:blip r:embed="rId3">
            <a:extLst/>
          </a:blip>
          <a:stretch>
            <a:fillRect/>
          </a:stretch>
        </p:blipFill>
        <p:spPr>
          <a:xfrm>
            <a:off x="8105422" y="7775785"/>
            <a:ext cx="4382349" cy="930207"/>
          </a:xfrm>
          <a:prstGeom prst="rect">
            <a:avLst/>
          </a:prstGeom>
          <a:ln w="12700">
            <a:miter lim="400000"/>
          </a:ln>
        </p:spPr>
      </p:pic>
      <p:pic>
        <p:nvPicPr>
          <p:cNvPr id="209" name="image.png" descr="image.png"/>
          <p:cNvPicPr>
            <a:picLocks noChangeAspect="1"/>
          </p:cNvPicPr>
          <p:nvPr/>
        </p:nvPicPr>
        <p:blipFill>
          <a:blip r:embed="rId4">
            <a:extLst/>
          </a:blip>
          <a:stretch>
            <a:fillRect/>
          </a:stretch>
        </p:blipFill>
        <p:spPr>
          <a:xfrm>
            <a:off x="1192106" y="7098452"/>
            <a:ext cx="6136641" cy="2330029"/>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Steps to Determine VTh and RTh"/>
          <p:cNvSpPr txBox="1"/>
          <p:nvPr>
            <p:ph type="title"/>
          </p:nvPr>
        </p:nvSpPr>
        <p:spPr>
          <a:prstGeom prst="rect">
            <a:avLst/>
          </a:prstGeom>
        </p:spPr>
        <p:txBody>
          <a:bodyPr/>
          <a:lstStyle/>
          <a:p>
            <a:pPr defTabSz="438150">
              <a:defRPr sz="6000"/>
            </a:pPr>
            <a:r>
              <a:t>Steps to Determine V</a:t>
            </a:r>
            <a:r>
              <a:rPr baseline="-21832"/>
              <a:t>Th</a:t>
            </a:r>
            <a:r>
              <a:t> and R</a:t>
            </a:r>
            <a:r>
              <a:rPr baseline="-21832"/>
              <a:t>Th</a:t>
            </a:r>
          </a:p>
        </p:txBody>
      </p:sp>
      <p:sp>
        <p:nvSpPr>
          <p:cNvPr id="212" name="Identify the load, which may be a resistor or a part of the circuit.…"/>
          <p:cNvSpPr txBox="1"/>
          <p:nvPr>
            <p:ph type="body" idx="1"/>
          </p:nvPr>
        </p:nvSpPr>
        <p:spPr>
          <a:prstGeom prst="rect">
            <a:avLst/>
          </a:prstGeom>
        </p:spPr>
        <p:txBody>
          <a:bodyPr/>
          <a:lstStyle/>
          <a:p>
            <a:pPr marL="493774" indent="-493774" defTabSz="455674">
              <a:lnSpc>
                <a:spcPct val="90000"/>
              </a:lnSpc>
              <a:spcBef>
                <a:spcPts val="3200"/>
              </a:spcBef>
              <a:buAutoNum type="arabicPeriod" startAt="1"/>
              <a:defRPr sz="3000"/>
            </a:pPr>
            <a:r>
              <a:t>Identify the load, which may be a resistor or a part of the circuit.</a:t>
            </a:r>
          </a:p>
          <a:p>
            <a:pPr marL="493774" indent="-493774" defTabSz="455674">
              <a:lnSpc>
                <a:spcPct val="90000"/>
              </a:lnSpc>
              <a:spcBef>
                <a:spcPts val="3200"/>
              </a:spcBef>
              <a:buAutoNum type="arabicPeriod" startAt="1"/>
              <a:defRPr sz="3000"/>
            </a:pPr>
            <a:r>
              <a:t>Replace the load with an open circuit .</a:t>
            </a:r>
          </a:p>
          <a:p>
            <a:pPr marL="493774" indent="-493774" defTabSz="455674">
              <a:lnSpc>
                <a:spcPct val="90000"/>
              </a:lnSpc>
              <a:spcBef>
                <a:spcPts val="3200"/>
              </a:spcBef>
              <a:buAutoNum type="arabicPeriod" startAt="1"/>
              <a:defRPr sz="3000"/>
            </a:pPr>
            <a:r>
              <a:t>Calculate V</a:t>
            </a:r>
            <a:r>
              <a:rPr baseline="-22238"/>
              <a:t>OC</a:t>
            </a:r>
            <a:r>
              <a:t>.  This is V</a:t>
            </a:r>
            <a:r>
              <a:rPr baseline="-22238"/>
              <a:t>Th</a:t>
            </a:r>
            <a:r>
              <a:t>.</a:t>
            </a:r>
          </a:p>
          <a:p>
            <a:pPr marL="493774" indent="-493774" defTabSz="455674">
              <a:lnSpc>
                <a:spcPct val="90000"/>
              </a:lnSpc>
              <a:spcBef>
                <a:spcPts val="3200"/>
              </a:spcBef>
              <a:buAutoNum type="arabicPeriod" startAt="1"/>
              <a:defRPr sz="3000"/>
            </a:pPr>
            <a:r>
              <a:t>Turn off all independent voltage and currents sources in the linear 2-terminal circuit.</a:t>
            </a:r>
          </a:p>
          <a:p>
            <a:pPr marL="493774" indent="-493774" defTabSz="455674">
              <a:lnSpc>
                <a:spcPct val="90000"/>
              </a:lnSpc>
              <a:spcBef>
                <a:spcPts val="3200"/>
              </a:spcBef>
              <a:buAutoNum type="arabicPeriod" startAt="1"/>
              <a:defRPr sz="3000"/>
            </a:pPr>
            <a:r>
              <a:t>Calculate the equivalent resistance of the circuit.  This is R</a:t>
            </a:r>
            <a:r>
              <a:rPr baseline="-22238"/>
              <a:t>Th</a:t>
            </a:r>
            <a:r>
              <a:t>.</a:t>
            </a:r>
          </a:p>
          <a:p>
            <a:pPr lvl="1" marL="853154" indent="-568356" defTabSz="455674">
              <a:lnSpc>
                <a:spcPct val="90000"/>
              </a:lnSpc>
              <a:spcBef>
                <a:spcPts val="0"/>
              </a:spcBef>
              <a:buClr>
                <a:srgbClr val="CEB966"/>
              </a:buClr>
              <a:defRPr sz="2600"/>
            </a:pPr>
            <a:r>
              <a:t>The current through and voltage across the load in series with V</a:t>
            </a:r>
            <a:r>
              <a:rPr baseline="-23194"/>
              <a:t>Th</a:t>
            </a:r>
            <a:r>
              <a:t> and R</a:t>
            </a:r>
            <a:r>
              <a:rPr baseline="-23194"/>
              <a:t>Th</a:t>
            </a:r>
            <a:r>
              <a:t> is the load’s actual current and voltage in the original circuit.</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4" name="Norton’s Theorem"/>
          <p:cNvSpPr txBox="1"/>
          <p:nvPr>
            <p:ph type="title"/>
          </p:nvPr>
        </p:nvSpPr>
        <p:spPr>
          <a:prstGeom prst="rect">
            <a:avLst/>
          </a:prstGeom>
        </p:spPr>
        <p:txBody>
          <a:bodyPr/>
          <a:lstStyle/>
          <a:p>
            <a:pPr/>
            <a:r>
              <a:t>Norton’s Theorem</a:t>
            </a:r>
          </a:p>
        </p:txBody>
      </p:sp>
      <p:sp>
        <p:nvSpPr>
          <p:cNvPr id="215" name="A linear two-terminal circuit can be replaced with an equivalent circuit of an ideal current source, IN, in parallel with a resistor, RN.…"/>
          <p:cNvSpPr txBox="1"/>
          <p:nvPr>
            <p:ph type="body" idx="1"/>
          </p:nvPr>
        </p:nvSpPr>
        <p:spPr>
          <a:prstGeom prst="rect">
            <a:avLst/>
          </a:prstGeom>
        </p:spPr>
        <p:txBody>
          <a:bodyPr/>
          <a:lstStyle/>
          <a:p>
            <a:pPr/>
            <a:r>
              <a:t>A linear two-terminal circuit can be replaced with an equivalent circuit of an ideal current source, I</a:t>
            </a:r>
            <a:r>
              <a:rPr baseline="-21436"/>
              <a:t>N</a:t>
            </a:r>
            <a:r>
              <a:t>, in parallel with a resistor, R</a:t>
            </a:r>
            <a:r>
              <a:rPr baseline="-21436"/>
              <a:t>N</a:t>
            </a:r>
            <a:r>
              <a:t>.</a:t>
            </a:r>
          </a:p>
          <a:p>
            <a:pPr lvl="1" marL="916780" indent="-472281">
              <a:spcBef>
                <a:spcPts val="0"/>
              </a:spcBef>
              <a:buClr>
                <a:srgbClr val="CEB966"/>
              </a:buClr>
              <a:defRPr sz="3400"/>
            </a:pPr>
            <a:r>
              <a:t>I</a:t>
            </a:r>
            <a:r>
              <a:rPr baseline="-19411"/>
              <a:t>N</a:t>
            </a:r>
            <a:r>
              <a:t> is equal to the short-circuit current at the terminals.</a:t>
            </a:r>
          </a:p>
          <a:p>
            <a:pPr lvl="1" marL="916780" indent="-472281">
              <a:spcBef>
                <a:spcPts val="0"/>
              </a:spcBef>
              <a:buClr>
                <a:srgbClr val="CEB966"/>
              </a:buClr>
              <a:defRPr sz="3400"/>
            </a:pPr>
            <a:r>
              <a:t>R</a:t>
            </a:r>
            <a:r>
              <a:rPr baseline="-19411"/>
              <a:t>N</a:t>
            </a:r>
            <a:r>
              <a:t> is the equivalent or input resistance when the independent sources  in the linear circuit are turned off.</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7" name="Circuit Schematic: Norton’s Theorem"/>
          <p:cNvSpPr txBox="1"/>
          <p:nvPr>
            <p:ph type="title"/>
          </p:nvPr>
        </p:nvSpPr>
        <p:spPr>
          <a:prstGeom prst="rect">
            <a:avLst/>
          </a:prstGeom>
        </p:spPr>
        <p:txBody>
          <a:bodyPr/>
          <a:lstStyle/>
          <a:p>
            <a:pPr>
              <a:defRPr sz="6400"/>
            </a:pPr>
            <a:r>
              <a:t>Circuit Schematic:</a:t>
            </a:r>
            <a:br/>
            <a:r>
              <a:t>Norton’s Theorem</a:t>
            </a:r>
          </a:p>
        </p:txBody>
      </p:sp>
      <p:pic>
        <p:nvPicPr>
          <p:cNvPr id="218" name="image.png" descr="image.png"/>
          <p:cNvPicPr>
            <a:picLocks noChangeAspect="1"/>
          </p:cNvPicPr>
          <p:nvPr/>
        </p:nvPicPr>
        <p:blipFill>
          <a:blip r:embed="rId2">
            <a:extLst/>
          </a:blip>
          <a:stretch>
            <a:fillRect/>
          </a:stretch>
        </p:blipFill>
        <p:spPr>
          <a:xfrm>
            <a:off x="2614505" y="2914791"/>
            <a:ext cx="7775790" cy="5919895"/>
          </a:xfrm>
          <a:prstGeom prst="rect">
            <a:avLst/>
          </a:prstGeom>
          <a:ln w="12700">
            <a:miter lim="400000"/>
          </a:ln>
        </p:spPr>
      </p:pic>
      <p:sp>
        <p:nvSpPr>
          <p:cNvPr id="219" name="Short-circuit current Isc is the current, i, when the load is a short circuit (i.e., RL = 0Ω)."/>
          <p:cNvSpPr txBox="1"/>
          <p:nvPr/>
        </p:nvSpPr>
        <p:spPr>
          <a:xfrm>
            <a:off x="975358" y="5703146"/>
            <a:ext cx="11487577" cy="1166364"/>
          </a:xfrm>
          <a:prstGeom prst="rect">
            <a:avLst/>
          </a:prstGeom>
          <a:ln w="12700">
            <a:miter lim="400000"/>
          </a:ln>
          <a:extLst>
            <a:ext uri="{C572A759-6A51-4108-AA02-DFA0A04FC94B}">
              <ma14:wrappingTextBoxFlag xmlns:ma14="http://schemas.microsoft.com/office/mac/drawingml/2011/main" val="1"/>
            </a:ext>
          </a:extLst>
        </p:spPr>
        <p:txBody>
          <a:bodyPr lIns="65022" tIns="65022" rIns="65022" bIns="65022">
            <a:spAutoFit/>
          </a:bodyPr>
          <a:lstStyle/>
          <a:p>
            <a:pPr algn="l" defTabSz="1300480">
              <a:defRPr sz="2800">
                <a:latin typeface="Constantia"/>
                <a:ea typeface="Constantia"/>
                <a:cs typeface="Constantia"/>
                <a:sym typeface="Constantia"/>
              </a:defRPr>
            </a:pPr>
            <a:r>
              <a:t>Short-circuit current I</a:t>
            </a:r>
            <a:r>
              <a:rPr baseline="-19571"/>
              <a:t>sc</a:t>
            </a:r>
            <a:r>
              <a:t> is the current, </a:t>
            </a:r>
            <a:r>
              <a:rPr i="1"/>
              <a:t>i</a:t>
            </a:r>
            <a:r>
              <a:t>, when the load is a short circuit (i.e., R</a:t>
            </a:r>
            <a:r>
              <a:rPr baseline="-19571"/>
              <a:t>L </a:t>
            </a:r>
            <a:r>
              <a:t>= 0</a:t>
            </a:r>
            <a:r>
              <a:rPr>
                <a:latin typeface="Symbol"/>
                <a:ea typeface="Symbol"/>
                <a:cs typeface="Symbol"/>
                <a:sym typeface="Symbol"/>
              </a:rPr>
              <a:t>W</a:t>
            </a:r>
            <a:r>
              <a:t>).</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1" name="Definitions for Norton’s Theorem"/>
          <p:cNvSpPr txBox="1"/>
          <p:nvPr>
            <p:ph type="title"/>
          </p:nvPr>
        </p:nvSpPr>
        <p:spPr>
          <a:prstGeom prst="rect">
            <a:avLst/>
          </a:prstGeom>
        </p:spPr>
        <p:txBody>
          <a:bodyPr/>
          <a:lstStyle>
            <a:lvl1pPr>
              <a:defRPr sz="6400"/>
            </a:lvl1pPr>
          </a:lstStyle>
          <a:p>
            <a:pPr/>
            <a:r>
              <a:t>Definitions for Norton’s Theorem</a:t>
            </a:r>
          </a:p>
        </p:txBody>
      </p:sp>
      <p:sp>
        <p:nvSpPr>
          <p:cNvPr id="222" name="Input resistance is the resistance seen by the load when IN = 0A.…"/>
          <p:cNvSpPr txBox="1"/>
          <p:nvPr>
            <p:ph type="body" sz="half" idx="1"/>
          </p:nvPr>
        </p:nvSpPr>
        <p:spPr>
          <a:xfrm>
            <a:off x="952500" y="2590800"/>
            <a:ext cx="11099800" cy="4275667"/>
          </a:xfrm>
          <a:prstGeom prst="rect">
            <a:avLst/>
          </a:prstGeom>
        </p:spPr>
        <p:txBody>
          <a:bodyPr/>
          <a:lstStyle/>
          <a:p>
            <a:pPr marL="322394" indent="-322394" defTabSz="508254">
              <a:spcBef>
                <a:spcPts val="800"/>
              </a:spcBef>
              <a:defRPr sz="3300"/>
            </a:pPr>
            <a:r>
              <a:t>Input resistance is the resistance seen by the load when I</a:t>
            </a:r>
            <a:r>
              <a:rPr baseline="-22090"/>
              <a:t>N</a:t>
            </a:r>
            <a:r>
              <a:t> = </a:t>
            </a:r>
            <a:r>
              <a:rPr>
                <a:latin typeface="Calibri"/>
                <a:ea typeface="Calibri"/>
                <a:cs typeface="Calibri"/>
                <a:sym typeface="Calibri"/>
              </a:rPr>
              <a:t>0</a:t>
            </a:r>
            <a:r>
              <a:t>A.  </a:t>
            </a:r>
          </a:p>
          <a:p>
            <a:pPr marL="322394" indent="-322394" defTabSz="508254">
              <a:spcBef>
                <a:spcPts val="3600"/>
              </a:spcBef>
              <a:defRPr sz="3300"/>
            </a:pPr>
          </a:p>
          <a:p>
            <a:pPr marL="322394" indent="-322394" defTabSz="508254">
              <a:spcBef>
                <a:spcPts val="3600"/>
              </a:spcBef>
              <a:defRPr sz="3300"/>
            </a:pPr>
          </a:p>
          <a:p>
            <a:pPr marL="322394" indent="-322394" defTabSz="508254">
              <a:spcBef>
                <a:spcPts val="800"/>
              </a:spcBef>
              <a:defRPr sz="3300"/>
            </a:pPr>
            <a:r>
              <a:t>It is also the resistance of the linear circuit when the load is an open circuit (R</a:t>
            </a:r>
            <a:r>
              <a:rPr baseline="-22090"/>
              <a:t>L</a:t>
            </a:r>
            <a:r>
              <a:t> = </a:t>
            </a:r>
            <a:r>
              <a:rPr>
                <a:latin typeface="Calibri"/>
                <a:ea typeface="Calibri"/>
                <a:cs typeface="Calibri"/>
                <a:sym typeface="Calibri"/>
              </a:rPr>
              <a:t>∞</a:t>
            </a:r>
            <a:r>
              <a:rPr>
                <a:latin typeface="Symbol"/>
                <a:ea typeface="Symbol"/>
                <a:cs typeface="Symbol"/>
                <a:sym typeface="Symbol"/>
              </a:rPr>
              <a:t>W</a:t>
            </a:r>
            <a:r>
              <a:t>).</a:t>
            </a:r>
          </a:p>
        </p:txBody>
      </p:sp>
      <p:pic>
        <p:nvPicPr>
          <p:cNvPr id="223" name="image.pdf" descr="image.pdf"/>
          <p:cNvPicPr>
            <a:picLocks noChangeAspect="1"/>
          </p:cNvPicPr>
          <p:nvPr/>
        </p:nvPicPr>
        <p:blipFill>
          <a:blip r:embed="rId2">
            <a:extLst/>
          </a:blip>
          <a:stretch>
            <a:fillRect/>
          </a:stretch>
        </p:blipFill>
        <p:spPr>
          <a:xfrm>
            <a:off x="8080585" y="7775785"/>
            <a:ext cx="4432020" cy="930207"/>
          </a:xfrm>
          <a:prstGeom prst="rect">
            <a:avLst/>
          </a:prstGeom>
          <a:ln w="12700">
            <a:miter lim="400000"/>
          </a:ln>
        </p:spPr>
      </p:pic>
      <p:pic>
        <p:nvPicPr>
          <p:cNvPr id="224" name="image.png" descr="image.png"/>
          <p:cNvPicPr>
            <a:picLocks noChangeAspect="1"/>
          </p:cNvPicPr>
          <p:nvPr/>
        </p:nvPicPr>
        <p:blipFill>
          <a:blip r:embed="rId3">
            <a:extLst/>
          </a:blip>
          <a:stretch>
            <a:fillRect/>
          </a:stretch>
        </p:blipFill>
        <p:spPr>
          <a:xfrm>
            <a:off x="4876800" y="3556000"/>
            <a:ext cx="5940215" cy="2079414"/>
          </a:xfrm>
          <a:prstGeom prst="rect">
            <a:avLst/>
          </a:prstGeom>
          <a:ln w="12700">
            <a:miter lim="400000"/>
          </a:ln>
        </p:spPr>
      </p:pic>
      <p:pic>
        <p:nvPicPr>
          <p:cNvPr id="225" name="image.png" descr="image.png"/>
          <p:cNvPicPr>
            <a:picLocks noChangeAspect="1"/>
          </p:cNvPicPr>
          <p:nvPr/>
        </p:nvPicPr>
        <p:blipFill>
          <a:blip r:embed="rId4">
            <a:extLst/>
          </a:blip>
          <a:stretch>
            <a:fillRect/>
          </a:stretch>
        </p:blipFill>
        <p:spPr>
          <a:xfrm>
            <a:off x="758612" y="7044266"/>
            <a:ext cx="6407576" cy="2384216"/>
          </a:xfrm>
          <a:prstGeom prst="rect">
            <a:avLst/>
          </a:prstGeom>
          <a:ln w="12700">
            <a:miter lim="400000"/>
          </a:ln>
        </p:spPr>
      </p:pic>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7" name="Steps to Determine IN and RN"/>
          <p:cNvSpPr txBox="1"/>
          <p:nvPr>
            <p:ph type="title"/>
          </p:nvPr>
        </p:nvSpPr>
        <p:spPr>
          <a:prstGeom prst="rect">
            <a:avLst/>
          </a:prstGeom>
        </p:spPr>
        <p:txBody>
          <a:bodyPr/>
          <a:lstStyle/>
          <a:p>
            <a:pPr defTabSz="467359">
              <a:defRPr sz="6400"/>
            </a:pPr>
            <a:r>
              <a:t>Steps to Determine I</a:t>
            </a:r>
            <a:r>
              <a:rPr baseline="-20843"/>
              <a:t>N</a:t>
            </a:r>
            <a:r>
              <a:t> and R</a:t>
            </a:r>
            <a:r>
              <a:rPr baseline="-20843"/>
              <a:t>N</a:t>
            </a:r>
          </a:p>
        </p:txBody>
      </p:sp>
      <p:sp>
        <p:nvSpPr>
          <p:cNvPr id="228" name="Identify the load, which may be a resistor or a part of the circuit.…"/>
          <p:cNvSpPr txBox="1"/>
          <p:nvPr>
            <p:ph type="body" idx="1"/>
          </p:nvPr>
        </p:nvSpPr>
        <p:spPr>
          <a:prstGeom prst="rect">
            <a:avLst/>
          </a:prstGeom>
        </p:spPr>
        <p:txBody>
          <a:bodyPr/>
          <a:lstStyle/>
          <a:p>
            <a:pPr marL="569740" indent="-569740" defTabSz="525779">
              <a:lnSpc>
                <a:spcPct val="90000"/>
              </a:lnSpc>
              <a:spcBef>
                <a:spcPts val="3700"/>
              </a:spcBef>
              <a:buAutoNum type="arabicPeriod" startAt="1"/>
              <a:defRPr sz="2800"/>
            </a:pPr>
            <a:r>
              <a:t>Identify the load, which may be a resistor or a part of the circuit.</a:t>
            </a:r>
          </a:p>
          <a:p>
            <a:pPr marL="569740" indent="-569740" defTabSz="525779">
              <a:lnSpc>
                <a:spcPct val="90000"/>
              </a:lnSpc>
              <a:spcBef>
                <a:spcPts val="3700"/>
              </a:spcBef>
              <a:buAutoNum type="arabicPeriod" startAt="1"/>
              <a:defRPr sz="2800"/>
            </a:pPr>
            <a:r>
              <a:t>Replace the load with an open circuit .</a:t>
            </a:r>
          </a:p>
          <a:p>
            <a:pPr marL="569740" indent="-569740" defTabSz="525779">
              <a:lnSpc>
                <a:spcPct val="90000"/>
              </a:lnSpc>
              <a:spcBef>
                <a:spcPts val="3700"/>
              </a:spcBef>
              <a:buAutoNum type="arabicPeriod" startAt="1"/>
              <a:defRPr sz="2800"/>
            </a:pPr>
            <a:r>
              <a:t>Calculate I</a:t>
            </a:r>
            <a:r>
              <a:rPr baseline="-23151"/>
              <a:t>SC</a:t>
            </a:r>
            <a:r>
              <a:t>.  This is I</a:t>
            </a:r>
            <a:r>
              <a:rPr baseline="-23151"/>
              <a:t>N</a:t>
            </a:r>
            <a:r>
              <a:t>.</a:t>
            </a:r>
          </a:p>
          <a:p>
            <a:pPr marL="569740" indent="-569740" defTabSz="525779">
              <a:lnSpc>
                <a:spcPct val="90000"/>
              </a:lnSpc>
              <a:spcBef>
                <a:spcPts val="3700"/>
              </a:spcBef>
              <a:buAutoNum type="arabicPeriod" startAt="1"/>
              <a:defRPr sz="2800"/>
            </a:pPr>
            <a:r>
              <a:t>Turn off all independent voltage and currents sources in the linear 2-terminal circuit.</a:t>
            </a:r>
          </a:p>
          <a:p>
            <a:pPr marL="569740" indent="-569740" defTabSz="525779">
              <a:lnSpc>
                <a:spcPct val="90000"/>
              </a:lnSpc>
              <a:spcBef>
                <a:spcPts val="3700"/>
              </a:spcBef>
              <a:buAutoNum type="arabicPeriod" startAt="1"/>
              <a:defRPr sz="2800"/>
            </a:pPr>
            <a:r>
              <a:t>Calculate the equivalent resistance of the circuit.  This is R</a:t>
            </a:r>
            <a:r>
              <a:rPr baseline="-23151"/>
              <a:t>N</a:t>
            </a:r>
            <a:r>
              <a:t>.</a:t>
            </a:r>
          </a:p>
          <a:p>
            <a:pPr lvl="1" marL="984408" indent="-655796" defTabSz="525779">
              <a:lnSpc>
                <a:spcPct val="90000"/>
              </a:lnSpc>
              <a:spcBef>
                <a:spcPts val="0"/>
              </a:spcBef>
              <a:buClr>
                <a:srgbClr val="CEB966"/>
              </a:buClr>
              <a:defRPr sz="3000"/>
            </a:pPr>
            <a:r>
              <a:t>The current through and voltage across the load in parallel with I</a:t>
            </a:r>
            <a:r>
              <a:rPr baseline="-20901"/>
              <a:t>N</a:t>
            </a:r>
            <a:r>
              <a:t> and R</a:t>
            </a:r>
            <a:r>
              <a:rPr baseline="-20901"/>
              <a:t>N</a:t>
            </a:r>
            <a:r>
              <a:t> is the load’s actual current and voltage in the original circuit.</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0" name="Source Conversion"/>
          <p:cNvSpPr txBox="1"/>
          <p:nvPr>
            <p:ph type="title"/>
          </p:nvPr>
        </p:nvSpPr>
        <p:spPr>
          <a:prstGeom prst="rect">
            <a:avLst/>
          </a:prstGeom>
        </p:spPr>
        <p:txBody>
          <a:bodyPr/>
          <a:lstStyle/>
          <a:p>
            <a:pPr/>
            <a:r>
              <a:t>Source Conversion</a:t>
            </a:r>
          </a:p>
        </p:txBody>
      </p:sp>
      <p:pic>
        <p:nvPicPr>
          <p:cNvPr id="231" name="image.png" descr="image.png"/>
          <p:cNvPicPr>
            <a:picLocks noChangeAspect="1"/>
          </p:cNvPicPr>
          <p:nvPr/>
        </p:nvPicPr>
        <p:blipFill>
          <a:blip r:embed="rId2">
            <a:extLst/>
          </a:blip>
          <a:stretch>
            <a:fillRect/>
          </a:stretch>
        </p:blipFill>
        <p:spPr>
          <a:xfrm>
            <a:off x="650238" y="4568697"/>
            <a:ext cx="11697550" cy="2560322"/>
          </a:xfrm>
          <a:prstGeom prst="rect">
            <a:avLst/>
          </a:prstGeom>
          <a:ln w="12700">
            <a:miter lim="400000"/>
          </a:ln>
        </p:spPr>
      </p:pic>
      <p:sp>
        <p:nvSpPr>
          <p:cNvPr id="232" name="A Thévenin equivalent circuit can easily be transformed to a Norton equivalent circuit (or visa versa).…"/>
          <p:cNvSpPr txBox="1"/>
          <p:nvPr/>
        </p:nvSpPr>
        <p:spPr>
          <a:xfrm>
            <a:off x="131230" y="2624582"/>
            <a:ext cx="12742339" cy="193750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marL="378069" indent="-378069" algn="l" defTabSz="1300480">
              <a:spcBef>
                <a:spcPts val="800"/>
              </a:spcBef>
              <a:buClr>
                <a:srgbClr val="6BB1C9"/>
              </a:buClr>
              <a:buSzPct val="95000"/>
              <a:buChar char="●"/>
              <a:defRPr sz="3600">
                <a:latin typeface="Constantia"/>
                <a:ea typeface="Constantia"/>
                <a:cs typeface="Constantia"/>
                <a:sym typeface="Constantia"/>
              </a:defRPr>
            </a:pPr>
            <a:r>
              <a:t>A Thévenin equivalent circuit can easily be transformed to a Norton equivalent circuit (or visa versa).</a:t>
            </a:r>
          </a:p>
          <a:p>
            <a:pPr lvl="1" marL="742287" indent="-348588" algn="l" defTabSz="1300480">
              <a:buClr>
                <a:srgbClr val="CEB966"/>
              </a:buClr>
              <a:buSzPct val="85000"/>
              <a:buChar char="●"/>
              <a:defRPr sz="3400">
                <a:latin typeface="Constantia"/>
                <a:ea typeface="Constantia"/>
                <a:cs typeface="Constantia"/>
                <a:sym typeface="Constantia"/>
              </a:defRPr>
            </a:pPr>
            <a:r>
              <a:t>If R</a:t>
            </a:r>
            <a:r>
              <a:rPr baseline="-19411"/>
              <a:t>Th </a:t>
            </a:r>
            <a:r>
              <a:t>= R</a:t>
            </a:r>
            <a:r>
              <a:rPr baseline="-19411"/>
              <a:t>N</a:t>
            </a:r>
            <a:r>
              <a:t>, then V</a:t>
            </a:r>
            <a:r>
              <a:rPr baseline="-19411"/>
              <a:t>Th</a:t>
            </a:r>
            <a:r>
              <a:t> = R</a:t>
            </a:r>
            <a:r>
              <a:rPr baseline="-19411"/>
              <a:t>N</a:t>
            </a:r>
            <a:r>
              <a:t>I</a:t>
            </a:r>
            <a:r>
              <a:rPr baseline="-19411"/>
              <a:t>N</a:t>
            </a:r>
            <a:r>
              <a:t> and I</a:t>
            </a:r>
            <a:r>
              <a:rPr baseline="-19411"/>
              <a:t>N</a:t>
            </a:r>
            <a:r>
              <a:t> = V</a:t>
            </a:r>
            <a:r>
              <a:rPr baseline="-19411"/>
              <a:t>Th</a:t>
            </a:r>
            <a:r>
              <a:t>/R</a:t>
            </a:r>
            <a:r>
              <a:rPr baseline="-19411"/>
              <a:t>Th</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4" name="Voltage Polarity and Current Flow"/>
          <p:cNvSpPr txBox="1"/>
          <p:nvPr>
            <p:ph type="title"/>
          </p:nvPr>
        </p:nvSpPr>
        <p:spPr>
          <a:prstGeom prst="rect">
            <a:avLst/>
          </a:prstGeom>
        </p:spPr>
        <p:txBody>
          <a:bodyPr/>
          <a:lstStyle>
            <a:lvl1pPr>
              <a:defRPr sz="6400"/>
            </a:lvl1pPr>
          </a:lstStyle>
          <a:p>
            <a:pPr/>
            <a:r>
              <a:t>Voltage Polarity and Current Flow</a:t>
            </a:r>
          </a:p>
        </p:txBody>
      </p:sp>
      <p:pic>
        <p:nvPicPr>
          <p:cNvPr id="235" name="image.png" descr="image.png"/>
          <p:cNvPicPr>
            <a:picLocks noChangeAspect="1"/>
          </p:cNvPicPr>
          <p:nvPr/>
        </p:nvPicPr>
        <p:blipFill>
          <a:blip r:embed="rId2">
            <a:extLst/>
          </a:blip>
          <a:stretch>
            <a:fillRect/>
          </a:stretch>
        </p:blipFill>
        <p:spPr>
          <a:xfrm>
            <a:off x="887306" y="3307643"/>
            <a:ext cx="11230189" cy="5134188"/>
          </a:xfrm>
          <a:prstGeom prst="rect">
            <a:avLst/>
          </a:prstGeom>
          <a:ln w="12700">
            <a:miter lim="400000"/>
          </a:ln>
        </p:spPr>
      </p:pic>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7" name="Value of Theorems"/>
          <p:cNvSpPr txBox="1"/>
          <p:nvPr>
            <p:ph type="title"/>
          </p:nvPr>
        </p:nvSpPr>
        <p:spPr>
          <a:prstGeom prst="rect">
            <a:avLst/>
          </a:prstGeom>
        </p:spPr>
        <p:txBody>
          <a:bodyPr/>
          <a:lstStyle/>
          <a:p>
            <a:pPr/>
            <a:r>
              <a:t> Value of Theorems</a:t>
            </a:r>
          </a:p>
        </p:txBody>
      </p:sp>
      <p:sp>
        <p:nvSpPr>
          <p:cNvPr id="238" name="Simplification of complex circuits.…"/>
          <p:cNvSpPr txBox="1"/>
          <p:nvPr>
            <p:ph type="body" idx="1"/>
          </p:nvPr>
        </p:nvSpPr>
        <p:spPr>
          <a:prstGeom prst="rect">
            <a:avLst/>
          </a:prstGeom>
        </p:spPr>
        <p:txBody>
          <a:bodyPr/>
          <a:lstStyle/>
          <a:p>
            <a:pPr/>
            <a:r>
              <a:t>Simplification of complex circuits.</a:t>
            </a:r>
          </a:p>
          <a:p>
            <a:pPr lvl="1" marL="916780" indent="-472281">
              <a:spcBef>
                <a:spcPts val="0"/>
              </a:spcBef>
              <a:buClr>
                <a:srgbClr val="CEB966"/>
              </a:buClr>
              <a:defRPr sz="3400"/>
            </a:pPr>
            <a:r>
              <a:t>Used to predict the current through and voltage across any load attached to the two terminals.</a:t>
            </a:r>
          </a:p>
          <a:p>
            <a:pPr lvl="1" marL="916780" indent="-472281">
              <a:spcBef>
                <a:spcPts val="0"/>
              </a:spcBef>
              <a:buClr>
                <a:srgbClr val="CEB966"/>
              </a:buClr>
              <a:defRPr sz="3400"/>
            </a:pPr>
            <a:r>
              <a:t>Provides information to users of the circuit.</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0" name="Example #1"/>
          <p:cNvSpPr txBox="1"/>
          <p:nvPr>
            <p:ph type="title"/>
          </p:nvPr>
        </p:nvSpPr>
        <p:spPr>
          <a:prstGeom prst="rect">
            <a:avLst/>
          </a:prstGeom>
        </p:spPr>
        <p:txBody>
          <a:bodyPr/>
          <a:lstStyle/>
          <a:p>
            <a:pPr/>
            <a:r>
              <a:t>Example #1</a:t>
            </a:r>
          </a:p>
        </p:txBody>
      </p:sp>
      <p:pic>
        <p:nvPicPr>
          <p:cNvPr id="241" name="image.png" descr="image.png"/>
          <p:cNvPicPr>
            <a:picLocks noChangeAspect="1"/>
          </p:cNvPicPr>
          <p:nvPr/>
        </p:nvPicPr>
        <p:blipFill>
          <a:blip r:embed="rId2">
            <a:extLst/>
          </a:blip>
          <a:stretch>
            <a:fillRect/>
          </a:stretch>
        </p:blipFill>
        <p:spPr>
          <a:xfrm>
            <a:off x="1625599" y="3359572"/>
            <a:ext cx="7848038" cy="5852162"/>
          </a:xfrm>
          <a:prstGeom prst="rect">
            <a:avLst/>
          </a:prstGeom>
          <a:ln w="12700">
            <a:miter lim="400000"/>
          </a:ln>
        </p:spPr>
      </p:pic>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3" name="Example #1 (con’t)"/>
          <p:cNvSpPr txBox="1"/>
          <p:nvPr>
            <p:ph type="title"/>
          </p:nvPr>
        </p:nvSpPr>
        <p:spPr>
          <a:prstGeom prst="rect">
            <a:avLst/>
          </a:prstGeom>
        </p:spPr>
        <p:txBody>
          <a:bodyPr/>
          <a:lstStyle/>
          <a:p>
            <a:pPr/>
            <a:r>
              <a:t>Example #1 (con’t)</a:t>
            </a:r>
          </a:p>
        </p:txBody>
      </p:sp>
      <p:pic>
        <p:nvPicPr>
          <p:cNvPr id="244" name="image.png" descr="image.png"/>
          <p:cNvPicPr>
            <a:picLocks noChangeAspect="1"/>
          </p:cNvPicPr>
          <p:nvPr/>
        </p:nvPicPr>
        <p:blipFill>
          <a:blip r:embed="rId2">
            <a:extLst/>
          </a:blip>
          <a:stretch>
            <a:fillRect/>
          </a:stretch>
        </p:blipFill>
        <p:spPr>
          <a:xfrm>
            <a:off x="2117794" y="2752231"/>
            <a:ext cx="8769211" cy="6242757"/>
          </a:xfrm>
          <a:prstGeom prst="rect">
            <a:avLst/>
          </a:prstGeom>
          <a:ln w="12700">
            <a:miter lim="400000"/>
          </a:ln>
        </p:spPr>
      </p:pic>
      <p:sp>
        <p:nvSpPr>
          <p:cNvPr id="245" name="Find IN and RN"/>
          <p:cNvSpPr txBox="1"/>
          <p:nvPr/>
        </p:nvSpPr>
        <p:spPr>
          <a:xfrm>
            <a:off x="1192106" y="2709333"/>
            <a:ext cx="2153166" cy="579881"/>
          </a:xfrm>
          <a:prstGeom prst="rect">
            <a:avLst/>
          </a:prstGeom>
          <a:ln w="12700">
            <a:miter lim="400000"/>
          </a:ln>
          <a:extLst>
            <a:ext uri="{C572A759-6A51-4108-AA02-DFA0A04FC94B}">
              <ma14:wrappingTextBoxFlag xmlns:ma14="http://schemas.microsoft.com/office/mac/drawingml/2011/main" val="1"/>
            </a:ext>
          </a:extLst>
        </p:spPr>
        <p:txBody>
          <a:bodyPr wrap="none" lIns="65022" tIns="65022" rIns="65022" bIns="65022">
            <a:spAutoFit/>
          </a:bodyPr>
          <a:lstStyle/>
          <a:p>
            <a:pPr algn="l" defTabSz="1300480">
              <a:defRPr>
                <a:latin typeface="Constantia"/>
                <a:ea typeface="Constantia"/>
                <a:cs typeface="Constantia"/>
                <a:sym typeface="Constantia"/>
              </a:defRPr>
            </a:pPr>
            <a:r>
              <a:t>Find I</a:t>
            </a:r>
            <a:r>
              <a:rPr baseline="-20250"/>
              <a:t>N</a:t>
            </a:r>
            <a:r>
              <a:t> and R</a:t>
            </a:r>
            <a:r>
              <a:rPr baseline="-20250"/>
              <a:t>N</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7" name="Example #1 (con’t)"/>
          <p:cNvSpPr txBox="1"/>
          <p:nvPr>
            <p:ph type="title"/>
          </p:nvPr>
        </p:nvSpPr>
        <p:spPr>
          <a:prstGeom prst="rect">
            <a:avLst/>
          </a:prstGeom>
        </p:spPr>
        <p:txBody>
          <a:bodyPr/>
          <a:lstStyle/>
          <a:p>
            <a:pPr/>
            <a:r>
              <a:t>Example #1 (con’t)</a:t>
            </a:r>
          </a:p>
        </p:txBody>
      </p:sp>
      <p:sp>
        <p:nvSpPr>
          <p:cNvPr id="248" name="Calculation for IN…"/>
          <p:cNvSpPr txBox="1"/>
          <p:nvPr>
            <p:ph type="body" idx="1"/>
          </p:nvPr>
        </p:nvSpPr>
        <p:spPr>
          <a:prstGeom prst="rect">
            <a:avLst/>
          </a:prstGeom>
        </p:spPr>
        <p:txBody>
          <a:bodyPr/>
          <a:lstStyle/>
          <a:p>
            <a:pPr marL="324484" indent="-324484" defTabSz="426466">
              <a:lnSpc>
                <a:spcPct val="90000"/>
              </a:lnSpc>
              <a:spcBef>
                <a:spcPts val="3000"/>
              </a:spcBef>
              <a:defRPr sz="2300"/>
            </a:pPr>
            <a:r>
              <a:t>Calculation for I</a:t>
            </a:r>
            <a:r>
              <a:rPr baseline="-27147"/>
              <a:t>N</a:t>
            </a:r>
          </a:p>
          <a:p>
            <a:pPr marL="324484" indent="-324484" defTabSz="426466">
              <a:lnSpc>
                <a:spcPct val="90000"/>
              </a:lnSpc>
              <a:spcBef>
                <a:spcPts val="3000"/>
              </a:spcBef>
              <a:defRPr sz="2300"/>
            </a:pPr>
            <a:r>
              <a:t>Look at current divider equation:</a:t>
            </a:r>
          </a:p>
          <a:p>
            <a:pPr marL="283485" indent="-283485" defTabSz="426466">
              <a:lnSpc>
                <a:spcPct val="90000"/>
              </a:lnSpc>
              <a:spcBef>
                <a:spcPts val="3000"/>
              </a:spcBef>
              <a:buSzTx/>
              <a:buNone/>
              <a:defRPr sz="2300"/>
            </a:pPr>
            <a:r>
              <a:t>	</a:t>
            </a:r>
          </a:p>
          <a:p>
            <a:pPr marL="283485" indent="-283485" defTabSz="426466">
              <a:lnSpc>
                <a:spcPct val="90000"/>
              </a:lnSpc>
              <a:spcBef>
                <a:spcPts val="3000"/>
              </a:spcBef>
              <a:buSzTx/>
              <a:buNone/>
              <a:defRPr sz="2300">
                <a:latin typeface="Symbol"/>
                <a:ea typeface="Symbol"/>
                <a:cs typeface="Symbol"/>
                <a:sym typeface="Symbol"/>
              </a:defRPr>
            </a:pPr>
          </a:p>
          <a:p>
            <a:pPr marL="283485" indent="-283485" defTabSz="426466">
              <a:lnSpc>
                <a:spcPct val="90000"/>
              </a:lnSpc>
              <a:spcBef>
                <a:spcPts val="3000"/>
              </a:spcBef>
              <a:buSzTx/>
              <a:buNone/>
              <a:defRPr sz="2300">
                <a:latin typeface="Symbol"/>
                <a:ea typeface="Symbol"/>
                <a:cs typeface="Symbol"/>
                <a:sym typeface="Symbol"/>
              </a:defRPr>
            </a:pPr>
          </a:p>
          <a:p>
            <a:pPr marL="283485" indent="-283485" defTabSz="426466">
              <a:lnSpc>
                <a:spcPct val="90000"/>
              </a:lnSpc>
              <a:spcBef>
                <a:spcPts val="3000"/>
              </a:spcBef>
              <a:buSzTx/>
              <a:buNone/>
              <a:defRPr sz="2300">
                <a:latin typeface="Symbol"/>
                <a:ea typeface="Symbol"/>
                <a:cs typeface="Symbol"/>
                <a:sym typeface="Symbol"/>
              </a:defRPr>
            </a:pPr>
          </a:p>
          <a:p>
            <a:pPr marL="283485" indent="-283485" defTabSz="426466">
              <a:lnSpc>
                <a:spcPct val="90000"/>
              </a:lnSpc>
              <a:spcBef>
                <a:spcPts val="3000"/>
              </a:spcBef>
              <a:buSzTx/>
              <a:buNone/>
              <a:defRPr sz="2300">
                <a:latin typeface="Symbol"/>
                <a:ea typeface="Symbol"/>
                <a:cs typeface="Symbol"/>
                <a:sym typeface="Symbol"/>
              </a:defRPr>
            </a:pPr>
          </a:p>
          <a:p>
            <a:pPr marL="283485" indent="-283485" defTabSz="426466">
              <a:lnSpc>
                <a:spcPct val="90000"/>
              </a:lnSpc>
              <a:spcBef>
                <a:spcPts val="3000"/>
              </a:spcBef>
              <a:buSzTx/>
              <a:buNone/>
              <a:defRPr sz="2300">
                <a:latin typeface="Symbol"/>
                <a:ea typeface="Symbol"/>
                <a:cs typeface="Symbol"/>
                <a:sym typeface="Symbol"/>
              </a:defRPr>
            </a:pPr>
          </a:p>
          <a:p>
            <a:pPr marL="283485" indent="-283485" defTabSz="426466">
              <a:lnSpc>
                <a:spcPct val="90000"/>
              </a:lnSpc>
              <a:spcBef>
                <a:spcPts val="3000"/>
              </a:spcBef>
              <a:buSzTx/>
              <a:buNone/>
              <a:defRPr sz="2300"/>
            </a:pPr>
            <a:r>
              <a:t>		If R</a:t>
            </a:r>
            <a:r>
              <a:rPr baseline="-27147"/>
              <a:t>Th</a:t>
            </a:r>
            <a:r>
              <a:t> = R</a:t>
            </a:r>
            <a:r>
              <a:rPr baseline="-27147"/>
              <a:t>N</a:t>
            </a:r>
            <a:r>
              <a:t>= 1k</a:t>
            </a:r>
            <a:r>
              <a:rPr>
                <a:latin typeface="Symbol"/>
                <a:ea typeface="Symbol"/>
                <a:cs typeface="Symbol"/>
                <a:sym typeface="Symbol"/>
              </a:rPr>
              <a:t>W</a:t>
            </a:r>
            <a:r>
              <a:t>, then I</a:t>
            </a:r>
            <a:r>
              <a:rPr baseline="-27147"/>
              <a:t>N</a:t>
            </a:r>
            <a:r>
              <a:t> = 6mA</a:t>
            </a:r>
          </a:p>
        </p:txBody>
      </p:sp>
      <p:pic>
        <p:nvPicPr>
          <p:cNvPr id="249" name="image.pdf" descr="image.pdf"/>
          <p:cNvPicPr>
            <a:picLocks noChangeAspect="1"/>
          </p:cNvPicPr>
          <p:nvPr/>
        </p:nvPicPr>
        <p:blipFill>
          <a:blip r:embed="rId2">
            <a:extLst/>
          </a:blip>
          <a:stretch>
            <a:fillRect/>
          </a:stretch>
        </p:blipFill>
        <p:spPr>
          <a:xfrm>
            <a:off x="2059092" y="4551679"/>
            <a:ext cx="7595167" cy="3090900"/>
          </a:xfrm>
          <a:prstGeom prst="rect">
            <a:avLst/>
          </a:prstGeom>
          <a:ln w="12700">
            <a:miter lim="400000"/>
          </a:ln>
        </p:spPr>
      </p:pic>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1" name="Why chose RTh = RN?"/>
          <p:cNvSpPr txBox="1"/>
          <p:nvPr>
            <p:ph type="title"/>
          </p:nvPr>
        </p:nvSpPr>
        <p:spPr>
          <a:prstGeom prst="rect">
            <a:avLst/>
          </a:prstGeom>
        </p:spPr>
        <p:txBody>
          <a:bodyPr/>
          <a:lstStyle/>
          <a:p>
            <a:pPr/>
            <a:r>
              <a:t>Why chose R</a:t>
            </a:r>
            <a:r>
              <a:rPr baseline="-17873"/>
              <a:t>Th</a:t>
            </a:r>
            <a:r>
              <a:t> = R</a:t>
            </a:r>
            <a:r>
              <a:rPr baseline="-17873"/>
              <a:t>N</a:t>
            </a:r>
            <a:r>
              <a:t>?</a:t>
            </a:r>
          </a:p>
        </p:txBody>
      </p:sp>
      <p:sp>
        <p:nvSpPr>
          <p:cNvPr id="252" name="Suppose VTh = 0V and IN = 0mA…"/>
          <p:cNvSpPr txBox="1"/>
          <p:nvPr>
            <p:ph type="body" sz="half" idx="1"/>
          </p:nvPr>
        </p:nvSpPr>
        <p:spPr>
          <a:xfrm>
            <a:off x="952500" y="2590799"/>
            <a:ext cx="11099800" cy="3353262"/>
          </a:xfrm>
          <a:prstGeom prst="rect">
            <a:avLst/>
          </a:prstGeom>
        </p:spPr>
        <p:txBody>
          <a:bodyPr/>
          <a:lstStyle/>
          <a:p>
            <a:pPr/>
            <a:r>
              <a:t>Suppose V</a:t>
            </a:r>
            <a:r>
              <a:rPr baseline="-21436"/>
              <a:t>Th</a:t>
            </a:r>
            <a:r>
              <a:t> = </a:t>
            </a:r>
            <a:r>
              <a:rPr>
                <a:latin typeface="Calibri"/>
                <a:ea typeface="Calibri"/>
                <a:cs typeface="Calibri"/>
                <a:sym typeface="Calibri"/>
              </a:rPr>
              <a:t>0</a:t>
            </a:r>
            <a:r>
              <a:t>V and I</a:t>
            </a:r>
            <a:r>
              <a:rPr baseline="-21436"/>
              <a:t>N</a:t>
            </a:r>
            <a:r>
              <a:t> = </a:t>
            </a:r>
            <a:r>
              <a:rPr>
                <a:latin typeface="Calibri"/>
                <a:ea typeface="Calibri"/>
                <a:cs typeface="Calibri"/>
                <a:sym typeface="Calibri"/>
              </a:rPr>
              <a:t>0</a:t>
            </a:r>
            <a:r>
              <a:t>mA</a:t>
            </a:r>
          </a:p>
          <a:p>
            <a:pPr lvl="1" marL="916780" indent="-472281">
              <a:spcBef>
                <a:spcPts val="0"/>
              </a:spcBef>
              <a:buClr>
                <a:srgbClr val="CEB966"/>
              </a:buClr>
              <a:defRPr sz="3400"/>
            </a:pPr>
            <a:r>
              <a:t>Replace the voltage source with a short circuit.</a:t>
            </a:r>
          </a:p>
          <a:p>
            <a:pPr lvl="1" marL="916780" indent="-472281">
              <a:spcBef>
                <a:spcPts val="0"/>
              </a:spcBef>
              <a:buClr>
                <a:srgbClr val="CEB966"/>
              </a:buClr>
              <a:defRPr sz="3400"/>
            </a:pPr>
            <a:r>
              <a:t>Replace the current source with an open circuit.</a:t>
            </a:r>
          </a:p>
          <a:p>
            <a:pPr lvl="2" marL="1277937" indent="-388937">
              <a:spcBef>
                <a:spcPts val="0"/>
              </a:spcBef>
              <a:buClr>
                <a:srgbClr val="9CB084"/>
              </a:buClr>
              <a:defRPr sz="2800"/>
            </a:pPr>
          </a:p>
          <a:p>
            <a:pPr lvl="1" marL="916780" indent="-472281">
              <a:spcBef>
                <a:spcPts val="0"/>
              </a:spcBef>
              <a:buClr>
                <a:srgbClr val="CEB966"/>
              </a:buClr>
              <a:defRPr sz="3400">
                <a:latin typeface="Calibri"/>
                <a:ea typeface="Calibri"/>
                <a:cs typeface="Calibri"/>
                <a:sym typeface="Calibri"/>
              </a:defRPr>
            </a:pPr>
            <a:r>
              <a:t>Looking towards the source, both circuits have the identical resistance (1k</a:t>
            </a:r>
            <a:r>
              <a:rPr>
                <a:latin typeface="Symbol"/>
                <a:ea typeface="Symbol"/>
                <a:cs typeface="Symbol"/>
                <a:sym typeface="Symbol"/>
              </a:rPr>
              <a:t>W</a:t>
            </a:r>
            <a:r>
              <a:t>).</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54" name="image.png" descr="image.png"/>
          <p:cNvPicPr>
            <a:picLocks noChangeAspect="1"/>
          </p:cNvPicPr>
          <p:nvPr/>
        </p:nvPicPr>
        <p:blipFill>
          <a:blip r:embed="rId2">
            <a:extLst/>
          </a:blip>
          <a:stretch>
            <a:fillRect/>
          </a:stretch>
        </p:blipFill>
        <p:spPr>
          <a:xfrm>
            <a:off x="975358" y="1259838"/>
            <a:ext cx="10902811" cy="8385390"/>
          </a:xfrm>
          <a:prstGeom prst="rect">
            <a:avLst/>
          </a:prstGeom>
          <a:ln w="12700">
            <a:miter lim="400000"/>
          </a:ln>
        </p:spPr>
      </p:pic>
      <p:sp>
        <p:nvSpPr>
          <p:cNvPr id="255" name="Arrow"/>
          <p:cNvSpPr/>
          <p:nvPr/>
        </p:nvSpPr>
        <p:spPr>
          <a:xfrm rot="10800000">
            <a:off x="9861973" y="2492586"/>
            <a:ext cx="975362" cy="433495"/>
          </a:xfrm>
          <a:prstGeom prst="rightArrow">
            <a:avLst>
              <a:gd name="adj1" fmla="val 50000"/>
              <a:gd name="adj2" fmla="val 50000"/>
            </a:avLst>
          </a:prstGeom>
          <a:solidFill>
            <a:srgbClr val="FF0000"/>
          </a:solidFill>
          <a:ln w="25400">
            <a:solidFill>
              <a:srgbClr val="FF0000"/>
            </a:solidFill>
          </a:ln>
        </p:spPr>
        <p:txBody>
          <a:bodyPr lIns="50800" tIns="50800" rIns="50800" bIns="50800" anchor="ctr"/>
          <a:lstStyle/>
          <a:p>
            <a:pPr defTabSz="1300480">
              <a:defRPr>
                <a:solidFill>
                  <a:srgbClr val="FFFFFF"/>
                </a:solidFill>
                <a:latin typeface="Constantia"/>
                <a:ea typeface="Constantia"/>
                <a:cs typeface="Constantia"/>
                <a:sym typeface="Constantia"/>
              </a:defRPr>
            </a:pPr>
          </a:p>
        </p:txBody>
      </p:sp>
      <p:sp>
        <p:nvSpPr>
          <p:cNvPr id="256" name="Arrow"/>
          <p:cNvSpPr/>
          <p:nvPr/>
        </p:nvSpPr>
        <p:spPr>
          <a:xfrm rot="10800000">
            <a:off x="10078719" y="6394025"/>
            <a:ext cx="975362" cy="433496"/>
          </a:xfrm>
          <a:prstGeom prst="rightArrow">
            <a:avLst>
              <a:gd name="adj1" fmla="val 50000"/>
              <a:gd name="adj2" fmla="val 50000"/>
            </a:avLst>
          </a:prstGeom>
          <a:solidFill>
            <a:srgbClr val="FF0000"/>
          </a:solidFill>
          <a:ln w="25400">
            <a:solidFill>
              <a:srgbClr val="FF0000"/>
            </a:solidFill>
          </a:ln>
        </p:spPr>
        <p:txBody>
          <a:bodyPr lIns="50800" tIns="50800" rIns="50800" bIns="50800" anchor="ctr"/>
          <a:lstStyle/>
          <a:p>
            <a:pPr defTabSz="1300480">
              <a:defRPr>
                <a:solidFill>
                  <a:srgbClr val="FFFFFF"/>
                </a:solidFill>
                <a:latin typeface="Constantia"/>
                <a:ea typeface="Constantia"/>
                <a:cs typeface="Constantia"/>
                <a:sym typeface="Constantia"/>
              </a:defRPr>
            </a:pP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8" name="Source Transformation"/>
          <p:cNvSpPr txBox="1"/>
          <p:nvPr>
            <p:ph type="title"/>
          </p:nvPr>
        </p:nvSpPr>
        <p:spPr>
          <a:prstGeom prst="rect">
            <a:avLst/>
          </a:prstGeom>
        </p:spPr>
        <p:txBody>
          <a:bodyPr/>
          <a:lstStyle/>
          <a:p>
            <a:pPr/>
            <a:r>
              <a:t>Source Transformation</a:t>
            </a:r>
          </a:p>
        </p:txBody>
      </p:sp>
      <p:sp>
        <p:nvSpPr>
          <p:cNvPr id="259" name="Equations for Thévenin/Norton Transformations…"/>
          <p:cNvSpPr txBox="1"/>
          <p:nvPr>
            <p:ph type="body" idx="1"/>
          </p:nvPr>
        </p:nvSpPr>
        <p:spPr>
          <a:xfrm>
            <a:off x="952500" y="2590800"/>
            <a:ext cx="11099800" cy="6299200"/>
          </a:xfrm>
          <a:prstGeom prst="rect">
            <a:avLst/>
          </a:prstGeom>
        </p:spPr>
        <p:txBody>
          <a:bodyPr/>
          <a:lstStyle/>
          <a:p>
            <a:pPr marL="287368" indent="-287368" defTabSz="432308">
              <a:spcBef>
                <a:spcPts val="3100"/>
              </a:spcBef>
              <a:buSzTx/>
              <a:buNone/>
              <a:defRPr sz="3400"/>
            </a:pPr>
            <a:r>
              <a:t>Equations for Thévenin/Norton Transformations</a:t>
            </a:r>
          </a:p>
          <a:p>
            <a:pPr marL="287368" indent="-287368" defTabSz="432308">
              <a:spcBef>
                <a:spcPts val="3100"/>
              </a:spcBef>
              <a:buSzTx/>
              <a:buNone/>
              <a:defRPr sz="3400"/>
            </a:pPr>
          </a:p>
          <a:p>
            <a:pPr marL="287368" indent="-287368" defTabSz="432308">
              <a:spcBef>
                <a:spcPts val="3100"/>
              </a:spcBef>
              <a:buSzTx/>
              <a:buNone/>
              <a:defRPr sz="3400"/>
            </a:pPr>
            <a:r>
              <a:t>V</a:t>
            </a:r>
            <a:r>
              <a:rPr baseline="-20203"/>
              <a:t>Th</a:t>
            </a:r>
            <a:r>
              <a:t> = I</a:t>
            </a:r>
            <a:r>
              <a:rPr baseline="-20203"/>
              <a:t>N</a:t>
            </a:r>
            <a:r>
              <a:t> R</a:t>
            </a:r>
            <a:r>
              <a:rPr baseline="-20203"/>
              <a:t>Th</a:t>
            </a:r>
          </a:p>
          <a:p>
            <a:pPr marL="287368" indent="-287368" defTabSz="432308">
              <a:spcBef>
                <a:spcPts val="3100"/>
              </a:spcBef>
              <a:buSzTx/>
              <a:buNone/>
              <a:defRPr baseline="-20203" sz="3400">
                <a:latin typeface="Symbol"/>
                <a:ea typeface="Symbol"/>
                <a:cs typeface="Symbol"/>
                <a:sym typeface="Symbol"/>
              </a:defRPr>
            </a:pPr>
          </a:p>
          <a:p>
            <a:pPr marL="287368" indent="-287368" defTabSz="432308">
              <a:spcBef>
                <a:spcPts val="3100"/>
              </a:spcBef>
              <a:buSzTx/>
              <a:buNone/>
              <a:defRPr sz="3400"/>
            </a:pPr>
            <a:r>
              <a:t>I</a:t>
            </a:r>
            <a:r>
              <a:rPr baseline="-20203"/>
              <a:t>N</a:t>
            </a:r>
            <a:r>
              <a:t> = V</a:t>
            </a:r>
            <a:r>
              <a:rPr baseline="-20203"/>
              <a:t>Th</a:t>
            </a:r>
            <a:r>
              <a:t>/R</a:t>
            </a:r>
            <a:r>
              <a:rPr baseline="-20203"/>
              <a:t>Th</a:t>
            </a:r>
          </a:p>
          <a:p>
            <a:pPr marL="287368" indent="-287368" defTabSz="432308">
              <a:spcBef>
                <a:spcPts val="3100"/>
              </a:spcBef>
              <a:buSzTx/>
              <a:buNone/>
              <a:defRPr baseline="-20203" sz="3400"/>
            </a:pPr>
          </a:p>
          <a:p>
            <a:pPr marL="287368" indent="-287368" defTabSz="432308">
              <a:spcBef>
                <a:spcPts val="3100"/>
              </a:spcBef>
              <a:buSzTx/>
              <a:buNone/>
              <a:defRPr sz="3400"/>
            </a:pPr>
            <a:r>
              <a:t>R</a:t>
            </a:r>
            <a:r>
              <a:rPr baseline="-20203"/>
              <a:t>Th</a:t>
            </a:r>
            <a:r>
              <a:t>= R</a:t>
            </a:r>
            <a:r>
              <a:rPr baseline="-20203"/>
              <a:t>N</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1" name="Example #1:  Norton’s Theorem"/>
          <p:cNvSpPr txBox="1"/>
          <p:nvPr>
            <p:ph type="title"/>
          </p:nvPr>
        </p:nvSpPr>
        <p:spPr>
          <a:prstGeom prst="rect">
            <a:avLst/>
          </a:prstGeom>
        </p:spPr>
        <p:txBody>
          <a:bodyPr/>
          <a:lstStyle>
            <a:lvl1pPr>
              <a:defRPr sz="6400"/>
            </a:lvl1pPr>
          </a:lstStyle>
          <a:p>
            <a:pPr/>
            <a:r>
              <a:t>Example #1:  Norton’s Theorem</a:t>
            </a:r>
          </a:p>
        </p:txBody>
      </p:sp>
      <p:pic>
        <p:nvPicPr>
          <p:cNvPr id="262" name="image.png" descr="image.png"/>
          <p:cNvPicPr>
            <a:picLocks noChangeAspect="1"/>
          </p:cNvPicPr>
          <p:nvPr/>
        </p:nvPicPr>
        <p:blipFill>
          <a:blip r:embed="rId2">
            <a:extLst/>
          </a:blip>
          <a:stretch>
            <a:fillRect/>
          </a:stretch>
        </p:blipFill>
        <p:spPr>
          <a:xfrm>
            <a:off x="650238" y="4118185"/>
            <a:ext cx="6834297" cy="5418669"/>
          </a:xfrm>
          <a:prstGeom prst="rect">
            <a:avLst/>
          </a:prstGeom>
          <a:ln w="12700">
            <a:miter lim="400000"/>
          </a:ln>
        </p:spPr>
      </p:pic>
      <p:sp>
        <p:nvSpPr>
          <p:cNvPr id="263" name="IN = VTh/RTh = 6mA"/>
          <p:cNvSpPr txBox="1"/>
          <p:nvPr/>
        </p:nvSpPr>
        <p:spPr>
          <a:xfrm>
            <a:off x="7802880" y="4876799"/>
            <a:ext cx="3576321" cy="1203956"/>
          </a:xfrm>
          <a:prstGeom prst="rect">
            <a:avLst/>
          </a:prstGeom>
          <a:ln w="12700">
            <a:miter lim="400000"/>
          </a:ln>
          <a:extLst>
            <a:ext uri="{C572A759-6A51-4108-AA02-DFA0A04FC94B}">
              <ma14:wrappingTextBoxFlag xmlns:ma14="http://schemas.microsoft.com/office/mac/drawingml/2011/main" val="1"/>
            </a:ext>
          </a:extLst>
        </p:spPr>
        <p:txBody>
          <a:bodyPr lIns="65022" tIns="65022" rIns="65022" bIns="65022">
            <a:spAutoFit/>
          </a:bodyPr>
          <a:lstStyle/>
          <a:p>
            <a:pPr algn="l" defTabSz="1300480">
              <a:defRPr sz="3400">
                <a:latin typeface="Calibri"/>
                <a:ea typeface="Calibri"/>
                <a:cs typeface="Calibri"/>
                <a:sym typeface="Calibri"/>
              </a:defRPr>
            </a:pPr>
            <a:r>
              <a:t>I</a:t>
            </a:r>
            <a:r>
              <a:rPr baseline="-19411"/>
              <a:t>N</a:t>
            </a:r>
            <a:r>
              <a:t> = V</a:t>
            </a:r>
            <a:r>
              <a:rPr baseline="-19411"/>
              <a:t>Th</a:t>
            </a:r>
            <a:r>
              <a:t>/R</a:t>
            </a:r>
            <a:r>
              <a:rPr baseline="-19411"/>
              <a:t>Th</a:t>
            </a:r>
            <a:r>
              <a:t> = 6mA</a:t>
            </a:r>
          </a:p>
        </p:txBody>
      </p:sp>
      <p:sp>
        <p:nvSpPr>
          <p:cNvPr id="264" name="IN is the current that flows when a short circuit is used as the load with a voltage source"/>
          <p:cNvSpPr txBox="1"/>
          <p:nvPr>
            <p:ph type="body" idx="4294967295"/>
          </p:nvPr>
        </p:nvSpPr>
        <p:spPr>
          <a:xfrm>
            <a:off x="650238" y="2752230"/>
            <a:ext cx="11704323" cy="6242758"/>
          </a:xfrm>
          <a:prstGeom prst="rect">
            <a:avLst/>
          </a:prstGeom>
        </p:spPr>
        <p:txBody>
          <a:bodyPr lIns="65022" tIns="65022" rIns="65022" bIns="65022" anchor="t"/>
          <a:lstStyle/>
          <a:p>
            <a:pPr marL="388337" indent="-388337">
              <a:spcBef>
                <a:spcPts val="800"/>
              </a:spcBef>
              <a:buSzTx/>
              <a:buNone/>
              <a:defRPr sz="3400"/>
            </a:pPr>
            <a:r>
              <a:t>    I</a:t>
            </a:r>
            <a:r>
              <a:rPr baseline="-19411"/>
              <a:t>N</a:t>
            </a:r>
            <a:r>
              <a:t> is the current that flows when a short circuit is used as the load with a voltage source </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6" name="Example #1:  Norton’s Theorem"/>
          <p:cNvSpPr txBox="1"/>
          <p:nvPr>
            <p:ph type="title"/>
          </p:nvPr>
        </p:nvSpPr>
        <p:spPr>
          <a:prstGeom prst="rect">
            <a:avLst/>
          </a:prstGeom>
        </p:spPr>
        <p:txBody>
          <a:bodyPr/>
          <a:lstStyle>
            <a:lvl1pPr>
              <a:defRPr sz="6400"/>
            </a:lvl1pPr>
          </a:lstStyle>
          <a:p>
            <a:pPr/>
            <a:r>
              <a:t>Example #1:  Norton’s Theorem</a:t>
            </a:r>
          </a:p>
        </p:txBody>
      </p:sp>
      <p:pic>
        <p:nvPicPr>
          <p:cNvPr id="267" name="image.png" descr="image.png"/>
          <p:cNvPicPr>
            <a:picLocks noChangeAspect="1"/>
          </p:cNvPicPr>
          <p:nvPr/>
        </p:nvPicPr>
        <p:blipFill>
          <a:blip r:embed="rId2">
            <a:extLst/>
          </a:blip>
          <a:stretch>
            <a:fillRect/>
          </a:stretch>
        </p:blipFill>
        <p:spPr>
          <a:xfrm>
            <a:off x="1408852" y="4985172"/>
            <a:ext cx="6394029" cy="4443308"/>
          </a:xfrm>
          <a:prstGeom prst="rect">
            <a:avLst/>
          </a:prstGeom>
          <a:ln w="12700">
            <a:miter lim="400000"/>
          </a:ln>
        </p:spPr>
      </p:pic>
      <p:sp>
        <p:nvSpPr>
          <p:cNvPr id="268" name="RN is the resistance of the linear circuit when the power sources in the original circuit are turned off (VTh is replaced with a short circuit)."/>
          <p:cNvSpPr txBox="1"/>
          <p:nvPr>
            <p:ph type="body" idx="4294967295"/>
          </p:nvPr>
        </p:nvSpPr>
        <p:spPr>
          <a:xfrm>
            <a:off x="650238" y="2752230"/>
            <a:ext cx="11704323" cy="6242758"/>
          </a:xfrm>
          <a:prstGeom prst="rect">
            <a:avLst/>
          </a:prstGeom>
        </p:spPr>
        <p:txBody>
          <a:bodyPr lIns="65022" tIns="65022" rIns="65022" bIns="65022" anchor="t"/>
          <a:lstStyle/>
          <a:p>
            <a:pPr marL="388337" indent="-388337">
              <a:spcBef>
                <a:spcPts val="900"/>
              </a:spcBef>
              <a:buSzTx/>
              <a:buNone/>
              <a:defRPr sz="3800"/>
            </a:pPr>
            <a:r>
              <a:t>	R</a:t>
            </a:r>
            <a:r>
              <a:rPr baseline="-20000"/>
              <a:t>N</a:t>
            </a:r>
            <a:r>
              <a:t> is the resistance of the linear circuit when the power sources in the original circuit are turned off (V</a:t>
            </a:r>
            <a:r>
              <a:rPr baseline="-20000"/>
              <a:t>Th </a:t>
            </a:r>
            <a:r>
              <a:t>is replaced with a short circuit). </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0" name="Example #1:  Norton’s Theorem"/>
          <p:cNvSpPr txBox="1"/>
          <p:nvPr>
            <p:ph type="title"/>
          </p:nvPr>
        </p:nvSpPr>
        <p:spPr>
          <a:prstGeom prst="rect">
            <a:avLst/>
          </a:prstGeom>
        </p:spPr>
        <p:txBody>
          <a:bodyPr/>
          <a:lstStyle>
            <a:lvl1pPr defTabSz="484886">
              <a:defRPr sz="6600"/>
            </a:lvl1pPr>
          </a:lstStyle>
          <a:p>
            <a:pPr/>
            <a:r>
              <a:t>Example #1:  Norton’s Theorem</a:t>
            </a:r>
          </a:p>
        </p:txBody>
      </p:sp>
      <p:pic>
        <p:nvPicPr>
          <p:cNvPr id="271" name="image.png" descr="image.png"/>
          <p:cNvPicPr>
            <a:picLocks noChangeAspect="1"/>
          </p:cNvPicPr>
          <p:nvPr/>
        </p:nvPicPr>
        <p:blipFill>
          <a:blip r:embed="rId2">
            <a:extLst/>
          </a:blip>
          <a:stretch>
            <a:fillRect/>
          </a:stretch>
        </p:blipFill>
        <p:spPr>
          <a:xfrm>
            <a:off x="2275838" y="4009812"/>
            <a:ext cx="6962990" cy="4917442"/>
          </a:xfrm>
          <a:prstGeom prst="rect">
            <a:avLst/>
          </a:prstGeom>
          <a:ln w="12700">
            <a:miter lim="400000"/>
          </a:ln>
        </p:spPr>
      </p:pic>
      <p:sp>
        <p:nvSpPr>
          <p:cNvPr id="272" name="The Norton equivalent circuit is:"/>
          <p:cNvSpPr txBox="1"/>
          <p:nvPr>
            <p:ph type="body" idx="4294967295"/>
          </p:nvPr>
        </p:nvSpPr>
        <p:spPr>
          <a:xfrm>
            <a:off x="650238" y="2752230"/>
            <a:ext cx="11704323" cy="6242758"/>
          </a:xfrm>
          <a:prstGeom prst="rect">
            <a:avLst/>
          </a:prstGeom>
        </p:spPr>
        <p:txBody>
          <a:bodyPr lIns="65022" tIns="65022" rIns="65022" bIns="65022" anchor="t"/>
          <a:lstStyle/>
          <a:p>
            <a:pPr/>
            <a:r>
              <a:t>The Norton equivalent circuit is:</a:t>
            </a: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4" name="Check:  Thévenin Theorem"/>
          <p:cNvSpPr txBox="1"/>
          <p:nvPr>
            <p:ph type="title"/>
          </p:nvPr>
        </p:nvSpPr>
        <p:spPr>
          <a:prstGeom prst="rect">
            <a:avLst/>
          </a:prstGeom>
        </p:spPr>
        <p:txBody>
          <a:bodyPr/>
          <a:lstStyle>
            <a:lvl1pPr defTabSz="508254">
              <a:defRPr sz="6900"/>
            </a:lvl1pPr>
          </a:lstStyle>
          <a:p>
            <a:pPr/>
            <a:r>
              <a:t>Check:  Thévenin Theorem</a:t>
            </a:r>
          </a:p>
        </p:txBody>
      </p:sp>
      <p:sp>
        <p:nvSpPr>
          <p:cNvPr id="275" name="VTh = IN RTh = 6V"/>
          <p:cNvSpPr txBox="1"/>
          <p:nvPr/>
        </p:nvSpPr>
        <p:spPr>
          <a:xfrm>
            <a:off x="8453118" y="4761653"/>
            <a:ext cx="3467949" cy="695955"/>
          </a:xfrm>
          <a:prstGeom prst="rect">
            <a:avLst/>
          </a:prstGeom>
          <a:ln w="12700">
            <a:miter lim="400000"/>
          </a:ln>
          <a:extLst>
            <a:ext uri="{C572A759-6A51-4108-AA02-DFA0A04FC94B}">
              <ma14:wrappingTextBoxFlag xmlns:ma14="http://schemas.microsoft.com/office/mac/drawingml/2011/main" val="1"/>
            </a:ext>
          </a:extLst>
        </p:spPr>
        <p:txBody>
          <a:bodyPr lIns="65022" tIns="65022" rIns="65022" bIns="65022">
            <a:spAutoFit/>
          </a:bodyPr>
          <a:lstStyle/>
          <a:p>
            <a:pPr algn="l" defTabSz="1300480">
              <a:defRPr sz="3400">
                <a:latin typeface="Calibri"/>
                <a:ea typeface="Calibri"/>
                <a:cs typeface="Calibri"/>
                <a:sym typeface="Calibri"/>
              </a:defRPr>
            </a:pPr>
            <a:r>
              <a:t>V</a:t>
            </a:r>
            <a:r>
              <a:rPr baseline="-19411"/>
              <a:t>Th</a:t>
            </a:r>
            <a:r>
              <a:t> = I</a:t>
            </a:r>
            <a:r>
              <a:rPr baseline="-19411"/>
              <a:t>N</a:t>
            </a:r>
            <a:r>
              <a:t> R</a:t>
            </a:r>
            <a:r>
              <a:rPr baseline="-19411"/>
              <a:t>Th</a:t>
            </a:r>
            <a:r>
              <a:t> = 6V</a:t>
            </a:r>
          </a:p>
        </p:txBody>
      </p:sp>
      <p:pic>
        <p:nvPicPr>
          <p:cNvPr id="276" name="image.png" descr="image.png"/>
          <p:cNvPicPr>
            <a:picLocks noChangeAspect="1"/>
          </p:cNvPicPr>
          <p:nvPr/>
        </p:nvPicPr>
        <p:blipFill>
          <a:blip r:embed="rId2">
            <a:extLst/>
          </a:blip>
          <a:stretch>
            <a:fillRect/>
          </a:stretch>
        </p:blipFill>
        <p:spPr>
          <a:xfrm>
            <a:off x="866986" y="4161083"/>
            <a:ext cx="7044268" cy="4833905"/>
          </a:xfrm>
          <a:prstGeom prst="rect">
            <a:avLst/>
          </a:prstGeom>
          <a:ln w="12700">
            <a:miter lim="400000"/>
          </a:ln>
        </p:spPr>
      </p:pic>
      <p:sp>
        <p:nvSpPr>
          <p:cNvPr id="277" name="VTh is the voltage across the load when an open short circuit is used as the load with a current source"/>
          <p:cNvSpPr txBox="1"/>
          <p:nvPr>
            <p:ph type="body" idx="4294967295"/>
          </p:nvPr>
        </p:nvSpPr>
        <p:spPr>
          <a:xfrm>
            <a:off x="650238" y="2752230"/>
            <a:ext cx="11704323" cy="6242758"/>
          </a:xfrm>
          <a:prstGeom prst="rect">
            <a:avLst/>
          </a:prstGeom>
        </p:spPr>
        <p:txBody>
          <a:bodyPr lIns="65022" tIns="65022" rIns="65022" bIns="65022" anchor="t"/>
          <a:lstStyle/>
          <a:p>
            <a:pPr marL="388337" indent="-388337">
              <a:spcBef>
                <a:spcPts val="800"/>
              </a:spcBef>
              <a:buSzTx/>
              <a:buNone/>
              <a:defRPr sz="3400"/>
            </a:pPr>
            <a:r>
              <a:t>    V</a:t>
            </a:r>
            <a:r>
              <a:rPr baseline="-19411"/>
              <a:t>Th</a:t>
            </a:r>
            <a:r>
              <a:t> is the voltage across the load when an open short circuit is used as the load with a current source</a:t>
            </a:r>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9" name="Check:  Iload and Vload"/>
          <p:cNvSpPr txBox="1"/>
          <p:nvPr>
            <p:ph type="title"/>
          </p:nvPr>
        </p:nvSpPr>
        <p:spPr>
          <a:prstGeom prst="rect">
            <a:avLst/>
          </a:prstGeom>
        </p:spPr>
        <p:txBody>
          <a:bodyPr/>
          <a:lstStyle/>
          <a:p>
            <a:pPr/>
            <a:r>
              <a:t>Check:  I</a:t>
            </a:r>
            <a:r>
              <a:rPr sz="4200"/>
              <a:t>load</a:t>
            </a:r>
            <a:r>
              <a:t> and V</a:t>
            </a:r>
            <a:r>
              <a:rPr sz="4200"/>
              <a:t>load</a:t>
            </a:r>
          </a:p>
        </p:txBody>
      </p:sp>
      <p:pic>
        <p:nvPicPr>
          <p:cNvPr id="280" name="image.png" descr="image.png"/>
          <p:cNvPicPr>
            <a:picLocks noChangeAspect="1"/>
          </p:cNvPicPr>
          <p:nvPr/>
        </p:nvPicPr>
        <p:blipFill>
          <a:blip r:embed="rId2">
            <a:extLst/>
          </a:blip>
          <a:stretch>
            <a:fillRect/>
          </a:stretch>
        </p:blipFill>
        <p:spPr>
          <a:xfrm>
            <a:off x="758612" y="3359572"/>
            <a:ext cx="6962988" cy="4917442"/>
          </a:xfrm>
          <a:prstGeom prst="rect">
            <a:avLst/>
          </a:prstGeom>
          <a:ln w="12700">
            <a:miter lim="400000"/>
          </a:ln>
        </p:spPr>
      </p:pic>
      <p:pic>
        <p:nvPicPr>
          <p:cNvPr id="281" name="image.pdf" descr="image.pdf"/>
          <p:cNvPicPr>
            <a:picLocks noChangeAspect="1"/>
          </p:cNvPicPr>
          <p:nvPr/>
        </p:nvPicPr>
        <p:blipFill>
          <a:blip r:embed="rId3">
            <a:extLst/>
          </a:blip>
          <a:stretch>
            <a:fillRect/>
          </a:stretch>
        </p:blipFill>
        <p:spPr>
          <a:xfrm>
            <a:off x="8019625" y="3576320"/>
            <a:ext cx="4626190" cy="4334934"/>
          </a:xfrm>
          <a:prstGeom prst="rect">
            <a:avLst/>
          </a:prstGeom>
          <a:ln w="12700">
            <a:miter lim="400000"/>
          </a:ln>
        </p:spPr>
      </p:pic>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83" name="image.png" descr="image.png"/>
          <p:cNvPicPr>
            <a:picLocks noChangeAspect="1"/>
          </p:cNvPicPr>
          <p:nvPr/>
        </p:nvPicPr>
        <p:blipFill>
          <a:blip r:embed="rId2">
            <a:extLst/>
          </a:blip>
          <a:stretch>
            <a:fillRect/>
          </a:stretch>
        </p:blipFill>
        <p:spPr>
          <a:xfrm>
            <a:off x="663785" y="3664372"/>
            <a:ext cx="11677230" cy="4416216"/>
          </a:xfrm>
          <a:prstGeom prst="rect">
            <a:avLst/>
          </a:prstGeom>
          <a:ln w="12700">
            <a:miter lim="400000"/>
          </a:ln>
        </p:spPr>
      </p:pic>
      <p:sp>
        <p:nvSpPr>
          <p:cNvPr id="284" name="Example #2"/>
          <p:cNvSpPr txBox="1"/>
          <p:nvPr>
            <p:ph type="title"/>
          </p:nvPr>
        </p:nvSpPr>
        <p:spPr>
          <a:prstGeom prst="rect">
            <a:avLst/>
          </a:prstGeom>
        </p:spPr>
        <p:txBody>
          <a:bodyPr/>
          <a:lstStyle/>
          <a:p>
            <a:pPr/>
            <a:r>
              <a:t>Example #2</a:t>
            </a:r>
          </a:p>
        </p:txBody>
      </p:sp>
      <p:sp>
        <p:nvSpPr>
          <p:cNvPr id="285" name="Rectangle"/>
          <p:cNvSpPr/>
          <p:nvPr/>
        </p:nvSpPr>
        <p:spPr>
          <a:xfrm>
            <a:off x="3034452" y="4009813"/>
            <a:ext cx="1300482" cy="4443308"/>
          </a:xfrm>
          <a:prstGeom prst="rect">
            <a:avLst/>
          </a:prstGeom>
          <a:ln w="25400">
            <a:solidFill>
              <a:srgbClr val="FF0000"/>
            </a:solidFill>
          </a:ln>
        </p:spPr>
        <p:txBody>
          <a:bodyPr lIns="50800" tIns="50800" rIns="50800" bIns="50800" anchor="ctr"/>
          <a:lstStyle/>
          <a:p>
            <a:pPr defTabSz="1300480">
              <a:defRPr>
                <a:solidFill>
                  <a:srgbClr val="FFFFFF"/>
                </a:solidFill>
                <a:latin typeface="Constantia"/>
                <a:ea typeface="Constantia"/>
                <a:cs typeface="Constantia"/>
                <a:sym typeface="Constantia"/>
              </a:defRPr>
            </a:pPr>
          </a:p>
        </p:txBody>
      </p:sp>
      <p:sp>
        <p:nvSpPr>
          <p:cNvPr id="286" name="Simplification through Transformation"/>
          <p:cNvSpPr txBox="1"/>
          <p:nvPr/>
        </p:nvSpPr>
        <p:spPr>
          <a:xfrm>
            <a:off x="975359" y="2817705"/>
            <a:ext cx="8391955" cy="765047"/>
          </a:xfrm>
          <a:prstGeom prst="rect">
            <a:avLst/>
          </a:prstGeom>
          <a:ln w="12700">
            <a:miter lim="400000"/>
          </a:ln>
          <a:extLst>
            <a:ext uri="{C572A759-6A51-4108-AA02-DFA0A04FC94B}">
              <ma14:wrappingTextBoxFlag xmlns:ma14="http://schemas.microsoft.com/office/mac/drawingml/2011/main" val="1"/>
            </a:ext>
          </a:extLst>
        </p:spPr>
        <p:txBody>
          <a:bodyPr wrap="none" lIns="65022" tIns="65022" rIns="65022" bIns="65022">
            <a:spAutoFit/>
          </a:bodyPr>
          <a:lstStyle>
            <a:lvl1pPr algn="l" defTabSz="1300480">
              <a:defRPr sz="3800">
                <a:latin typeface="Constantia"/>
                <a:ea typeface="Constantia"/>
                <a:cs typeface="Constantia"/>
                <a:sym typeface="Constantia"/>
              </a:defRPr>
            </a:lvl1pPr>
          </a:lstStyle>
          <a:p>
            <a:pPr/>
            <a:r>
              <a:t>Simplification through Transformation</a:t>
            </a: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88" name="image.png" descr="image.png"/>
          <p:cNvPicPr>
            <a:picLocks noChangeAspect="1"/>
          </p:cNvPicPr>
          <p:nvPr/>
        </p:nvPicPr>
        <p:blipFill>
          <a:blip r:embed="rId2">
            <a:extLst/>
          </a:blip>
          <a:stretch>
            <a:fillRect/>
          </a:stretch>
        </p:blipFill>
        <p:spPr>
          <a:xfrm>
            <a:off x="663785" y="3664372"/>
            <a:ext cx="11677230" cy="4416216"/>
          </a:xfrm>
          <a:prstGeom prst="rect">
            <a:avLst/>
          </a:prstGeom>
          <a:ln w="12700">
            <a:miter lim="400000"/>
          </a:ln>
        </p:spPr>
      </p:pic>
      <p:sp>
        <p:nvSpPr>
          <p:cNvPr id="289" name="Example #2 (con’t)"/>
          <p:cNvSpPr txBox="1"/>
          <p:nvPr>
            <p:ph type="title"/>
          </p:nvPr>
        </p:nvSpPr>
        <p:spPr>
          <a:prstGeom prst="rect">
            <a:avLst/>
          </a:prstGeom>
        </p:spPr>
        <p:txBody>
          <a:bodyPr/>
          <a:lstStyle/>
          <a:p>
            <a:pPr/>
            <a:r>
              <a:t>Example #2 (con’t)</a:t>
            </a:r>
          </a:p>
        </p:txBody>
      </p:sp>
      <p:sp>
        <p:nvSpPr>
          <p:cNvPr id="290" name="Rectangle"/>
          <p:cNvSpPr/>
          <p:nvPr/>
        </p:nvSpPr>
        <p:spPr>
          <a:xfrm>
            <a:off x="6177279" y="3251199"/>
            <a:ext cx="6394029" cy="5201923"/>
          </a:xfrm>
          <a:prstGeom prst="rect">
            <a:avLst/>
          </a:prstGeom>
          <a:ln w="38100">
            <a:solidFill>
              <a:srgbClr val="978749"/>
            </a:solidFill>
            <a:prstDash val="sysDash"/>
            <a:bevel/>
          </a:ln>
        </p:spPr>
        <p:txBody>
          <a:bodyPr lIns="50800" tIns="50800" rIns="50800" bIns="50800" anchor="ctr"/>
          <a:lstStyle/>
          <a:p>
            <a:pPr defTabSz="1300480">
              <a:defRPr>
                <a:solidFill>
                  <a:srgbClr val="FFFFFF"/>
                </a:solidFill>
                <a:latin typeface="Constantia"/>
                <a:ea typeface="Constantia"/>
                <a:cs typeface="Constantia"/>
                <a:sym typeface="Constantia"/>
              </a:defRPr>
            </a:pPr>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2" name="Example #2 (con’t)"/>
          <p:cNvSpPr txBox="1"/>
          <p:nvPr>
            <p:ph type="title"/>
          </p:nvPr>
        </p:nvSpPr>
        <p:spPr>
          <a:prstGeom prst="rect">
            <a:avLst/>
          </a:prstGeom>
        </p:spPr>
        <p:txBody>
          <a:bodyPr/>
          <a:lstStyle/>
          <a:p>
            <a:pPr/>
            <a:r>
              <a:t>Example #2 (con’t)</a:t>
            </a:r>
          </a:p>
        </p:txBody>
      </p:sp>
      <p:pic>
        <p:nvPicPr>
          <p:cNvPr id="293" name="image.png" descr="image.png"/>
          <p:cNvPicPr>
            <a:picLocks noChangeAspect="1"/>
          </p:cNvPicPr>
          <p:nvPr/>
        </p:nvPicPr>
        <p:blipFill>
          <a:blip r:embed="rId2">
            <a:extLst/>
          </a:blip>
          <a:stretch>
            <a:fillRect/>
          </a:stretch>
        </p:blipFill>
        <p:spPr>
          <a:xfrm>
            <a:off x="975358" y="3982720"/>
            <a:ext cx="4892607" cy="4018846"/>
          </a:xfrm>
          <a:prstGeom prst="rect">
            <a:avLst/>
          </a:prstGeom>
          <a:ln w="12700">
            <a:miter lim="400000"/>
          </a:ln>
        </p:spPr>
      </p:pic>
      <p:pic>
        <p:nvPicPr>
          <p:cNvPr id="294" name="image.png" descr="image.png"/>
          <p:cNvPicPr>
            <a:picLocks noChangeAspect="1"/>
          </p:cNvPicPr>
          <p:nvPr/>
        </p:nvPicPr>
        <p:blipFill>
          <a:blip r:embed="rId3">
            <a:extLst/>
          </a:blip>
          <a:stretch>
            <a:fillRect/>
          </a:stretch>
        </p:blipFill>
        <p:spPr>
          <a:xfrm>
            <a:off x="8453118" y="4208496"/>
            <a:ext cx="3646313" cy="3919504"/>
          </a:xfrm>
          <a:prstGeom prst="rect">
            <a:avLst/>
          </a:prstGeom>
          <a:ln w="12700">
            <a:miter lim="400000"/>
          </a:ln>
        </p:spPr>
      </p:pic>
      <p:sp>
        <p:nvSpPr>
          <p:cNvPr id="295" name="Arrow"/>
          <p:cNvSpPr/>
          <p:nvPr/>
        </p:nvSpPr>
        <p:spPr>
          <a:xfrm>
            <a:off x="6394025" y="6150185"/>
            <a:ext cx="1625602" cy="433495"/>
          </a:xfrm>
          <a:prstGeom prst="rightArrow">
            <a:avLst>
              <a:gd name="adj1" fmla="val 50000"/>
              <a:gd name="adj2" fmla="val 50000"/>
            </a:avLst>
          </a:prstGeom>
          <a:solidFill>
            <a:srgbClr val="CEB966"/>
          </a:solidFill>
          <a:ln w="25400">
            <a:solidFill>
              <a:srgbClr val="978749"/>
            </a:solidFill>
          </a:ln>
        </p:spPr>
        <p:txBody>
          <a:bodyPr lIns="50800" tIns="50800" rIns="50800" bIns="50800" anchor="ctr"/>
          <a:lstStyle/>
          <a:p>
            <a:pPr defTabSz="1300480">
              <a:defRPr>
                <a:solidFill>
                  <a:srgbClr val="FFFFFF"/>
                </a:solidFill>
                <a:latin typeface="Constantia"/>
                <a:ea typeface="Constantia"/>
                <a:cs typeface="Constantia"/>
                <a:sym typeface="Constantia"/>
              </a:defRPr>
            </a:pPr>
          </a:p>
        </p:txBody>
      </p:sp>
      <p:sp>
        <p:nvSpPr>
          <p:cNvPr id="296" name="Find Req to obtain a Norton equivalent circuit"/>
          <p:cNvSpPr txBox="1"/>
          <p:nvPr/>
        </p:nvSpPr>
        <p:spPr>
          <a:xfrm>
            <a:off x="1625599" y="2926078"/>
            <a:ext cx="9961819" cy="765047"/>
          </a:xfrm>
          <a:prstGeom prst="rect">
            <a:avLst/>
          </a:prstGeom>
          <a:ln w="12700">
            <a:miter lim="400000"/>
          </a:ln>
          <a:extLst>
            <a:ext uri="{C572A759-6A51-4108-AA02-DFA0A04FC94B}">
              <ma14:wrappingTextBoxFlag xmlns:ma14="http://schemas.microsoft.com/office/mac/drawingml/2011/main" val="1"/>
            </a:ext>
          </a:extLst>
        </p:spPr>
        <p:txBody>
          <a:bodyPr wrap="none" lIns="65022" tIns="65022" rIns="65022" bIns="65022">
            <a:spAutoFit/>
          </a:bodyPr>
          <a:lstStyle>
            <a:lvl1pPr algn="l" defTabSz="1300480">
              <a:defRPr sz="3800">
                <a:latin typeface="Constantia"/>
                <a:ea typeface="Constantia"/>
                <a:cs typeface="Constantia"/>
                <a:sym typeface="Constantia"/>
              </a:defRPr>
            </a:lvl1pPr>
          </a:lstStyle>
          <a:p>
            <a:pPr/>
            <a:r>
              <a:t>Find Req to obtain a Norton equivalent circuit</a:t>
            </a:r>
          </a:p>
        </p:txBody>
      </p:sp>
      <p:sp>
        <p:nvSpPr>
          <p:cNvPr id="297" name="Arrow"/>
          <p:cNvSpPr/>
          <p:nvPr/>
        </p:nvSpPr>
        <p:spPr>
          <a:xfrm>
            <a:off x="6394025" y="6150185"/>
            <a:ext cx="1625602" cy="433495"/>
          </a:xfrm>
          <a:prstGeom prst="rightArrow">
            <a:avLst>
              <a:gd name="adj1" fmla="val 50000"/>
              <a:gd name="adj2" fmla="val 50000"/>
            </a:avLst>
          </a:prstGeom>
          <a:solidFill>
            <a:srgbClr val="CEB966"/>
          </a:solidFill>
          <a:ln w="25400">
            <a:solidFill>
              <a:srgbClr val="978749"/>
            </a:solidFill>
          </a:ln>
        </p:spPr>
        <p:txBody>
          <a:bodyPr lIns="50800" tIns="50800" rIns="50800" bIns="50800" anchor="ctr"/>
          <a:lstStyle/>
          <a:p>
            <a:pPr defTabSz="1300480">
              <a:defRPr>
                <a:solidFill>
                  <a:srgbClr val="FFFFFF"/>
                </a:solidFill>
                <a:latin typeface="Constantia"/>
                <a:ea typeface="Constantia"/>
                <a:cs typeface="Constantia"/>
                <a:sym typeface="Constantia"/>
              </a:defRPr>
            </a:pPr>
          </a:p>
        </p:txBody>
      </p:sp>
      <p:pic>
        <p:nvPicPr>
          <p:cNvPr id="298" name="image.png" descr="image.png"/>
          <p:cNvPicPr>
            <a:picLocks noChangeAspect="1"/>
          </p:cNvPicPr>
          <p:nvPr/>
        </p:nvPicPr>
        <p:blipFill>
          <a:blip r:embed="rId4">
            <a:extLst/>
          </a:blip>
          <a:stretch>
            <a:fillRect/>
          </a:stretch>
        </p:blipFill>
        <p:spPr>
          <a:xfrm>
            <a:off x="758612" y="4009812"/>
            <a:ext cx="5418670" cy="4136251"/>
          </a:xfrm>
          <a:prstGeom prst="rect">
            <a:avLst/>
          </a:prstGeom>
          <a:ln w="12700">
            <a:miter lim="400000"/>
          </a:ln>
        </p:spPr>
      </p:pic>
      <p:pic>
        <p:nvPicPr>
          <p:cNvPr id="299" name="image.png" descr="image.png"/>
          <p:cNvPicPr>
            <a:picLocks noChangeAspect="1"/>
          </p:cNvPicPr>
          <p:nvPr/>
        </p:nvPicPr>
        <p:blipFill>
          <a:blip r:embed="rId5">
            <a:extLst/>
          </a:blip>
          <a:stretch>
            <a:fillRect/>
          </a:stretch>
        </p:blipFill>
        <p:spPr>
          <a:xfrm>
            <a:off x="8344745" y="4009812"/>
            <a:ext cx="3942082" cy="4267203"/>
          </a:xfrm>
          <a:prstGeom prst="rect">
            <a:avLst/>
          </a:prstGeom>
          <a:ln w="12700">
            <a:miter lim="400000"/>
          </a:ln>
        </p:spPr>
      </p:pic>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1" name="Example #2 (con’t)"/>
          <p:cNvSpPr txBox="1"/>
          <p:nvPr>
            <p:ph type="title"/>
          </p:nvPr>
        </p:nvSpPr>
        <p:spPr>
          <a:prstGeom prst="rect">
            <a:avLst/>
          </a:prstGeom>
        </p:spPr>
        <p:txBody>
          <a:bodyPr/>
          <a:lstStyle/>
          <a:p>
            <a:pPr/>
            <a:r>
              <a:t>Example #2 (con’t)</a:t>
            </a:r>
          </a:p>
        </p:txBody>
      </p:sp>
      <p:sp>
        <p:nvSpPr>
          <p:cNvPr id="302" name="RTh = 3Ω…"/>
          <p:cNvSpPr txBox="1"/>
          <p:nvPr/>
        </p:nvSpPr>
        <p:spPr>
          <a:xfrm>
            <a:off x="4443305" y="3540195"/>
            <a:ext cx="4009816" cy="1394964"/>
          </a:xfrm>
          <a:prstGeom prst="rect">
            <a:avLst/>
          </a:prstGeom>
          <a:ln w="12700">
            <a:miter lim="400000"/>
          </a:ln>
          <a:extLst>
            <a:ext uri="{C572A759-6A51-4108-AA02-DFA0A04FC94B}">
              <ma14:wrappingTextBoxFlag xmlns:ma14="http://schemas.microsoft.com/office/mac/drawingml/2011/main" val="1"/>
            </a:ext>
          </a:extLst>
        </p:spPr>
        <p:txBody>
          <a:bodyPr lIns="65022" tIns="65022" rIns="65022" bIns="65022">
            <a:spAutoFit/>
          </a:bodyPr>
          <a:lstStyle/>
          <a:p>
            <a:pPr defTabSz="1300480">
              <a:defRPr sz="2800">
                <a:latin typeface="Calibri"/>
                <a:ea typeface="Calibri"/>
                <a:cs typeface="Calibri"/>
                <a:sym typeface="Calibri"/>
              </a:defRPr>
            </a:pPr>
            <a:r>
              <a:t>R</a:t>
            </a:r>
            <a:r>
              <a:rPr baseline="-19571"/>
              <a:t>Th</a:t>
            </a:r>
            <a:r>
              <a:t> = 3</a:t>
            </a:r>
            <a:r>
              <a:rPr>
                <a:latin typeface="Symbol"/>
                <a:ea typeface="Symbol"/>
                <a:cs typeface="Symbol"/>
                <a:sym typeface="Symbol"/>
              </a:rPr>
              <a:t>W</a:t>
            </a:r>
          </a:p>
          <a:p>
            <a:pPr defTabSz="1300480">
              <a:defRPr sz="2800">
                <a:latin typeface="Symbol"/>
                <a:ea typeface="Symbol"/>
                <a:cs typeface="Symbol"/>
                <a:sym typeface="Symbol"/>
              </a:defRPr>
            </a:pPr>
          </a:p>
          <a:p>
            <a:pPr defTabSz="1300480">
              <a:defRPr sz="2800">
                <a:latin typeface="Calibri"/>
                <a:ea typeface="Calibri"/>
                <a:cs typeface="Calibri"/>
                <a:sym typeface="Calibri"/>
              </a:defRPr>
            </a:pPr>
            <a:r>
              <a:t>V</a:t>
            </a:r>
            <a:r>
              <a:rPr baseline="-19571"/>
              <a:t>Th</a:t>
            </a:r>
            <a:r>
              <a:t> = 0.1A (3</a:t>
            </a:r>
            <a:r>
              <a:rPr>
                <a:latin typeface="Symbol"/>
                <a:ea typeface="Symbol"/>
                <a:cs typeface="Symbol"/>
                <a:sym typeface="Symbol"/>
              </a:rPr>
              <a:t>W</a:t>
            </a:r>
            <a:r>
              <a:t>) = 0.3V</a:t>
            </a:r>
          </a:p>
        </p:txBody>
      </p:sp>
      <p:sp>
        <p:nvSpPr>
          <p:cNvPr id="303" name="Arrow"/>
          <p:cNvSpPr/>
          <p:nvPr/>
        </p:nvSpPr>
        <p:spPr>
          <a:xfrm>
            <a:off x="5852159" y="6502400"/>
            <a:ext cx="1625602" cy="433494"/>
          </a:xfrm>
          <a:prstGeom prst="rightArrow">
            <a:avLst>
              <a:gd name="adj1" fmla="val 50000"/>
              <a:gd name="adj2" fmla="val 50000"/>
            </a:avLst>
          </a:prstGeom>
          <a:solidFill>
            <a:srgbClr val="CEB966"/>
          </a:solidFill>
          <a:ln w="25400">
            <a:solidFill>
              <a:srgbClr val="978749"/>
            </a:solidFill>
          </a:ln>
        </p:spPr>
        <p:txBody>
          <a:bodyPr lIns="50800" tIns="50800" rIns="50800" bIns="50800" anchor="ctr"/>
          <a:lstStyle/>
          <a:p>
            <a:pPr defTabSz="1300480">
              <a:defRPr>
                <a:solidFill>
                  <a:srgbClr val="FFFFFF"/>
                </a:solidFill>
                <a:latin typeface="Constantia"/>
                <a:ea typeface="Constantia"/>
                <a:cs typeface="Constantia"/>
                <a:sym typeface="Constantia"/>
              </a:defRPr>
            </a:pPr>
          </a:p>
        </p:txBody>
      </p:sp>
      <p:sp>
        <p:nvSpPr>
          <p:cNvPr id="304" name="Current Source to Voltage Source"/>
          <p:cNvSpPr txBox="1"/>
          <p:nvPr/>
        </p:nvSpPr>
        <p:spPr>
          <a:xfrm>
            <a:off x="2275839" y="2709333"/>
            <a:ext cx="7189462" cy="765047"/>
          </a:xfrm>
          <a:prstGeom prst="rect">
            <a:avLst/>
          </a:prstGeom>
          <a:ln w="12700">
            <a:miter lim="400000"/>
          </a:ln>
          <a:extLst>
            <a:ext uri="{C572A759-6A51-4108-AA02-DFA0A04FC94B}">
              <ma14:wrappingTextBoxFlag xmlns:ma14="http://schemas.microsoft.com/office/mac/drawingml/2011/main" val="1"/>
            </a:ext>
          </a:extLst>
        </p:spPr>
        <p:txBody>
          <a:bodyPr wrap="none" lIns="65022" tIns="65022" rIns="65022" bIns="65022">
            <a:spAutoFit/>
          </a:bodyPr>
          <a:lstStyle>
            <a:lvl1pPr algn="l" defTabSz="1300480">
              <a:defRPr sz="3800">
                <a:latin typeface="Constantia"/>
                <a:ea typeface="Constantia"/>
                <a:cs typeface="Constantia"/>
                <a:sym typeface="Constantia"/>
              </a:defRPr>
            </a:lvl1pPr>
          </a:lstStyle>
          <a:p>
            <a:pPr/>
            <a:r>
              <a:t>Current Source to Voltage Source</a:t>
            </a:r>
          </a:p>
        </p:txBody>
      </p:sp>
      <p:sp>
        <p:nvSpPr>
          <p:cNvPr id="305" name="Arrow"/>
          <p:cNvSpPr/>
          <p:nvPr/>
        </p:nvSpPr>
        <p:spPr>
          <a:xfrm>
            <a:off x="5852159" y="6502400"/>
            <a:ext cx="1625602" cy="433494"/>
          </a:xfrm>
          <a:prstGeom prst="rightArrow">
            <a:avLst>
              <a:gd name="adj1" fmla="val 50000"/>
              <a:gd name="adj2" fmla="val 50000"/>
            </a:avLst>
          </a:prstGeom>
          <a:solidFill>
            <a:srgbClr val="CEB966"/>
          </a:solidFill>
          <a:ln w="25400">
            <a:solidFill>
              <a:srgbClr val="978749"/>
            </a:solidFill>
          </a:ln>
        </p:spPr>
        <p:txBody>
          <a:bodyPr lIns="50800" tIns="50800" rIns="50800" bIns="50800" anchor="ctr"/>
          <a:lstStyle/>
          <a:p>
            <a:pPr defTabSz="1300480">
              <a:defRPr>
                <a:solidFill>
                  <a:srgbClr val="FFFFFF"/>
                </a:solidFill>
                <a:latin typeface="Constantia"/>
                <a:ea typeface="Constantia"/>
                <a:cs typeface="Constantia"/>
                <a:sym typeface="Constantia"/>
              </a:defRPr>
            </a:pPr>
          </a:p>
        </p:txBody>
      </p:sp>
      <p:pic>
        <p:nvPicPr>
          <p:cNvPr id="306" name="image.png" descr="image.png"/>
          <p:cNvPicPr>
            <a:picLocks noChangeAspect="1"/>
          </p:cNvPicPr>
          <p:nvPr/>
        </p:nvPicPr>
        <p:blipFill>
          <a:blip r:embed="rId2">
            <a:extLst/>
          </a:blip>
          <a:stretch>
            <a:fillRect/>
          </a:stretch>
        </p:blipFill>
        <p:spPr>
          <a:xfrm>
            <a:off x="866986" y="4623929"/>
            <a:ext cx="3793069" cy="4106899"/>
          </a:xfrm>
          <a:prstGeom prst="rect">
            <a:avLst/>
          </a:prstGeom>
          <a:ln w="12700">
            <a:miter lim="400000"/>
          </a:ln>
        </p:spPr>
      </p:pic>
      <p:pic>
        <p:nvPicPr>
          <p:cNvPr id="307" name="image.png" descr="image.png"/>
          <p:cNvPicPr>
            <a:picLocks noChangeAspect="1"/>
          </p:cNvPicPr>
          <p:nvPr/>
        </p:nvPicPr>
        <p:blipFill>
          <a:blip r:embed="rId3">
            <a:extLst/>
          </a:blip>
          <a:stretch>
            <a:fillRect/>
          </a:stretch>
        </p:blipFill>
        <p:spPr>
          <a:xfrm>
            <a:off x="8886613" y="4334933"/>
            <a:ext cx="3020909" cy="4714242"/>
          </a:xfrm>
          <a:prstGeom prst="rect">
            <a:avLst/>
          </a:prstGeom>
          <a:ln w="12700">
            <a:miter lim="400000"/>
          </a:ln>
        </p:spPr>
      </p:pic>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9" name="Example #2 (con’t)"/>
          <p:cNvSpPr txBox="1"/>
          <p:nvPr>
            <p:ph type="title"/>
          </p:nvPr>
        </p:nvSpPr>
        <p:spPr>
          <a:prstGeom prst="rect">
            <a:avLst/>
          </a:prstGeom>
        </p:spPr>
        <p:txBody>
          <a:bodyPr/>
          <a:lstStyle/>
          <a:p>
            <a:pPr/>
            <a:r>
              <a:t>Example #2 (con’t)</a:t>
            </a:r>
          </a:p>
        </p:txBody>
      </p:sp>
      <p:pic>
        <p:nvPicPr>
          <p:cNvPr id="310" name="image.png" descr="image.png"/>
          <p:cNvPicPr>
            <a:picLocks noChangeAspect="1"/>
          </p:cNvPicPr>
          <p:nvPr/>
        </p:nvPicPr>
        <p:blipFill>
          <a:blip r:embed="rId2">
            <a:extLst/>
          </a:blip>
          <a:stretch>
            <a:fillRect/>
          </a:stretch>
        </p:blipFill>
        <p:spPr>
          <a:xfrm>
            <a:off x="810541" y="2752231"/>
            <a:ext cx="11383718" cy="6242757"/>
          </a:xfrm>
          <a:prstGeom prst="rect">
            <a:avLst/>
          </a:prstGeom>
          <a:ln w="12700">
            <a:miter lim="400000"/>
          </a:ln>
        </p:spPr>
      </p:pic>
      <p:sp>
        <p:nvSpPr>
          <p:cNvPr id="311" name="Rectangle"/>
          <p:cNvSpPr/>
          <p:nvPr/>
        </p:nvSpPr>
        <p:spPr>
          <a:xfrm>
            <a:off x="433492" y="3251199"/>
            <a:ext cx="3793070" cy="6068909"/>
          </a:xfrm>
          <a:prstGeom prst="rect">
            <a:avLst/>
          </a:prstGeom>
          <a:ln w="25400" cap="rnd">
            <a:solidFill>
              <a:srgbClr val="FF0000"/>
            </a:solidFill>
            <a:prstDash val="sysDash"/>
          </a:ln>
        </p:spPr>
        <p:txBody>
          <a:bodyPr lIns="50800" tIns="50800" rIns="50800" bIns="50800" anchor="ctr"/>
          <a:lstStyle/>
          <a:p>
            <a:pPr defTabSz="1300480">
              <a:defRPr>
                <a:solidFill>
                  <a:srgbClr val="FFFFFF"/>
                </a:solidFill>
                <a:latin typeface="Constantia"/>
                <a:ea typeface="Constantia"/>
                <a:cs typeface="Constantia"/>
                <a:sym typeface="Constantia"/>
              </a:defRPr>
            </a:pPr>
          </a:p>
        </p:txBody>
      </p:sp>
      <p:sp>
        <p:nvSpPr>
          <p:cNvPr id="312" name="0.3V"/>
          <p:cNvSpPr txBox="1"/>
          <p:nvPr/>
        </p:nvSpPr>
        <p:spPr>
          <a:xfrm>
            <a:off x="8994985" y="6610773"/>
            <a:ext cx="975362" cy="599947"/>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65022" tIns="65022" rIns="65022" bIns="65022">
            <a:spAutoFit/>
          </a:bodyPr>
          <a:lstStyle>
            <a:lvl1pPr algn="l" defTabSz="1300480">
              <a:defRPr sz="2800">
                <a:solidFill>
                  <a:srgbClr val="4F4D52"/>
                </a:solidFill>
                <a:latin typeface="Constantia"/>
                <a:ea typeface="Constantia"/>
                <a:cs typeface="Constantia"/>
                <a:sym typeface="Constantia"/>
              </a:defRPr>
            </a:lvl1pPr>
          </a:lstStyle>
          <a:p>
            <a:pPr/>
            <a:r>
              <a:t>0.3V</a:t>
            </a:r>
          </a:p>
        </p:txBody>
      </p:sp>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4" name="Example #2 (con’t)"/>
          <p:cNvSpPr txBox="1"/>
          <p:nvPr>
            <p:ph type="title"/>
          </p:nvPr>
        </p:nvSpPr>
        <p:spPr>
          <a:prstGeom prst="rect">
            <a:avLst/>
          </a:prstGeom>
        </p:spPr>
        <p:txBody>
          <a:bodyPr/>
          <a:lstStyle/>
          <a:p>
            <a:pPr/>
            <a:r>
              <a:t>Example #2 (con’t)</a:t>
            </a:r>
          </a:p>
        </p:txBody>
      </p:sp>
      <p:pic>
        <p:nvPicPr>
          <p:cNvPr id="315" name="image.png" descr="image.png"/>
          <p:cNvPicPr>
            <a:picLocks noChangeAspect="1"/>
          </p:cNvPicPr>
          <p:nvPr/>
        </p:nvPicPr>
        <p:blipFill>
          <a:blip r:embed="rId2">
            <a:extLst/>
          </a:blip>
          <a:stretch>
            <a:fillRect/>
          </a:stretch>
        </p:blipFill>
        <p:spPr>
          <a:xfrm>
            <a:off x="2167465" y="4605866"/>
            <a:ext cx="2336802" cy="4009815"/>
          </a:xfrm>
          <a:prstGeom prst="rect">
            <a:avLst/>
          </a:prstGeom>
          <a:ln w="12700">
            <a:miter lim="400000"/>
          </a:ln>
        </p:spPr>
      </p:pic>
      <p:sp>
        <p:nvSpPr>
          <p:cNvPr id="316" name="RTh = 2Ω…"/>
          <p:cNvSpPr txBox="1"/>
          <p:nvPr/>
        </p:nvSpPr>
        <p:spPr>
          <a:xfrm>
            <a:off x="4334932" y="3431821"/>
            <a:ext cx="4009816" cy="1394964"/>
          </a:xfrm>
          <a:prstGeom prst="rect">
            <a:avLst/>
          </a:prstGeom>
          <a:ln w="12700">
            <a:miter lim="400000"/>
          </a:ln>
          <a:extLst>
            <a:ext uri="{C572A759-6A51-4108-AA02-DFA0A04FC94B}">
              <ma14:wrappingTextBoxFlag xmlns:ma14="http://schemas.microsoft.com/office/mac/drawingml/2011/main" val="1"/>
            </a:ext>
          </a:extLst>
        </p:spPr>
        <p:txBody>
          <a:bodyPr lIns="65022" tIns="65022" rIns="65022" bIns="65022">
            <a:spAutoFit/>
          </a:bodyPr>
          <a:lstStyle/>
          <a:p>
            <a:pPr defTabSz="1300480">
              <a:defRPr sz="2800">
                <a:latin typeface="Calibri"/>
                <a:ea typeface="Calibri"/>
                <a:cs typeface="Calibri"/>
                <a:sym typeface="Calibri"/>
              </a:defRPr>
            </a:pPr>
            <a:r>
              <a:t>R</a:t>
            </a:r>
            <a:r>
              <a:rPr baseline="-19571"/>
              <a:t>Th</a:t>
            </a:r>
            <a:r>
              <a:t> = 2</a:t>
            </a:r>
            <a:r>
              <a:rPr>
                <a:latin typeface="Symbol"/>
                <a:ea typeface="Symbol"/>
                <a:cs typeface="Symbol"/>
                <a:sym typeface="Symbol"/>
              </a:rPr>
              <a:t>W</a:t>
            </a:r>
          </a:p>
          <a:p>
            <a:pPr defTabSz="1300480">
              <a:defRPr sz="2800">
                <a:latin typeface="Symbol"/>
                <a:ea typeface="Symbol"/>
                <a:cs typeface="Symbol"/>
                <a:sym typeface="Symbol"/>
              </a:defRPr>
            </a:pPr>
          </a:p>
          <a:p>
            <a:pPr defTabSz="1300480">
              <a:defRPr sz="2800">
                <a:latin typeface="Calibri"/>
                <a:ea typeface="Calibri"/>
                <a:cs typeface="Calibri"/>
                <a:sym typeface="Calibri"/>
              </a:defRPr>
            </a:pPr>
            <a:r>
              <a:t>I</a:t>
            </a:r>
            <a:r>
              <a:rPr baseline="-19571"/>
              <a:t>N</a:t>
            </a:r>
            <a:r>
              <a:t> = 3V/2</a:t>
            </a:r>
            <a:r>
              <a:rPr>
                <a:latin typeface="Symbol"/>
                <a:ea typeface="Symbol"/>
                <a:cs typeface="Symbol"/>
                <a:sym typeface="Symbol"/>
              </a:rPr>
              <a:t>W</a:t>
            </a:r>
            <a:r>
              <a:t> = 1.5A</a:t>
            </a:r>
          </a:p>
        </p:txBody>
      </p:sp>
      <p:sp>
        <p:nvSpPr>
          <p:cNvPr id="317" name="Arrow"/>
          <p:cNvSpPr/>
          <p:nvPr/>
        </p:nvSpPr>
        <p:spPr>
          <a:xfrm>
            <a:off x="5743785" y="6231466"/>
            <a:ext cx="1625602" cy="433495"/>
          </a:xfrm>
          <a:prstGeom prst="rightArrow">
            <a:avLst>
              <a:gd name="adj1" fmla="val 50000"/>
              <a:gd name="adj2" fmla="val 50000"/>
            </a:avLst>
          </a:prstGeom>
          <a:solidFill>
            <a:srgbClr val="CEB966"/>
          </a:solidFill>
          <a:ln w="25400">
            <a:solidFill>
              <a:srgbClr val="978749"/>
            </a:solidFill>
          </a:ln>
        </p:spPr>
        <p:txBody>
          <a:bodyPr lIns="50800" tIns="50800" rIns="50800" bIns="50800" anchor="ctr"/>
          <a:lstStyle/>
          <a:p>
            <a:pPr defTabSz="1300480">
              <a:defRPr>
                <a:solidFill>
                  <a:srgbClr val="FFFFFF"/>
                </a:solidFill>
                <a:latin typeface="Constantia"/>
                <a:ea typeface="Constantia"/>
                <a:cs typeface="Constantia"/>
                <a:sym typeface="Constantia"/>
              </a:defRPr>
            </a:pPr>
          </a:p>
        </p:txBody>
      </p:sp>
      <p:pic>
        <p:nvPicPr>
          <p:cNvPr id="318" name="image.png" descr="image.png"/>
          <p:cNvPicPr>
            <a:picLocks noChangeAspect="1"/>
          </p:cNvPicPr>
          <p:nvPr/>
        </p:nvPicPr>
        <p:blipFill>
          <a:blip r:embed="rId3">
            <a:extLst/>
          </a:blip>
          <a:stretch>
            <a:fillRect/>
          </a:stretch>
        </p:blipFill>
        <p:spPr>
          <a:xfrm>
            <a:off x="7802880" y="4280746"/>
            <a:ext cx="3267006" cy="4389121"/>
          </a:xfrm>
          <a:prstGeom prst="rect">
            <a:avLst/>
          </a:prstGeom>
          <a:ln w="12700">
            <a:miter lim="400000"/>
          </a:ln>
        </p:spPr>
      </p:pic>
      <p:sp>
        <p:nvSpPr>
          <p:cNvPr id="319" name="Voltage Source to Current Source"/>
          <p:cNvSpPr txBox="1"/>
          <p:nvPr/>
        </p:nvSpPr>
        <p:spPr>
          <a:xfrm>
            <a:off x="2492586" y="2709333"/>
            <a:ext cx="7189461" cy="765047"/>
          </a:xfrm>
          <a:prstGeom prst="rect">
            <a:avLst/>
          </a:prstGeom>
          <a:ln w="12700">
            <a:miter lim="400000"/>
          </a:ln>
          <a:extLst>
            <a:ext uri="{C572A759-6A51-4108-AA02-DFA0A04FC94B}">
              <ma14:wrappingTextBoxFlag xmlns:ma14="http://schemas.microsoft.com/office/mac/drawingml/2011/main" val="1"/>
            </a:ext>
          </a:extLst>
        </p:spPr>
        <p:txBody>
          <a:bodyPr wrap="none" lIns="65022" tIns="65022" rIns="65022" bIns="65022">
            <a:spAutoFit/>
          </a:bodyPr>
          <a:lstStyle>
            <a:lvl1pPr algn="l" defTabSz="1300480">
              <a:defRPr sz="3800">
                <a:latin typeface="Constantia"/>
                <a:ea typeface="Constantia"/>
                <a:cs typeface="Constantia"/>
                <a:sym typeface="Constantia"/>
              </a:defRPr>
            </a:lvl1pPr>
          </a:lstStyle>
          <a:p>
            <a:pPr/>
            <a:r>
              <a:t>Voltage Source to Current Source</a:t>
            </a:r>
          </a:p>
        </p:txBody>
      </p:sp>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21" name="image.png" descr="image.png"/>
          <p:cNvPicPr>
            <a:picLocks noChangeAspect="1"/>
          </p:cNvPicPr>
          <p:nvPr/>
        </p:nvPicPr>
        <p:blipFill>
          <a:blip r:embed="rId2">
            <a:extLst/>
          </a:blip>
          <a:stretch>
            <a:fillRect/>
          </a:stretch>
        </p:blipFill>
        <p:spPr>
          <a:xfrm>
            <a:off x="185137" y="3467946"/>
            <a:ext cx="12589372" cy="5926669"/>
          </a:xfrm>
          <a:prstGeom prst="rect">
            <a:avLst/>
          </a:prstGeom>
          <a:ln w="12700">
            <a:miter lim="400000"/>
          </a:ln>
        </p:spPr>
      </p:pic>
      <p:sp>
        <p:nvSpPr>
          <p:cNvPr id="322" name="Rectangle"/>
          <p:cNvSpPr/>
          <p:nvPr/>
        </p:nvSpPr>
        <p:spPr>
          <a:xfrm>
            <a:off x="6935892" y="3467945"/>
            <a:ext cx="5852162" cy="5960536"/>
          </a:xfrm>
          <a:prstGeom prst="rect">
            <a:avLst/>
          </a:prstGeom>
          <a:ln w="25400">
            <a:solidFill>
              <a:srgbClr val="295F71"/>
            </a:solidFill>
            <a:prstDash val="dash"/>
          </a:ln>
        </p:spPr>
        <p:txBody>
          <a:bodyPr lIns="50800" tIns="50800" rIns="50800" bIns="50800" anchor="ctr"/>
          <a:lstStyle/>
          <a:p>
            <a:pPr defTabSz="1300480">
              <a:defRPr>
                <a:solidFill>
                  <a:srgbClr val="FFFFFF"/>
                </a:solidFill>
                <a:latin typeface="Constantia"/>
                <a:ea typeface="Constantia"/>
                <a:cs typeface="Constantia"/>
                <a:sym typeface="Constantia"/>
              </a:defRPr>
            </a:pPr>
          </a:p>
        </p:txBody>
      </p:sp>
      <p:sp>
        <p:nvSpPr>
          <p:cNvPr id="323" name="0.3V"/>
          <p:cNvSpPr txBox="1"/>
          <p:nvPr/>
        </p:nvSpPr>
        <p:spPr>
          <a:xfrm>
            <a:off x="9536852" y="7152640"/>
            <a:ext cx="975362" cy="599947"/>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65022" tIns="65022" rIns="65022" bIns="65022">
            <a:spAutoFit/>
          </a:bodyPr>
          <a:lstStyle>
            <a:lvl1pPr algn="l" defTabSz="1300480">
              <a:defRPr sz="2800">
                <a:solidFill>
                  <a:srgbClr val="4F4D52"/>
                </a:solidFill>
                <a:latin typeface="Constantia"/>
                <a:ea typeface="Constantia"/>
                <a:cs typeface="Constantia"/>
                <a:sym typeface="Constantia"/>
              </a:defRPr>
            </a:lvl1pPr>
          </a:lstStyle>
          <a:p>
            <a:pPr/>
            <a:r>
              <a:t>0.3V</a:t>
            </a:r>
          </a:p>
        </p:txBody>
      </p:sp>
      <p:sp>
        <p:nvSpPr>
          <p:cNvPr id="324" name="Example #2 - Solution 1"/>
          <p:cNvSpPr txBox="1"/>
          <p:nvPr>
            <p:ph type="title"/>
          </p:nvPr>
        </p:nvSpPr>
        <p:spPr>
          <a:prstGeom prst="rect">
            <a:avLst/>
          </a:prstGeom>
        </p:spPr>
        <p:txBody>
          <a:bodyPr/>
          <a:lstStyle>
            <a:lvl1pPr defTabSz="572516">
              <a:defRPr sz="7800"/>
            </a:lvl1pPr>
          </a:lstStyle>
          <a:p>
            <a:pPr/>
            <a:r>
              <a:t>Example #2 - Solution 1</a:t>
            </a:r>
          </a:p>
        </p:txBody>
      </p:sp>
      <p:sp>
        <p:nvSpPr>
          <p:cNvPr id="325" name="Simplify to Minimum Number of Current Sources"/>
          <p:cNvSpPr txBox="1"/>
          <p:nvPr>
            <p:ph type="body" idx="4294967295"/>
          </p:nvPr>
        </p:nvSpPr>
        <p:spPr>
          <a:xfrm>
            <a:off x="650238" y="2752230"/>
            <a:ext cx="11704323" cy="6242758"/>
          </a:xfrm>
          <a:prstGeom prst="rect">
            <a:avLst/>
          </a:prstGeom>
        </p:spPr>
        <p:txBody>
          <a:bodyPr lIns="65022" tIns="65022" rIns="65022" bIns="65022" anchor="t"/>
          <a:lstStyle>
            <a:lvl1pPr marL="370566" indent="-370566">
              <a:spcBef>
                <a:spcPts val="900"/>
              </a:spcBef>
              <a:defRPr sz="3800"/>
            </a:lvl1pPr>
          </a:lstStyle>
          <a:p>
            <a:pPr/>
            <a:r>
              <a:t>Simplify to Minimum Number of Current Sources</a:t>
            </a:r>
          </a:p>
        </p:txBody>
      </p:sp>
    </p:spTree>
  </p:cSld>
  <p:clrMapOvr>
    <a:masterClrMapping/>
  </p:clrMapOvr>
  <p:transition xmlns:p14="http://schemas.microsoft.com/office/powerpoint/2010/main" spd="med" advClick="1"/>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7" name="Example #2 (con’t)"/>
          <p:cNvSpPr txBox="1"/>
          <p:nvPr>
            <p:ph type="title"/>
          </p:nvPr>
        </p:nvSpPr>
        <p:spPr>
          <a:prstGeom prst="rect">
            <a:avLst/>
          </a:prstGeom>
        </p:spPr>
        <p:txBody>
          <a:bodyPr/>
          <a:lstStyle/>
          <a:p>
            <a:pPr/>
            <a:r>
              <a:t>Example #2 (con’t)</a:t>
            </a:r>
          </a:p>
        </p:txBody>
      </p:sp>
      <p:pic>
        <p:nvPicPr>
          <p:cNvPr id="328" name="image.png" descr="image.png"/>
          <p:cNvPicPr>
            <a:picLocks noChangeAspect="1"/>
          </p:cNvPicPr>
          <p:nvPr/>
        </p:nvPicPr>
        <p:blipFill>
          <a:blip r:embed="rId2">
            <a:extLst/>
          </a:blip>
          <a:stretch>
            <a:fillRect/>
          </a:stretch>
        </p:blipFill>
        <p:spPr>
          <a:xfrm>
            <a:off x="1408852" y="4260425"/>
            <a:ext cx="4161087" cy="4362029"/>
          </a:xfrm>
          <a:prstGeom prst="rect">
            <a:avLst/>
          </a:prstGeom>
          <a:ln w="12700">
            <a:miter lim="400000"/>
          </a:ln>
        </p:spPr>
      </p:pic>
      <p:sp>
        <p:nvSpPr>
          <p:cNvPr id="329" name="Arrow"/>
          <p:cNvSpPr/>
          <p:nvPr/>
        </p:nvSpPr>
        <p:spPr>
          <a:xfrm>
            <a:off x="5852159" y="6319520"/>
            <a:ext cx="1625602" cy="433495"/>
          </a:xfrm>
          <a:prstGeom prst="rightArrow">
            <a:avLst>
              <a:gd name="adj1" fmla="val 50000"/>
              <a:gd name="adj2" fmla="val 50000"/>
            </a:avLst>
          </a:prstGeom>
          <a:solidFill>
            <a:srgbClr val="CEB966"/>
          </a:solidFill>
          <a:ln w="25400">
            <a:solidFill>
              <a:srgbClr val="978749"/>
            </a:solidFill>
          </a:ln>
        </p:spPr>
        <p:txBody>
          <a:bodyPr lIns="50800" tIns="50800" rIns="50800" bIns="50800" anchor="ctr"/>
          <a:lstStyle/>
          <a:p>
            <a:pPr defTabSz="1300480">
              <a:defRPr>
                <a:solidFill>
                  <a:srgbClr val="FFFFFF"/>
                </a:solidFill>
                <a:latin typeface="Constantia"/>
                <a:ea typeface="Constantia"/>
                <a:cs typeface="Constantia"/>
                <a:sym typeface="Constantia"/>
              </a:defRPr>
            </a:pPr>
          </a:p>
        </p:txBody>
      </p:sp>
      <p:sp>
        <p:nvSpPr>
          <p:cNvPr id="330" name="RTh = 6Ω…"/>
          <p:cNvSpPr txBox="1"/>
          <p:nvPr/>
        </p:nvSpPr>
        <p:spPr>
          <a:xfrm>
            <a:off x="4443305" y="3323447"/>
            <a:ext cx="4009816" cy="1394964"/>
          </a:xfrm>
          <a:prstGeom prst="rect">
            <a:avLst/>
          </a:prstGeom>
          <a:ln w="12700">
            <a:miter lim="400000"/>
          </a:ln>
          <a:extLst>
            <a:ext uri="{C572A759-6A51-4108-AA02-DFA0A04FC94B}">
              <ma14:wrappingTextBoxFlag xmlns:ma14="http://schemas.microsoft.com/office/mac/drawingml/2011/main" val="1"/>
            </a:ext>
          </a:extLst>
        </p:spPr>
        <p:txBody>
          <a:bodyPr lIns="65022" tIns="65022" rIns="65022" bIns="65022">
            <a:spAutoFit/>
          </a:bodyPr>
          <a:lstStyle/>
          <a:p>
            <a:pPr defTabSz="1300480">
              <a:defRPr sz="2800">
                <a:latin typeface="Calibri"/>
                <a:ea typeface="Calibri"/>
                <a:cs typeface="Calibri"/>
                <a:sym typeface="Calibri"/>
              </a:defRPr>
            </a:pPr>
            <a:r>
              <a:t>R</a:t>
            </a:r>
            <a:r>
              <a:rPr baseline="-19571"/>
              <a:t>Th</a:t>
            </a:r>
            <a:r>
              <a:t> = 6</a:t>
            </a:r>
            <a:r>
              <a:rPr>
                <a:latin typeface="Symbol"/>
                <a:ea typeface="Symbol"/>
                <a:cs typeface="Symbol"/>
                <a:sym typeface="Symbol"/>
              </a:rPr>
              <a:t>W</a:t>
            </a:r>
          </a:p>
          <a:p>
            <a:pPr defTabSz="1300480">
              <a:defRPr sz="2800">
                <a:latin typeface="Symbol"/>
                <a:ea typeface="Symbol"/>
                <a:cs typeface="Symbol"/>
                <a:sym typeface="Symbol"/>
              </a:defRPr>
            </a:pPr>
          </a:p>
          <a:p>
            <a:pPr defTabSz="1300480">
              <a:defRPr sz="2800">
                <a:latin typeface="Calibri"/>
                <a:ea typeface="Calibri"/>
                <a:cs typeface="Calibri"/>
                <a:sym typeface="Calibri"/>
              </a:defRPr>
            </a:pPr>
            <a:r>
              <a:t>I</a:t>
            </a:r>
            <a:r>
              <a:rPr baseline="-19571"/>
              <a:t>N</a:t>
            </a:r>
            <a:r>
              <a:t> = 0.3V/6</a:t>
            </a:r>
            <a:r>
              <a:rPr>
                <a:latin typeface="Symbol"/>
                <a:ea typeface="Symbol"/>
                <a:cs typeface="Symbol"/>
                <a:sym typeface="Symbol"/>
              </a:rPr>
              <a:t>W</a:t>
            </a:r>
            <a:r>
              <a:t> = 50.0mA</a:t>
            </a:r>
          </a:p>
        </p:txBody>
      </p:sp>
      <p:sp>
        <p:nvSpPr>
          <p:cNvPr id="331" name="0.3V"/>
          <p:cNvSpPr txBox="1"/>
          <p:nvPr/>
        </p:nvSpPr>
        <p:spPr>
          <a:xfrm>
            <a:off x="2709333" y="7073617"/>
            <a:ext cx="975362" cy="434847"/>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65022" tIns="65022" rIns="65022" bIns="65022">
            <a:spAutoFit/>
          </a:bodyPr>
          <a:lstStyle>
            <a:lvl1pPr algn="r" defTabSz="1300480">
              <a:defRPr b="1" sz="1800">
                <a:solidFill>
                  <a:srgbClr val="4F4D52"/>
                </a:solidFill>
                <a:latin typeface="Constantia"/>
                <a:ea typeface="Constantia"/>
                <a:cs typeface="Constantia"/>
                <a:sym typeface="Constantia"/>
              </a:defRPr>
            </a:lvl1pPr>
          </a:lstStyle>
          <a:p>
            <a:pPr/>
            <a:r>
              <a:t>0.3V</a:t>
            </a:r>
          </a:p>
        </p:txBody>
      </p:sp>
      <p:pic>
        <p:nvPicPr>
          <p:cNvPr id="332" name="image.png" descr="image.png"/>
          <p:cNvPicPr>
            <a:picLocks noChangeAspect="1"/>
          </p:cNvPicPr>
          <p:nvPr/>
        </p:nvPicPr>
        <p:blipFill>
          <a:blip r:embed="rId3">
            <a:extLst/>
          </a:blip>
          <a:stretch>
            <a:fillRect/>
          </a:stretch>
        </p:blipFill>
        <p:spPr>
          <a:xfrm>
            <a:off x="8344745" y="4693920"/>
            <a:ext cx="3481495" cy="3975947"/>
          </a:xfrm>
          <a:prstGeom prst="rect">
            <a:avLst/>
          </a:prstGeom>
          <a:ln w="12700">
            <a:miter lim="400000"/>
          </a:ln>
        </p:spPr>
      </p:pic>
      <p:sp>
        <p:nvSpPr>
          <p:cNvPr id="333" name="Voltage Source to Current Source"/>
          <p:cNvSpPr txBox="1"/>
          <p:nvPr/>
        </p:nvSpPr>
        <p:spPr>
          <a:xfrm>
            <a:off x="2817705" y="2600960"/>
            <a:ext cx="7189462" cy="765047"/>
          </a:xfrm>
          <a:prstGeom prst="rect">
            <a:avLst/>
          </a:prstGeom>
          <a:ln w="12700">
            <a:miter lim="400000"/>
          </a:ln>
          <a:extLst>
            <a:ext uri="{C572A759-6A51-4108-AA02-DFA0A04FC94B}">
              <ma14:wrappingTextBoxFlag xmlns:ma14="http://schemas.microsoft.com/office/mac/drawingml/2011/main" val="1"/>
            </a:ext>
          </a:extLst>
        </p:spPr>
        <p:txBody>
          <a:bodyPr wrap="none" lIns="65022" tIns="65022" rIns="65022" bIns="65022">
            <a:spAutoFit/>
          </a:bodyPr>
          <a:lstStyle>
            <a:lvl1pPr algn="l" defTabSz="1300480">
              <a:defRPr sz="3800">
                <a:latin typeface="Constantia"/>
                <a:ea typeface="Constantia"/>
                <a:cs typeface="Constantia"/>
                <a:sym typeface="Constantia"/>
              </a:defRPr>
            </a:lvl1pPr>
          </a:lstStyle>
          <a:p>
            <a:pPr/>
            <a:r>
              <a:t>Voltage Source to Current Source</a:t>
            </a:r>
          </a:p>
        </p:txBody>
      </p:sp>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5" name="Example #2 (con’t)"/>
          <p:cNvSpPr txBox="1"/>
          <p:nvPr>
            <p:ph type="title"/>
          </p:nvPr>
        </p:nvSpPr>
        <p:spPr>
          <a:prstGeom prst="rect">
            <a:avLst/>
          </a:prstGeom>
        </p:spPr>
        <p:txBody>
          <a:bodyPr/>
          <a:lstStyle/>
          <a:p>
            <a:pPr/>
            <a:r>
              <a:t>Example #2 (con’t)</a:t>
            </a:r>
          </a:p>
        </p:txBody>
      </p:sp>
      <p:pic>
        <p:nvPicPr>
          <p:cNvPr id="336" name="image.png" descr="image.png"/>
          <p:cNvPicPr>
            <a:picLocks noChangeAspect="1"/>
          </p:cNvPicPr>
          <p:nvPr/>
        </p:nvPicPr>
        <p:blipFill>
          <a:blip r:embed="rId2">
            <a:extLst/>
          </a:blip>
          <a:stretch>
            <a:fillRect/>
          </a:stretch>
        </p:blipFill>
        <p:spPr>
          <a:xfrm>
            <a:off x="650238" y="3208302"/>
            <a:ext cx="11704324" cy="5330615"/>
          </a:xfrm>
          <a:prstGeom prst="rect">
            <a:avLst/>
          </a:prstGeom>
          <a:ln w="12700">
            <a:miter lim="400000"/>
          </a:ln>
        </p:spPr>
      </p:pic>
    </p:spTree>
  </p:cSld>
  <p:clrMapOvr>
    <a:masterClrMapping/>
  </p:clrMapOvr>
  <p:transition xmlns:p14="http://schemas.microsoft.com/office/powerpoint/2010/main" spd="med" advClick="1"/>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8" name="Example #2 (con’t)"/>
          <p:cNvSpPr txBox="1"/>
          <p:nvPr>
            <p:ph type="title"/>
          </p:nvPr>
        </p:nvSpPr>
        <p:spPr>
          <a:prstGeom prst="rect">
            <a:avLst/>
          </a:prstGeom>
        </p:spPr>
        <p:txBody>
          <a:bodyPr/>
          <a:lstStyle/>
          <a:p>
            <a:pPr/>
            <a:r>
              <a:t>Example #2 (con’t)</a:t>
            </a:r>
          </a:p>
        </p:txBody>
      </p:sp>
      <p:pic>
        <p:nvPicPr>
          <p:cNvPr id="339" name="image.png" descr="image.png"/>
          <p:cNvPicPr>
            <a:picLocks noChangeAspect="1"/>
          </p:cNvPicPr>
          <p:nvPr/>
        </p:nvPicPr>
        <p:blipFill>
          <a:blip r:embed="rId2">
            <a:extLst/>
          </a:blip>
          <a:stretch>
            <a:fillRect/>
          </a:stretch>
        </p:blipFill>
        <p:spPr>
          <a:xfrm>
            <a:off x="2817705" y="3874346"/>
            <a:ext cx="7044269" cy="5770882"/>
          </a:xfrm>
          <a:prstGeom prst="rect">
            <a:avLst/>
          </a:prstGeom>
          <a:ln w="12700">
            <a:miter lim="400000"/>
          </a:ln>
        </p:spPr>
      </p:pic>
      <p:sp>
        <p:nvSpPr>
          <p:cNvPr id="340" name="Current Sources in Parallel Add"/>
          <p:cNvSpPr txBox="1"/>
          <p:nvPr/>
        </p:nvSpPr>
        <p:spPr>
          <a:xfrm>
            <a:off x="2926079" y="2926078"/>
            <a:ext cx="6926482" cy="765047"/>
          </a:xfrm>
          <a:prstGeom prst="rect">
            <a:avLst/>
          </a:prstGeom>
          <a:ln w="12700">
            <a:miter lim="400000"/>
          </a:ln>
          <a:extLst>
            <a:ext uri="{C572A759-6A51-4108-AA02-DFA0A04FC94B}">
              <ma14:wrappingTextBoxFlag xmlns:ma14="http://schemas.microsoft.com/office/mac/drawingml/2011/main" val="1"/>
            </a:ext>
          </a:extLst>
        </p:spPr>
        <p:txBody>
          <a:bodyPr wrap="none" lIns="65022" tIns="65022" rIns="65022" bIns="65022">
            <a:spAutoFit/>
          </a:bodyPr>
          <a:lstStyle>
            <a:lvl1pPr algn="l" defTabSz="1300480">
              <a:defRPr sz="3800">
                <a:latin typeface="Constantia"/>
                <a:ea typeface="Constantia"/>
                <a:cs typeface="Constantia"/>
                <a:sym typeface="Constantia"/>
              </a:defRPr>
            </a:lvl1pPr>
          </a:lstStyle>
          <a:p>
            <a:pPr/>
            <a:r>
              <a:t>Current Sources in Parallel Add</a:t>
            </a:r>
          </a:p>
        </p:txBody>
      </p:sp>
    </p:spTree>
  </p:cSld>
  <p:clrMapOvr>
    <a:masterClrMapping/>
  </p:clrMapOvr>
  <p:transition xmlns:p14="http://schemas.microsoft.com/office/powerpoint/2010/main" spd="med" advClick="1"/>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2" name="Example #2 (con’t)"/>
          <p:cNvSpPr txBox="1"/>
          <p:nvPr>
            <p:ph type="title"/>
          </p:nvPr>
        </p:nvSpPr>
        <p:spPr>
          <a:prstGeom prst="rect">
            <a:avLst/>
          </a:prstGeom>
        </p:spPr>
        <p:txBody>
          <a:bodyPr/>
          <a:lstStyle/>
          <a:p>
            <a:pPr/>
            <a:r>
              <a:t>Example #2 (con’t)</a:t>
            </a:r>
          </a:p>
        </p:txBody>
      </p:sp>
      <p:pic>
        <p:nvPicPr>
          <p:cNvPr id="343" name="image.png" descr="image.png"/>
          <p:cNvPicPr>
            <a:picLocks noChangeAspect="1"/>
          </p:cNvPicPr>
          <p:nvPr/>
        </p:nvPicPr>
        <p:blipFill>
          <a:blip r:embed="rId2">
            <a:extLst/>
          </a:blip>
          <a:stretch>
            <a:fillRect/>
          </a:stretch>
        </p:blipFill>
        <p:spPr>
          <a:xfrm>
            <a:off x="650238" y="4660053"/>
            <a:ext cx="4660057" cy="3817904"/>
          </a:xfrm>
          <a:prstGeom prst="rect">
            <a:avLst/>
          </a:prstGeom>
          <a:ln w="12700">
            <a:miter lim="400000"/>
          </a:ln>
        </p:spPr>
      </p:pic>
      <p:pic>
        <p:nvPicPr>
          <p:cNvPr id="344" name="image.png" descr="image.png"/>
          <p:cNvPicPr>
            <a:picLocks noChangeAspect="1"/>
          </p:cNvPicPr>
          <p:nvPr/>
        </p:nvPicPr>
        <p:blipFill>
          <a:blip r:embed="rId3">
            <a:extLst/>
          </a:blip>
          <a:stretch>
            <a:fillRect/>
          </a:stretch>
        </p:blipFill>
        <p:spPr>
          <a:xfrm>
            <a:off x="7694507" y="4118185"/>
            <a:ext cx="3996269" cy="4307842"/>
          </a:xfrm>
          <a:prstGeom prst="rect">
            <a:avLst/>
          </a:prstGeom>
          <a:ln w="12700">
            <a:miter lim="400000"/>
          </a:ln>
        </p:spPr>
      </p:pic>
      <p:sp>
        <p:nvSpPr>
          <p:cNvPr id="345" name="Arrow"/>
          <p:cNvSpPr/>
          <p:nvPr/>
        </p:nvSpPr>
        <p:spPr>
          <a:xfrm>
            <a:off x="5960533" y="6177279"/>
            <a:ext cx="1300482" cy="541869"/>
          </a:xfrm>
          <a:prstGeom prst="rightArrow">
            <a:avLst>
              <a:gd name="adj1" fmla="val 50000"/>
              <a:gd name="adj2" fmla="val 50000"/>
            </a:avLst>
          </a:prstGeom>
          <a:solidFill>
            <a:srgbClr val="CEB966"/>
          </a:solidFill>
          <a:ln w="25400">
            <a:solidFill>
              <a:srgbClr val="978749"/>
            </a:solidFill>
          </a:ln>
        </p:spPr>
        <p:txBody>
          <a:bodyPr lIns="50800" tIns="50800" rIns="50800" bIns="50800" anchor="ctr"/>
          <a:lstStyle/>
          <a:p>
            <a:pPr defTabSz="1300480">
              <a:defRPr>
                <a:solidFill>
                  <a:srgbClr val="FFFFFF"/>
                </a:solidFill>
                <a:latin typeface="Constantia"/>
                <a:ea typeface="Constantia"/>
                <a:cs typeface="Constantia"/>
                <a:sym typeface="Constantia"/>
              </a:defRPr>
            </a:pPr>
          </a:p>
        </p:txBody>
      </p:sp>
      <p:sp>
        <p:nvSpPr>
          <p:cNvPr id="346" name="Transform solution for Norton circuit to Thévenin circuit to obtain single voltage source/single equivalent resistor in series with load."/>
          <p:cNvSpPr txBox="1"/>
          <p:nvPr>
            <p:ph type="body" idx="4294967295"/>
          </p:nvPr>
        </p:nvSpPr>
        <p:spPr>
          <a:xfrm>
            <a:off x="650238" y="2752230"/>
            <a:ext cx="11704323" cy="6242758"/>
          </a:xfrm>
          <a:prstGeom prst="rect">
            <a:avLst/>
          </a:prstGeom>
        </p:spPr>
        <p:txBody>
          <a:bodyPr lIns="65022" tIns="65022" rIns="65022" bIns="65022" anchor="t"/>
          <a:lstStyle>
            <a:lvl1pPr marL="388337" indent="-388337">
              <a:buSzTx/>
              <a:buNone/>
            </a:lvl1pPr>
          </a:lstStyle>
          <a:p>
            <a:pPr/>
            <a:r>
              <a:t>	Transform solution for Norton circuit to Thévenin circuit to obtain single voltage source/single equivalent resistor in series with load.</a:t>
            </a:r>
          </a:p>
        </p:txBody>
      </p:sp>
    </p:spTree>
  </p:cSld>
  <p:clrMapOvr>
    <a:masterClrMapping/>
  </p:clrMapOvr>
  <p:transition xmlns:p14="http://schemas.microsoft.com/office/powerpoint/2010/main" spd="med" advClick="1"/>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8" name="LTSpice"/>
          <p:cNvSpPr txBox="1"/>
          <p:nvPr>
            <p:ph type="title"/>
          </p:nvPr>
        </p:nvSpPr>
        <p:spPr>
          <a:prstGeom prst="rect">
            <a:avLst/>
          </a:prstGeom>
        </p:spPr>
        <p:txBody>
          <a:bodyPr/>
          <a:lstStyle/>
          <a:p>
            <a:pPr/>
            <a:r>
              <a:t>LTSpice</a:t>
            </a:r>
          </a:p>
        </p:txBody>
      </p:sp>
      <p:pic>
        <p:nvPicPr>
          <p:cNvPr id="349" name="image.png" descr="image.png"/>
          <p:cNvPicPr>
            <a:picLocks noChangeAspect="1"/>
          </p:cNvPicPr>
          <p:nvPr/>
        </p:nvPicPr>
        <p:blipFill>
          <a:blip r:embed="rId2">
            <a:extLst/>
          </a:blip>
          <a:stretch>
            <a:fillRect/>
          </a:stretch>
        </p:blipFill>
        <p:spPr>
          <a:xfrm>
            <a:off x="724746" y="3619217"/>
            <a:ext cx="11555308" cy="4511043"/>
          </a:xfrm>
          <a:prstGeom prst="rect">
            <a:avLst/>
          </a:prstGeom>
          <a:ln w="12700">
            <a:miter lim="400000"/>
          </a:ln>
        </p:spPr>
      </p:pic>
    </p:spTree>
  </p:cSld>
  <p:clrMapOvr>
    <a:masterClrMapping/>
  </p:clrMapOvr>
  <p:transition xmlns:p14="http://schemas.microsoft.com/office/powerpoint/2010/main" spd="med" advClick="1"/>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1" name="Summary"/>
          <p:cNvSpPr txBox="1"/>
          <p:nvPr>
            <p:ph type="title"/>
          </p:nvPr>
        </p:nvSpPr>
        <p:spPr>
          <a:prstGeom prst="rect">
            <a:avLst/>
          </a:prstGeom>
        </p:spPr>
        <p:txBody>
          <a:bodyPr/>
          <a:lstStyle/>
          <a:p>
            <a:pPr/>
            <a:r>
              <a:t>Summary</a:t>
            </a:r>
          </a:p>
        </p:txBody>
      </p:sp>
      <p:sp>
        <p:nvSpPr>
          <p:cNvPr id="352" name="Thévenin and Norton transfomrations are performed to simplify a circuit for analysis and design.…"/>
          <p:cNvSpPr txBox="1"/>
          <p:nvPr>
            <p:ph type="body" idx="1"/>
          </p:nvPr>
        </p:nvSpPr>
        <p:spPr>
          <a:prstGeom prst="rect">
            <a:avLst/>
          </a:prstGeom>
        </p:spPr>
        <p:txBody>
          <a:bodyPr/>
          <a:lstStyle>
            <a:lvl2pPr marL="916780" indent="-472281">
              <a:spcBef>
                <a:spcPts val="0"/>
              </a:spcBef>
              <a:buClr>
                <a:srgbClr val="CEB966"/>
              </a:buClr>
              <a:defRPr sz="3400"/>
            </a:lvl2pPr>
            <a:lvl3pPr marL="1277937" indent="-388937">
              <a:spcBef>
                <a:spcPts val="0"/>
              </a:spcBef>
              <a:buClr>
                <a:srgbClr val="9CB084"/>
              </a:buClr>
              <a:defRPr sz="2800"/>
            </a:lvl3pPr>
          </a:lstStyle>
          <a:p>
            <a:pPr/>
            <a:r>
              <a:t>Thévenin and Norton transfomrations are performed to simplify a circuit for analysis and design. </a:t>
            </a:r>
          </a:p>
          <a:p>
            <a:pPr lvl="1"/>
            <a:r>
              <a:t>Two techniques were described.</a:t>
            </a:r>
          </a:p>
          <a:p>
            <a:pPr lvl="2"/>
            <a:r>
              <a:t>Examples using the source transformation technique were given.</a:t>
            </a:r>
          </a:p>
        </p:txBody>
      </p:sp>
    </p:spTree>
  </p:cSld>
  <p:clrMapOvr>
    <a:masterClrMapping/>
  </p:clrMapOvr>
  <p:transition xmlns:p14="http://schemas.microsoft.com/office/powerpoint/2010/main" spd="med" advClick="1"/>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4" name="Superposition"/>
          <p:cNvSpPr txBox="1"/>
          <p:nvPr>
            <p:ph type="title"/>
          </p:nvPr>
        </p:nvSpPr>
        <p:spPr>
          <a:prstGeom prst="rect">
            <a:avLst/>
          </a:prstGeom>
        </p:spPr>
        <p:txBody>
          <a:bodyPr/>
          <a:lstStyle/>
          <a:p>
            <a:pPr/>
            <a:r>
              <a:t>Superposition</a:t>
            </a:r>
          </a:p>
        </p:txBody>
      </p:sp>
      <p:sp>
        <p:nvSpPr>
          <p:cNvPr id="355" name="The voltage across a component is the algebraic sum of the voltage across the component due to each independent source acting upon it.…"/>
          <p:cNvSpPr txBox="1"/>
          <p:nvPr>
            <p:ph type="body" sz="half" idx="1"/>
          </p:nvPr>
        </p:nvSpPr>
        <p:spPr>
          <a:xfrm>
            <a:off x="952500" y="2590800"/>
            <a:ext cx="11099800" cy="4437852"/>
          </a:xfrm>
          <a:prstGeom prst="rect">
            <a:avLst/>
          </a:prstGeom>
        </p:spPr>
        <p:txBody>
          <a:bodyPr/>
          <a:lstStyle/>
          <a:p>
            <a:pPr/>
            <a:r>
              <a:t>The voltage across a component is the algebraic sum of the voltage across the component due to each independent source acting upon it.</a:t>
            </a:r>
          </a:p>
          <a:p>
            <a:pPr/>
            <a:r>
              <a:t>The current flowing through a component is the algebraic sum of the current flowing through component due to each independent source acting upon it.</a:t>
            </a:r>
          </a:p>
        </p:txBody>
      </p:sp>
    </p:spTree>
  </p:cSld>
  <p:clrMapOvr>
    <a:masterClrMapping/>
  </p:clrMapOvr>
  <p:transition xmlns:p14="http://schemas.microsoft.com/office/powerpoint/2010/main" spd="med" advClick="1"/>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7" name="Superposition - Application"/>
          <p:cNvSpPr txBox="1"/>
          <p:nvPr>
            <p:ph type="title"/>
          </p:nvPr>
        </p:nvSpPr>
        <p:spPr>
          <a:prstGeom prst="rect">
            <a:avLst/>
          </a:prstGeom>
        </p:spPr>
        <p:txBody>
          <a:bodyPr/>
          <a:lstStyle>
            <a:lvl1pPr defTabSz="496569">
              <a:defRPr sz="6800"/>
            </a:lvl1pPr>
          </a:lstStyle>
          <a:p>
            <a:pPr/>
            <a:r>
              <a:t>Superposition - Application</a:t>
            </a:r>
          </a:p>
        </p:txBody>
      </p:sp>
      <p:sp>
        <p:nvSpPr>
          <p:cNvPr id="358" name="Transistor/MicroElectronics circuit analysis…"/>
          <p:cNvSpPr txBox="1"/>
          <p:nvPr>
            <p:ph type="body" idx="1"/>
          </p:nvPr>
        </p:nvSpPr>
        <p:spPr>
          <a:prstGeom prst="rect">
            <a:avLst/>
          </a:prstGeom>
        </p:spPr>
        <p:txBody>
          <a:bodyPr/>
          <a:lstStyle/>
          <a:p>
            <a:pPr marL="373378" indent="-373378" defTabSz="490727">
              <a:spcBef>
                <a:spcPts val="3500"/>
              </a:spcBef>
              <a:defRPr sz="2600"/>
            </a:pPr>
            <a:r>
              <a:t>Transistor/MicroElectronics circuit analysis</a:t>
            </a:r>
          </a:p>
          <a:p>
            <a:pPr marL="373378" indent="-373378" defTabSz="490727">
              <a:spcBef>
                <a:spcPts val="3500"/>
              </a:spcBef>
              <a:defRPr sz="2600"/>
            </a:pPr>
            <a:r>
              <a:t>Separating the contributions of the DC and AC independent sources.</a:t>
            </a:r>
          </a:p>
          <a:p>
            <a:pPr marL="373378" indent="-373378" defTabSz="490727">
              <a:spcBef>
                <a:spcPts val="3500"/>
              </a:spcBef>
              <a:defRPr sz="2600"/>
            </a:pPr>
            <a:r>
              <a:t>Example:  </a:t>
            </a:r>
          </a:p>
          <a:p>
            <a:pPr lvl="1" marL="746758" indent="-373378" defTabSz="490727">
              <a:spcBef>
                <a:spcPts val="3500"/>
              </a:spcBef>
              <a:defRPr sz="2600"/>
            </a:pPr>
            <a:r>
              <a:t>To determine the performance of an amplifier, we calculate the DC voltages and currents to establish the bias point.  </a:t>
            </a:r>
          </a:p>
          <a:p>
            <a:pPr lvl="1" marL="746758" indent="-373378" defTabSz="490727">
              <a:spcBef>
                <a:spcPts val="3500"/>
              </a:spcBef>
              <a:defRPr sz="2600"/>
            </a:pPr>
            <a:r>
              <a:t>The AC signal is usually what will be amplified.  </a:t>
            </a:r>
          </a:p>
          <a:p>
            <a:pPr lvl="1" marL="746758" indent="-373378" defTabSz="490727">
              <a:spcBef>
                <a:spcPts val="3500"/>
              </a:spcBef>
              <a:defRPr sz="2600"/>
            </a:pPr>
            <a:r>
              <a:t>A generic amplifier has a constant DC operating point, but the AC signal’s amplitude and frequency will vary depending on the application. </a:t>
            </a:r>
          </a:p>
        </p:txBody>
      </p:sp>
    </p:spTree>
  </p:cSld>
  <p:clrMapOvr>
    <a:masterClrMapping/>
  </p:clrMapOvr>
  <p:transition xmlns:p14="http://schemas.microsoft.com/office/powerpoint/2010/main" spd="med" advClick="1"/>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0" name="Steps"/>
          <p:cNvSpPr txBox="1"/>
          <p:nvPr>
            <p:ph type="title"/>
          </p:nvPr>
        </p:nvSpPr>
        <p:spPr>
          <a:prstGeom prst="rect">
            <a:avLst/>
          </a:prstGeom>
        </p:spPr>
        <p:txBody>
          <a:bodyPr/>
          <a:lstStyle/>
          <a:p>
            <a:pPr/>
            <a:r>
              <a:t>Steps</a:t>
            </a:r>
          </a:p>
        </p:txBody>
      </p:sp>
      <p:sp>
        <p:nvSpPr>
          <p:cNvPr id="361" name="Turn off all independent sources except one.…"/>
          <p:cNvSpPr txBox="1"/>
          <p:nvPr>
            <p:ph type="body" idx="1"/>
          </p:nvPr>
        </p:nvSpPr>
        <p:spPr>
          <a:prstGeom prst="rect">
            <a:avLst/>
          </a:prstGeom>
        </p:spPr>
        <p:txBody>
          <a:bodyPr/>
          <a:lstStyle/>
          <a:p>
            <a:pPr marL="487445" indent="-487445" defTabSz="449833">
              <a:lnSpc>
                <a:spcPct val="90000"/>
              </a:lnSpc>
              <a:spcBef>
                <a:spcPts val="3200"/>
              </a:spcBef>
              <a:buAutoNum type="arabicPeriod" startAt="1"/>
              <a:defRPr sz="2400"/>
            </a:pPr>
            <a:r>
              <a:t>Turn off all independent sources except one.</a:t>
            </a:r>
          </a:p>
          <a:p>
            <a:pPr marL="487445" indent="-487445" defTabSz="449833">
              <a:lnSpc>
                <a:spcPct val="90000"/>
              </a:lnSpc>
              <a:spcBef>
                <a:spcPts val="3200"/>
              </a:spcBef>
              <a:buAutoNum type="arabicPeriod" startAt="1"/>
              <a:defRPr sz="2400"/>
            </a:pPr>
            <a:r>
              <a:t>Redraw circuit.</a:t>
            </a:r>
          </a:p>
          <a:p>
            <a:pPr marL="487445" indent="-487445" defTabSz="449833">
              <a:lnSpc>
                <a:spcPct val="90000"/>
              </a:lnSpc>
              <a:spcBef>
                <a:spcPts val="3200"/>
              </a:spcBef>
              <a:buAutoNum type="arabicPeriod" startAt="1"/>
              <a:defRPr sz="2400"/>
            </a:pPr>
            <a:r>
              <a:t>Solve for the voltages and currents in the new circuit.</a:t>
            </a:r>
          </a:p>
          <a:p>
            <a:pPr marL="487445" indent="-487445" defTabSz="449833">
              <a:lnSpc>
                <a:spcPct val="90000"/>
              </a:lnSpc>
              <a:spcBef>
                <a:spcPts val="3200"/>
              </a:spcBef>
              <a:buAutoNum type="arabicPeriod" startAt="1"/>
              <a:defRPr sz="2400"/>
            </a:pPr>
            <a:r>
              <a:t>Turn off the active independent source and turn on one of the other independent sources.</a:t>
            </a:r>
          </a:p>
          <a:p>
            <a:pPr marL="487445" indent="-487445" defTabSz="449833">
              <a:lnSpc>
                <a:spcPct val="90000"/>
              </a:lnSpc>
              <a:spcBef>
                <a:spcPts val="3200"/>
              </a:spcBef>
              <a:buAutoNum type="arabicPeriod" startAt="1"/>
              <a:defRPr sz="2400"/>
            </a:pPr>
            <a:r>
              <a:t>Repeat Steps 2 and 3.</a:t>
            </a:r>
          </a:p>
          <a:p>
            <a:pPr marL="487445" indent="-487445" defTabSz="449833">
              <a:lnSpc>
                <a:spcPct val="90000"/>
              </a:lnSpc>
              <a:spcBef>
                <a:spcPts val="3200"/>
              </a:spcBef>
              <a:buAutoNum type="arabicPeriod" startAt="1"/>
              <a:defRPr sz="2400"/>
            </a:pPr>
            <a:r>
              <a:t>Continue until you have turned on each of the independent sources in the original circuit.</a:t>
            </a:r>
          </a:p>
          <a:p>
            <a:pPr marL="487445" indent="-487445" defTabSz="449833">
              <a:lnSpc>
                <a:spcPct val="90000"/>
              </a:lnSpc>
              <a:spcBef>
                <a:spcPts val="3200"/>
              </a:spcBef>
              <a:buAutoNum type="arabicPeriod" startAt="1"/>
              <a:defRPr sz="2400"/>
            </a:pPr>
            <a:r>
              <a:t>To find the total voltage across each component and the total current flowing, add the contributions from each of the voltages and currents found in Step 3.</a:t>
            </a:r>
          </a:p>
        </p:txBody>
      </p:sp>
    </p:spTree>
  </p:cSld>
  <p:clrMapOvr>
    <a:masterClrMapping/>
  </p:clrMapOvr>
  <p:transition xmlns:p14="http://schemas.microsoft.com/office/powerpoint/2010/main" spd="med" advClick="1"/>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3" name="Turning Off Sources"/>
          <p:cNvSpPr txBox="1"/>
          <p:nvPr>
            <p:ph type="title"/>
          </p:nvPr>
        </p:nvSpPr>
        <p:spPr>
          <a:prstGeom prst="rect">
            <a:avLst/>
          </a:prstGeom>
        </p:spPr>
        <p:txBody>
          <a:bodyPr/>
          <a:lstStyle/>
          <a:p>
            <a:pPr/>
            <a:r>
              <a:t>Turning Off Sources</a:t>
            </a:r>
          </a:p>
        </p:txBody>
      </p:sp>
      <p:sp>
        <p:nvSpPr>
          <p:cNvPr id="364" name="Voltage sources should be replaced with short circuits.…"/>
          <p:cNvSpPr txBox="1"/>
          <p:nvPr>
            <p:ph type="body" sz="half" idx="1"/>
          </p:nvPr>
        </p:nvSpPr>
        <p:spPr>
          <a:xfrm>
            <a:off x="952500" y="2590799"/>
            <a:ext cx="11099800" cy="3674361"/>
          </a:xfrm>
          <a:prstGeom prst="rect">
            <a:avLst/>
          </a:prstGeom>
        </p:spPr>
        <p:txBody>
          <a:bodyPr/>
          <a:lstStyle/>
          <a:p>
            <a:pPr marL="716297" indent="-626714" defTabSz="578358">
              <a:spcBef>
                <a:spcPts val="4100"/>
              </a:spcBef>
              <a:defRPr sz="3100"/>
            </a:pPr>
            <a:r>
              <a:t>Voltage sources should be replaced with short circuits.</a:t>
            </a:r>
          </a:p>
          <a:p>
            <a:pPr lvl="1" marL="1174002" indent="-721375" defTabSz="578358">
              <a:spcBef>
                <a:spcPts val="0"/>
              </a:spcBef>
              <a:buClr>
                <a:srgbClr val="CEB966"/>
              </a:buClr>
              <a:defRPr sz="3300"/>
            </a:pPr>
            <a:r>
              <a:t>A short circuit will allow current to flow across it, but the voltage across a short circuit is equal to </a:t>
            </a:r>
            <a:r>
              <a:rPr>
                <a:latin typeface="Calibri"/>
                <a:ea typeface="Calibri"/>
                <a:cs typeface="Calibri"/>
                <a:sym typeface="Calibri"/>
              </a:rPr>
              <a:t>0</a:t>
            </a:r>
            <a:r>
              <a:t>V.</a:t>
            </a:r>
          </a:p>
          <a:p>
            <a:pPr marL="716297" indent="-626714" defTabSz="578358">
              <a:spcBef>
                <a:spcPts val="4100"/>
              </a:spcBef>
              <a:defRPr sz="3100"/>
            </a:pPr>
            <a:r>
              <a:t>Current sources should be replaced with open circuits.</a:t>
            </a:r>
          </a:p>
          <a:p>
            <a:pPr lvl="1" marL="1174002" indent="-721375" defTabSz="578358">
              <a:spcBef>
                <a:spcPts val="0"/>
              </a:spcBef>
              <a:buClr>
                <a:srgbClr val="CEB966"/>
              </a:buClr>
              <a:defRPr sz="3300"/>
            </a:pPr>
            <a:r>
              <a:t>An open circuit can have a non-zero voltage across it, but the current is equal to </a:t>
            </a:r>
            <a:r>
              <a:rPr>
                <a:latin typeface="Calibri"/>
                <a:ea typeface="Calibri"/>
                <a:cs typeface="Calibri"/>
                <a:sym typeface="Calibri"/>
              </a:rPr>
              <a:t>0</a:t>
            </a:r>
            <a:r>
              <a:t>A. </a:t>
            </a:r>
          </a:p>
        </p:txBody>
      </p:sp>
      <p:sp>
        <p:nvSpPr>
          <p:cNvPr id="365" name="Once you select a direction for current to flow through a component and the direction of the polarity (+ /_ signs) for the voltage across a component, you must use the same directions when calculating these values in all of the subsequent circuits."/>
          <p:cNvSpPr txBox="1"/>
          <p:nvPr/>
        </p:nvSpPr>
        <p:spPr>
          <a:xfrm>
            <a:off x="478909" y="6442957"/>
            <a:ext cx="12374304" cy="288292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lgn="l">
              <a:spcBef>
                <a:spcPts val="4200"/>
              </a:spcBef>
              <a:defRPr sz="3200">
                <a:solidFill>
                  <a:srgbClr val="B51600"/>
                </a:solidFill>
                <a:latin typeface="+mn-lt"/>
                <a:ea typeface="+mn-ea"/>
                <a:cs typeface="+mn-cs"/>
                <a:sym typeface="Helvetica Neue"/>
              </a:defRPr>
            </a:pPr>
            <a:r>
              <a:t>Once you select a direction for current to flow through a component and the direction of the polarity (+ /</a:t>
            </a:r>
            <a:r>
              <a:rPr baseline="30375"/>
              <a:t>_</a:t>
            </a:r>
            <a:r>
              <a:t> signs) for the voltage across a component, you </a:t>
            </a:r>
            <a:r>
              <a:rPr u="sng"/>
              <a:t>must</a:t>
            </a:r>
            <a:r>
              <a:t> use the same directions when calculating these values in all of the subsequent circuits.</a:t>
            </a:r>
          </a:p>
        </p:txBody>
      </p:sp>
    </p:spTree>
  </p:cSld>
  <p:clrMapOvr>
    <a:masterClrMapping/>
  </p:clrMapOvr>
  <p:transition xmlns:p14="http://schemas.microsoft.com/office/powerpoint/2010/main" spd="med" advClick="1"/>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67" name="image.png" descr="image.png"/>
          <p:cNvPicPr>
            <a:picLocks noChangeAspect="1"/>
          </p:cNvPicPr>
          <p:nvPr/>
        </p:nvPicPr>
        <p:blipFill>
          <a:blip r:embed="rId2">
            <a:extLst/>
          </a:blip>
          <a:stretch>
            <a:fillRect/>
          </a:stretch>
        </p:blipFill>
        <p:spPr>
          <a:xfrm>
            <a:off x="650238" y="2926078"/>
            <a:ext cx="9320109" cy="6497887"/>
          </a:xfrm>
          <a:prstGeom prst="rect">
            <a:avLst/>
          </a:prstGeom>
          <a:ln w="12700">
            <a:miter lim="400000"/>
          </a:ln>
        </p:spPr>
      </p:pic>
      <p:sp>
        <p:nvSpPr>
          <p:cNvPr id="368" name="Example #1"/>
          <p:cNvSpPr txBox="1"/>
          <p:nvPr>
            <p:ph type="title"/>
          </p:nvPr>
        </p:nvSpPr>
        <p:spPr>
          <a:prstGeom prst="rect">
            <a:avLst/>
          </a:prstGeom>
        </p:spPr>
        <p:txBody>
          <a:bodyPr/>
          <a:lstStyle/>
          <a:p>
            <a:pPr/>
            <a:r>
              <a:t>Example #1</a:t>
            </a:r>
          </a:p>
        </p:txBody>
      </p:sp>
    </p:spTree>
  </p:cSld>
  <p:clrMapOvr>
    <a:masterClrMapping/>
  </p:clrMapOvr>
  <p:transition xmlns:p14="http://schemas.microsoft.com/office/powerpoint/2010/main" spd="med" advClick="1"/>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70" name="image.png" descr="image.png"/>
          <p:cNvPicPr>
            <a:picLocks noChangeAspect="1"/>
          </p:cNvPicPr>
          <p:nvPr/>
        </p:nvPicPr>
        <p:blipFill>
          <a:blip r:embed="rId2">
            <a:extLst/>
          </a:blip>
          <a:stretch>
            <a:fillRect/>
          </a:stretch>
        </p:blipFill>
        <p:spPr>
          <a:xfrm>
            <a:off x="650238" y="2926078"/>
            <a:ext cx="9320109" cy="6497887"/>
          </a:xfrm>
          <a:prstGeom prst="rect">
            <a:avLst/>
          </a:prstGeom>
          <a:ln w="12700">
            <a:miter lim="400000"/>
          </a:ln>
        </p:spPr>
      </p:pic>
      <p:sp>
        <p:nvSpPr>
          <p:cNvPr id="371" name="Example #1 (con’t)"/>
          <p:cNvSpPr txBox="1"/>
          <p:nvPr>
            <p:ph type="title"/>
          </p:nvPr>
        </p:nvSpPr>
        <p:spPr>
          <a:prstGeom prst="rect">
            <a:avLst/>
          </a:prstGeom>
        </p:spPr>
        <p:txBody>
          <a:bodyPr/>
          <a:lstStyle/>
          <a:p>
            <a:pPr/>
            <a:r>
              <a:t>Example #1 (con’t)</a:t>
            </a:r>
          </a:p>
        </p:txBody>
      </p:sp>
      <p:sp>
        <p:nvSpPr>
          <p:cNvPr id="372" name="Replace Is1 and Is2 with open circuits"/>
          <p:cNvSpPr txBox="1"/>
          <p:nvPr/>
        </p:nvSpPr>
        <p:spPr>
          <a:xfrm>
            <a:off x="650238" y="3142825"/>
            <a:ext cx="4551683" cy="1247647"/>
          </a:xfrm>
          <a:prstGeom prst="rect">
            <a:avLst/>
          </a:prstGeom>
          <a:ln w="12700">
            <a:miter lim="400000"/>
          </a:ln>
          <a:extLst>
            <a:ext uri="{C572A759-6A51-4108-AA02-DFA0A04FC94B}">
              <ma14:wrappingTextBoxFlag xmlns:ma14="http://schemas.microsoft.com/office/mac/drawingml/2011/main" val="1"/>
            </a:ext>
          </a:extLst>
        </p:spPr>
        <p:txBody>
          <a:bodyPr lIns="65022" tIns="65022" rIns="65022" bIns="65022">
            <a:spAutoFit/>
          </a:bodyPr>
          <a:lstStyle>
            <a:lvl1pPr algn="l" defTabSz="1300480">
              <a:defRPr sz="3400">
                <a:latin typeface="Constantia"/>
                <a:ea typeface="Constantia"/>
                <a:cs typeface="Constantia"/>
                <a:sym typeface="Constantia"/>
              </a:defRPr>
            </a:lvl1pPr>
          </a:lstStyle>
          <a:p>
            <a:pPr/>
            <a:r>
              <a:t>Replace Is1 and Is2 with open circuits</a:t>
            </a:r>
          </a:p>
        </p:txBody>
      </p:sp>
      <p:sp>
        <p:nvSpPr>
          <p:cNvPr id="373" name="Rectangle"/>
          <p:cNvSpPr/>
          <p:nvPr/>
        </p:nvSpPr>
        <p:spPr>
          <a:xfrm>
            <a:off x="6610773" y="5093546"/>
            <a:ext cx="1300482" cy="1842349"/>
          </a:xfrm>
          <a:prstGeom prst="rect">
            <a:avLst/>
          </a:prstGeom>
          <a:solidFill>
            <a:srgbClr val="FFFFFF"/>
          </a:solidFill>
          <a:ln w="25400">
            <a:solidFill>
              <a:srgbClr val="FFFFFF"/>
            </a:solidFill>
          </a:ln>
        </p:spPr>
        <p:txBody>
          <a:bodyPr lIns="50800" tIns="50800" rIns="50800" bIns="50800" anchor="ctr"/>
          <a:lstStyle/>
          <a:p>
            <a:pPr defTabSz="1300480">
              <a:defRPr>
                <a:solidFill>
                  <a:srgbClr val="FFFFFF"/>
                </a:solidFill>
                <a:latin typeface="Constantia"/>
                <a:ea typeface="Constantia"/>
                <a:cs typeface="Constantia"/>
                <a:sym typeface="Constantia"/>
              </a:defRPr>
            </a:pPr>
          </a:p>
        </p:txBody>
      </p:sp>
      <p:sp>
        <p:nvSpPr>
          <p:cNvPr id="374" name="Rectangle"/>
          <p:cNvSpPr/>
          <p:nvPr/>
        </p:nvSpPr>
        <p:spPr>
          <a:xfrm>
            <a:off x="7911252" y="6827519"/>
            <a:ext cx="2059095" cy="1300482"/>
          </a:xfrm>
          <a:prstGeom prst="rect">
            <a:avLst/>
          </a:prstGeom>
          <a:solidFill>
            <a:srgbClr val="FFFFFF"/>
          </a:solidFill>
          <a:ln w="25400">
            <a:solidFill>
              <a:srgbClr val="FFFFFF"/>
            </a:solidFill>
          </a:ln>
        </p:spPr>
        <p:txBody>
          <a:bodyPr lIns="50800" tIns="50800" rIns="50800" bIns="50800" anchor="ctr"/>
          <a:lstStyle/>
          <a:p>
            <a:pPr defTabSz="1300480">
              <a:defRPr>
                <a:solidFill>
                  <a:srgbClr val="FFFFFF"/>
                </a:solidFill>
                <a:latin typeface="Constantia"/>
                <a:ea typeface="Constantia"/>
                <a:cs typeface="Constantia"/>
                <a:sym typeface="Constantia"/>
              </a:defRPr>
            </a:pPr>
          </a:p>
        </p:txBody>
      </p:sp>
    </p:spTree>
  </p:cSld>
  <p:clrMapOvr>
    <a:masterClrMapping/>
  </p:clrMapOvr>
  <p:transition xmlns:p14="http://schemas.microsoft.com/office/powerpoint/2010/main" spd="med" advClick="1"/>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76" name="image.png" descr="image.png"/>
          <p:cNvPicPr>
            <a:picLocks noChangeAspect="1"/>
          </p:cNvPicPr>
          <p:nvPr/>
        </p:nvPicPr>
        <p:blipFill>
          <a:blip r:embed="rId2">
            <a:extLst/>
          </a:blip>
          <a:stretch>
            <a:fillRect/>
          </a:stretch>
        </p:blipFill>
        <p:spPr>
          <a:xfrm>
            <a:off x="650238" y="2926078"/>
            <a:ext cx="9320109" cy="6497887"/>
          </a:xfrm>
          <a:prstGeom prst="rect">
            <a:avLst/>
          </a:prstGeom>
          <a:ln w="12700">
            <a:miter lim="400000"/>
          </a:ln>
        </p:spPr>
      </p:pic>
      <p:sp>
        <p:nvSpPr>
          <p:cNvPr id="377" name="Example #1 (con’t)"/>
          <p:cNvSpPr txBox="1"/>
          <p:nvPr>
            <p:ph type="title"/>
          </p:nvPr>
        </p:nvSpPr>
        <p:spPr>
          <a:prstGeom prst="rect">
            <a:avLst/>
          </a:prstGeom>
        </p:spPr>
        <p:txBody>
          <a:bodyPr/>
          <a:lstStyle/>
          <a:p>
            <a:pPr/>
            <a:r>
              <a:t>Example #1 (con’t)</a:t>
            </a:r>
          </a:p>
        </p:txBody>
      </p:sp>
      <p:sp>
        <p:nvSpPr>
          <p:cNvPr id="378" name="Since R2 is not connected to the rest of the circuit on both ends of the resistor, it can be deleted from the new circuit.…"/>
          <p:cNvSpPr txBox="1"/>
          <p:nvPr/>
        </p:nvSpPr>
        <p:spPr>
          <a:xfrm>
            <a:off x="9970345" y="3515359"/>
            <a:ext cx="2817709" cy="4194047"/>
          </a:xfrm>
          <a:prstGeom prst="rect">
            <a:avLst/>
          </a:prstGeom>
          <a:ln w="12700">
            <a:miter lim="400000"/>
          </a:ln>
          <a:extLst>
            <a:ext uri="{C572A759-6A51-4108-AA02-DFA0A04FC94B}">
              <ma14:wrappingTextBoxFlag xmlns:ma14="http://schemas.microsoft.com/office/mac/drawingml/2011/main" val="1"/>
            </a:ext>
          </a:extLst>
        </p:spPr>
        <p:txBody>
          <a:bodyPr lIns="65022" tIns="65022" rIns="65022" bIns="65022">
            <a:spAutoFit/>
          </a:bodyPr>
          <a:lstStyle/>
          <a:p>
            <a:pPr algn="l" defTabSz="1300480">
              <a:defRPr>
                <a:latin typeface="Constantia"/>
                <a:ea typeface="Constantia"/>
                <a:cs typeface="Constantia"/>
                <a:sym typeface="Constantia"/>
              </a:defRPr>
            </a:pPr>
            <a:r>
              <a:t>Since R2 is not connected to the rest of the circuit on both ends of the resistor, it can be deleted from the new circuit.</a:t>
            </a:r>
          </a:p>
          <a:p>
            <a:pPr algn="l" defTabSz="1300480">
              <a:defRPr>
                <a:latin typeface="Constantia"/>
                <a:ea typeface="Constantia"/>
                <a:cs typeface="Constantia"/>
                <a:sym typeface="Constantia"/>
              </a:defRPr>
            </a:pPr>
          </a:p>
          <a:p>
            <a:pPr algn="l" defTabSz="1300480">
              <a:defRPr>
                <a:latin typeface="Constantia"/>
                <a:ea typeface="Constantia"/>
                <a:cs typeface="Constantia"/>
                <a:sym typeface="Constantia"/>
              </a:defRPr>
            </a:pPr>
            <a:r>
              <a:t>Redraw circuit without R2 in it.</a:t>
            </a:r>
          </a:p>
        </p:txBody>
      </p:sp>
      <p:sp>
        <p:nvSpPr>
          <p:cNvPr id="379" name="Rectangle"/>
          <p:cNvSpPr/>
          <p:nvPr/>
        </p:nvSpPr>
        <p:spPr>
          <a:xfrm>
            <a:off x="6610773" y="5093546"/>
            <a:ext cx="1300482" cy="1842349"/>
          </a:xfrm>
          <a:prstGeom prst="rect">
            <a:avLst/>
          </a:prstGeom>
          <a:solidFill>
            <a:srgbClr val="FFFFFF"/>
          </a:solidFill>
          <a:ln w="25400">
            <a:solidFill>
              <a:srgbClr val="FFFFFF"/>
            </a:solidFill>
          </a:ln>
        </p:spPr>
        <p:txBody>
          <a:bodyPr lIns="50800" tIns="50800" rIns="50800" bIns="50800" anchor="ctr"/>
          <a:lstStyle/>
          <a:p>
            <a:pPr defTabSz="1300480">
              <a:defRPr>
                <a:solidFill>
                  <a:srgbClr val="FFFFFF"/>
                </a:solidFill>
                <a:latin typeface="Constantia"/>
                <a:ea typeface="Constantia"/>
                <a:cs typeface="Constantia"/>
                <a:sym typeface="Constantia"/>
              </a:defRPr>
            </a:pPr>
          </a:p>
        </p:txBody>
      </p:sp>
      <p:sp>
        <p:nvSpPr>
          <p:cNvPr id="380" name="Rectangle"/>
          <p:cNvSpPr/>
          <p:nvPr/>
        </p:nvSpPr>
        <p:spPr>
          <a:xfrm>
            <a:off x="7911252" y="6827519"/>
            <a:ext cx="2059095" cy="1300482"/>
          </a:xfrm>
          <a:prstGeom prst="rect">
            <a:avLst/>
          </a:prstGeom>
          <a:solidFill>
            <a:srgbClr val="FFFFFF"/>
          </a:solidFill>
          <a:ln w="25400">
            <a:solidFill>
              <a:srgbClr val="FFFFFF"/>
            </a:solidFill>
          </a:ln>
        </p:spPr>
        <p:txBody>
          <a:bodyPr lIns="50800" tIns="50800" rIns="50800" bIns="50800" anchor="ctr"/>
          <a:lstStyle/>
          <a:p>
            <a:pPr defTabSz="1300480">
              <a:defRPr>
                <a:solidFill>
                  <a:srgbClr val="FFFFFF"/>
                </a:solidFill>
                <a:latin typeface="Constantia"/>
                <a:ea typeface="Constantia"/>
                <a:cs typeface="Constantia"/>
                <a:sym typeface="Constantia"/>
              </a:defRPr>
            </a:pPr>
          </a:p>
        </p:txBody>
      </p:sp>
      <p:sp>
        <p:nvSpPr>
          <p:cNvPr id="381" name="Rectangle"/>
          <p:cNvSpPr/>
          <p:nvPr/>
        </p:nvSpPr>
        <p:spPr>
          <a:xfrm>
            <a:off x="7261013" y="4768425"/>
            <a:ext cx="2492589" cy="2384217"/>
          </a:xfrm>
          <a:prstGeom prst="rect">
            <a:avLst/>
          </a:prstGeom>
          <a:ln w="38100">
            <a:solidFill>
              <a:srgbClr val="00B050"/>
            </a:solidFill>
            <a:prstDash val="dash"/>
          </a:ln>
        </p:spPr>
        <p:txBody>
          <a:bodyPr lIns="50800" tIns="50800" rIns="50800" bIns="50800" anchor="ctr"/>
          <a:lstStyle/>
          <a:p>
            <a:pPr defTabSz="1300480">
              <a:defRPr>
                <a:solidFill>
                  <a:srgbClr val="FFFFFF"/>
                </a:solidFill>
                <a:latin typeface="Constantia"/>
                <a:ea typeface="Constantia"/>
                <a:cs typeface="Constantia"/>
                <a:sym typeface="Constantia"/>
              </a:defRPr>
            </a:pPr>
          </a:p>
        </p:txBody>
      </p:sp>
    </p:spTree>
  </p:cSld>
  <p:clrMapOvr>
    <a:masterClrMapping/>
  </p:clrMapOvr>
  <p:transition xmlns:p14="http://schemas.microsoft.com/office/powerpoint/2010/main" spd="med" advClick="1"/>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3" name="Example #1 (con’t)"/>
          <p:cNvSpPr txBox="1"/>
          <p:nvPr>
            <p:ph type="title"/>
          </p:nvPr>
        </p:nvSpPr>
        <p:spPr>
          <a:prstGeom prst="rect">
            <a:avLst/>
          </a:prstGeom>
        </p:spPr>
        <p:txBody>
          <a:bodyPr/>
          <a:lstStyle/>
          <a:p>
            <a:pPr/>
            <a:r>
              <a:t>Example #1 (con’t)</a:t>
            </a:r>
          </a:p>
        </p:txBody>
      </p:sp>
      <p:pic>
        <p:nvPicPr>
          <p:cNvPr id="384" name="image.png" descr="image.png"/>
          <p:cNvPicPr>
            <a:picLocks noChangeAspect="1"/>
          </p:cNvPicPr>
          <p:nvPr/>
        </p:nvPicPr>
        <p:blipFill>
          <a:blip r:embed="rId2">
            <a:extLst/>
          </a:blip>
          <a:stretch>
            <a:fillRect/>
          </a:stretch>
        </p:blipFill>
        <p:spPr>
          <a:xfrm>
            <a:off x="27092" y="3793066"/>
            <a:ext cx="7166190" cy="5140962"/>
          </a:xfrm>
          <a:prstGeom prst="rect">
            <a:avLst/>
          </a:prstGeom>
          <a:ln w="12700">
            <a:miter lim="400000"/>
          </a:ln>
        </p:spPr>
      </p:pic>
      <p:sp>
        <p:nvSpPr>
          <p:cNvPr id="385" name="Vs"/>
          <p:cNvSpPr txBox="1"/>
          <p:nvPr/>
        </p:nvSpPr>
        <p:spPr>
          <a:xfrm>
            <a:off x="1625599" y="5931182"/>
            <a:ext cx="866989" cy="688847"/>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65022" tIns="65022" rIns="65022" bIns="65022">
            <a:spAutoFit/>
          </a:bodyPr>
          <a:lstStyle>
            <a:lvl1pPr algn="l" defTabSz="1300480">
              <a:defRPr sz="3400">
                <a:latin typeface="Constantia"/>
                <a:ea typeface="Constantia"/>
                <a:cs typeface="Constantia"/>
                <a:sym typeface="Constantia"/>
              </a:defRPr>
            </a:lvl1pPr>
          </a:lstStyle>
          <a:p>
            <a:pPr/>
            <a:r>
              <a:t>Vs</a:t>
            </a:r>
          </a:p>
        </p:txBody>
      </p:sp>
      <p:pic>
        <p:nvPicPr>
          <p:cNvPr id="386" name="image.pdf" descr="image.pdf"/>
          <p:cNvPicPr>
            <a:picLocks noChangeAspect="1"/>
          </p:cNvPicPr>
          <p:nvPr/>
        </p:nvPicPr>
        <p:blipFill>
          <a:blip r:embed="rId3">
            <a:extLst/>
          </a:blip>
          <a:stretch>
            <a:fillRect/>
          </a:stretch>
        </p:blipFill>
        <p:spPr>
          <a:xfrm>
            <a:off x="8128000" y="2600959"/>
            <a:ext cx="4362028" cy="6601745"/>
          </a:xfrm>
          <a:prstGeom prst="rect">
            <a:avLst/>
          </a:prstGeom>
          <a:ln w="12700">
            <a:miter lim="400000"/>
          </a:ln>
        </p:spPr>
      </p:pic>
    </p:spTree>
  </p:cSld>
  <p:clrMapOvr>
    <a:masterClrMapping/>
  </p:clrMapOvr>
  <p:transition xmlns:p14="http://schemas.microsoft.com/office/powerpoint/2010/main" spd="med" advClick="1"/>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8" name="Example #1 (con’t)"/>
          <p:cNvSpPr txBox="1"/>
          <p:nvPr>
            <p:ph type="title"/>
          </p:nvPr>
        </p:nvSpPr>
        <p:spPr>
          <a:prstGeom prst="rect">
            <a:avLst/>
          </a:prstGeom>
        </p:spPr>
        <p:txBody>
          <a:bodyPr/>
          <a:lstStyle/>
          <a:p>
            <a:pPr/>
            <a:r>
              <a:t>Example #1 (con’t)</a:t>
            </a:r>
          </a:p>
        </p:txBody>
      </p:sp>
      <p:pic>
        <p:nvPicPr>
          <p:cNvPr id="389" name="image.png" descr="image.png"/>
          <p:cNvPicPr>
            <a:picLocks noChangeAspect="1"/>
          </p:cNvPicPr>
          <p:nvPr/>
        </p:nvPicPr>
        <p:blipFill>
          <a:blip r:embed="rId2">
            <a:extLst/>
          </a:blip>
          <a:stretch>
            <a:fillRect/>
          </a:stretch>
        </p:blipFill>
        <p:spPr>
          <a:xfrm>
            <a:off x="325119" y="3034452"/>
            <a:ext cx="9035629" cy="6242758"/>
          </a:xfrm>
          <a:prstGeom prst="rect">
            <a:avLst/>
          </a:prstGeom>
          <a:ln w="12700">
            <a:miter lim="400000"/>
          </a:ln>
        </p:spPr>
      </p:pic>
      <p:sp>
        <p:nvSpPr>
          <p:cNvPr id="390" name="Replace VS with a Short Circuit and Is2 with an Open Circuit"/>
          <p:cNvSpPr txBox="1"/>
          <p:nvPr/>
        </p:nvSpPr>
        <p:spPr>
          <a:xfrm>
            <a:off x="7586133" y="2492586"/>
            <a:ext cx="4985175" cy="986281"/>
          </a:xfrm>
          <a:prstGeom prst="rect">
            <a:avLst/>
          </a:prstGeom>
          <a:ln w="12700">
            <a:miter lim="400000"/>
          </a:ln>
          <a:extLst>
            <a:ext uri="{C572A759-6A51-4108-AA02-DFA0A04FC94B}">
              <ma14:wrappingTextBoxFlag xmlns:ma14="http://schemas.microsoft.com/office/mac/drawingml/2011/main" val="1"/>
            </a:ext>
          </a:extLst>
        </p:spPr>
        <p:txBody>
          <a:bodyPr lIns="65022" tIns="65022" rIns="65022" bIns="65022">
            <a:spAutoFit/>
          </a:bodyPr>
          <a:lstStyle/>
          <a:p>
            <a:pPr algn="l" defTabSz="1300480">
              <a:defRPr>
                <a:latin typeface="Constantia"/>
                <a:ea typeface="Constantia"/>
                <a:cs typeface="Constantia"/>
                <a:sym typeface="Constantia"/>
              </a:defRPr>
            </a:pPr>
            <a:r>
              <a:t>Replace V</a:t>
            </a:r>
            <a:r>
              <a:rPr baseline="-20250"/>
              <a:t>S</a:t>
            </a:r>
            <a:r>
              <a:t> with a Short Circuit and Is2 with an Open Circuit</a:t>
            </a:r>
          </a:p>
        </p:txBody>
      </p:sp>
      <p:sp>
        <p:nvSpPr>
          <p:cNvPr id="391" name="IS1"/>
          <p:cNvSpPr txBox="1"/>
          <p:nvPr/>
        </p:nvSpPr>
        <p:spPr>
          <a:xfrm>
            <a:off x="8669866" y="6719145"/>
            <a:ext cx="758616" cy="638047"/>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65022" tIns="65022" rIns="65022" bIns="65022">
            <a:spAutoFit/>
          </a:bodyPr>
          <a:lstStyle/>
          <a:p>
            <a:pPr algn="l" defTabSz="1300480">
              <a:defRPr sz="3000">
                <a:latin typeface="Constantia"/>
                <a:ea typeface="Constantia"/>
                <a:cs typeface="Constantia"/>
                <a:sym typeface="Constantia"/>
              </a:defRPr>
            </a:pPr>
            <a:r>
              <a:t>I</a:t>
            </a:r>
            <a:r>
              <a:rPr sz="1600"/>
              <a:t>S</a:t>
            </a:r>
            <a:r>
              <a:rPr sz="2800"/>
              <a:t>1</a:t>
            </a:r>
          </a:p>
        </p:txBody>
      </p:sp>
      <p:sp>
        <p:nvSpPr>
          <p:cNvPr id="392" name="Redraw circuit."/>
          <p:cNvSpPr txBox="1"/>
          <p:nvPr/>
        </p:nvSpPr>
        <p:spPr>
          <a:xfrm>
            <a:off x="9536852" y="4443305"/>
            <a:ext cx="2600962" cy="599947"/>
          </a:xfrm>
          <a:prstGeom prst="rect">
            <a:avLst/>
          </a:prstGeom>
          <a:ln w="12700">
            <a:miter lim="400000"/>
          </a:ln>
          <a:extLst>
            <a:ext uri="{C572A759-6A51-4108-AA02-DFA0A04FC94B}">
              <ma14:wrappingTextBoxFlag xmlns:ma14="http://schemas.microsoft.com/office/mac/drawingml/2011/main" val="1"/>
            </a:ext>
          </a:extLst>
        </p:spPr>
        <p:txBody>
          <a:bodyPr lIns="65022" tIns="65022" rIns="65022" bIns="65022">
            <a:spAutoFit/>
          </a:bodyPr>
          <a:lstStyle>
            <a:lvl1pPr algn="l" defTabSz="1300480">
              <a:defRPr sz="2800">
                <a:latin typeface="Constantia"/>
                <a:ea typeface="Constantia"/>
                <a:cs typeface="Constantia"/>
                <a:sym typeface="Constantia"/>
              </a:defRPr>
            </a:lvl1pPr>
          </a:lstStyle>
          <a:p>
            <a:pPr/>
            <a:r>
              <a:t>Redraw circuit.</a:t>
            </a:r>
          </a:p>
        </p:txBody>
      </p:sp>
    </p:spTree>
  </p:cSld>
  <p:clrMapOvr>
    <a:masterClrMapping/>
  </p:clrMapOvr>
  <p:transition xmlns:p14="http://schemas.microsoft.com/office/powerpoint/2010/main" spd="med" advClick="1"/>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4" name="Example #1 (con’t)"/>
          <p:cNvSpPr txBox="1"/>
          <p:nvPr>
            <p:ph type="title"/>
          </p:nvPr>
        </p:nvSpPr>
        <p:spPr>
          <a:prstGeom prst="rect">
            <a:avLst/>
          </a:prstGeom>
        </p:spPr>
        <p:txBody>
          <a:bodyPr/>
          <a:lstStyle/>
          <a:p>
            <a:pPr/>
            <a:r>
              <a:t>Example #1 (con’t)</a:t>
            </a:r>
          </a:p>
        </p:txBody>
      </p:sp>
      <p:pic>
        <p:nvPicPr>
          <p:cNvPr id="395" name="image.png" descr="image.png"/>
          <p:cNvPicPr>
            <a:picLocks noChangeAspect="1"/>
          </p:cNvPicPr>
          <p:nvPr/>
        </p:nvPicPr>
        <p:blipFill>
          <a:blip r:embed="rId2">
            <a:extLst/>
          </a:blip>
          <a:stretch>
            <a:fillRect/>
          </a:stretch>
        </p:blipFill>
        <p:spPr>
          <a:xfrm>
            <a:off x="-2" y="3034452"/>
            <a:ext cx="7886420" cy="6242758"/>
          </a:xfrm>
          <a:prstGeom prst="rect">
            <a:avLst/>
          </a:prstGeom>
          <a:ln w="12700">
            <a:miter lim="400000"/>
          </a:ln>
        </p:spPr>
      </p:pic>
      <p:sp>
        <p:nvSpPr>
          <p:cNvPr id="396" name="Note:  The polarity of the voltage and the direction of the current through R1 has to follow what was used in the first solution."/>
          <p:cNvSpPr txBox="1"/>
          <p:nvPr/>
        </p:nvSpPr>
        <p:spPr>
          <a:xfrm>
            <a:off x="8669866" y="4508782"/>
            <a:ext cx="3793069" cy="2162047"/>
          </a:xfrm>
          <a:prstGeom prst="rect">
            <a:avLst/>
          </a:prstGeom>
          <a:ln w="12700">
            <a:miter lim="400000"/>
          </a:ln>
          <a:extLst>
            <a:ext uri="{C572A759-6A51-4108-AA02-DFA0A04FC94B}">
              <ma14:wrappingTextBoxFlag xmlns:ma14="http://schemas.microsoft.com/office/mac/drawingml/2011/main" val="1"/>
            </a:ext>
          </a:extLst>
        </p:spPr>
        <p:txBody>
          <a:bodyPr lIns="65022" tIns="65022" rIns="65022" bIns="65022">
            <a:spAutoFit/>
          </a:bodyPr>
          <a:lstStyle>
            <a:lvl1pPr algn="l" defTabSz="1300480">
              <a:defRPr>
                <a:latin typeface="Constantia"/>
                <a:ea typeface="Constantia"/>
                <a:cs typeface="Constantia"/>
                <a:sym typeface="Constantia"/>
              </a:defRPr>
            </a:lvl1pPr>
          </a:lstStyle>
          <a:p>
            <a:pPr/>
            <a:r>
              <a:t>Note:  The polarity of the voltage and the direction of the current through R1 has to follow what was used in the first solution.</a:t>
            </a:r>
          </a:p>
        </p:txBody>
      </p:sp>
      <p:sp>
        <p:nvSpPr>
          <p:cNvPr id="397" name="IS1"/>
          <p:cNvSpPr txBox="1"/>
          <p:nvPr/>
        </p:nvSpPr>
        <p:spPr>
          <a:xfrm>
            <a:off x="7044266" y="4985172"/>
            <a:ext cx="758616" cy="638047"/>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65022" tIns="65022" rIns="65022" bIns="65022">
            <a:spAutoFit/>
          </a:bodyPr>
          <a:lstStyle/>
          <a:p>
            <a:pPr algn="l" defTabSz="1300480">
              <a:defRPr sz="3000">
                <a:latin typeface="Constantia"/>
                <a:ea typeface="Constantia"/>
                <a:cs typeface="Constantia"/>
                <a:sym typeface="Constantia"/>
              </a:defRPr>
            </a:pPr>
            <a:r>
              <a:t>I</a:t>
            </a:r>
            <a:r>
              <a:rPr sz="1600"/>
              <a:t>S</a:t>
            </a:r>
            <a:r>
              <a:rPr sz="2800"/>
              <a:t>1</a:t>
            </a:r>
          </a:p>
        </p:txBody>
      </p:sp>
    </p:spTree>
  </p:cSld>
  <p:clrMapOvr>
    <a:masterClrMapping/>
  </p:clrMapOvr>
  <p:transition xmlns:p14="http://schemas.microsoft.com/office/powerpoint/2010/main" spd="med" advClick="1"/>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9" name="Example #1 (con’t)"/>
          <p:cNvSpPr txBox="1"/>
          <p:nvPr>
            <p:ph type="title"/>
          </p:nvPr>
        </p:nvSpPr>
        <p:spPr>
          <a:prstGeom prst="rect">
            <a:avLst/>
          </a:prstGeom>
        </p:spPr>
        <p:txBody>
          <a:bodyPr/>
          <a:lstStyle/>
          <a:p>
            <a:pPr/>
            <a:r>
              <a:t>Example #1 (con’t)</a:t>
            </a:r>
          </a:p>
        </p:txBody>
      </p:sp>
      <p:pic>
        <p:nvPicPr>
          <p:cNvPr id="400" name="image.png" descr="image.png"/>
          <p:cNvPicPr>
            <a:picLocks noChangeAspect="1"/>
          </p:cNvPicPr>
          <p:nvPr/>
        </p:nvPicPr>
        <p:blipFill>
          <a:blip r:embed="rId2">
            <a:extLst/>
          </a:blip>
          <a:stretch>
            <a:fillRect/>
          </a:stretch>
        </p:blipFill>
        <p:spPr>
          <a:xfrm>
            <a:off x="-2" y="3034452"/>
            <a:ext cx="7886420" cy="6242758"/>
          </a:xfrm>
          <a:prstGeom prst="rect">
            <a:avLst/>
          </a:prstGeom>
          <a:ln w="12700">
            <a:miter lim="400000"/>
          </a:ln>
        </p:spPr>
      </p:pic>
      <p:sp>
        <p:nvSpPr>
          <p:cNvPr id="401" name="IS1"/>
          <p:cNvSpPr txBox="1"/>
          <p:nvPr/>
        </p:nvSpPr>
        <p:spPr>
          <a:xfrm>
            <a:off x="7044266" y="4985172"/>
            <a:ext cx="758616" cy="638047"/>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65022" tIns="65022" rIns="65022" bIns="65022">
            <a:spAutoFit/>
          </a:bodyPr>
          <a:lstStyle/>
          <a:p>
            <a:pPr algn="l" defTabSz="1300480">
              <a:defRPr sz="3000">
                <a:latin typeface="Constantia"/>
                <a:ea typeface="Constantia"/>
                <a:cs typeface="Constantia"/>
                <a:sym typeface="Constantia"/>
              </a:defRPr>
            </a:pPr>
            <a:r>
              <a:t>I</a:t>
            </a:r>
            <a:r>
              <a:rPr sz="1600"/>
              <a:t>S</a:t>
            </a:r>
            <a:r>
              <a:rPr sz="2800"/>
              <a:t>1</a:t>
            </a:r>
          </a:p>
        </p:txBody>
      </p:sp>
      <p:pic>
        <p:nvPicPr>
          <p:cNvPr id="402" name="image.pdf" descr="image.pdf"/>
          <p:cNvPicPr>
            <a:picLocks noChangeAspect="1"/>
          </p:cNvPicPr>
          <p:nvPr/>
        </p:nvPicPr>
        <p:blipFill>
          <a:blip r:embed="rId3">
            <a:extLst/>
          </a:blip>
          <a:stretch>
            <a:fillRect/>
          </a:stretch>
        </p:blipFill>
        <p:spPr>
          <a:xfrm>
            <a:off x="8128000" y="3233136"/>
            <a:ext cx="4533618" cy="5569941"/>
          </a:xfrm>
          <a:prstGeom prst="rect">
            <a:avLst/>
          </a:prstGeom>
          <a:ln w="12700">
            <a:miter lim="400000"/>
          </a:ln>
        </p:spPr>
      </p:pic>
    </p:spTree>
  </p:cSld>
  <p:clrMapOvr>
    <a:masterClrMapping/>
  </p:clrMapOvr>
  <p:transition xmlns:p14="http://schemas.microsoft.com/office/powerpoint/2010/main" spd="med" advClick="1"/>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4" name="Example #1 (con’t)"/>
          <p:cNvSpPr txBox="1"/>
          <p:nvPr>
            <p:ph type="title"/>
          </p:nvPr>
        </p:nvSpPr>
        <p:spPr>
          <a:xfrm>
            <a:off x="952498" y="254000"/>
            <a:ext cx="11099803" cy="1435822"/>
          </a:xfrm>
          <a:prstGeom prst="rect">
            <a:avLst/>
          </a:prstGeom>
        </p:spPr>
        <p:txBody>
          <a:bodyPr/>
          <a:lstStyle/>
          <a:p>
            <a:pPr/>
            <a:r>
              <a:t>Example #1 (con’t)</a:t>
            </a:r>
          </a:p>
        </p:txBody>
      </p:sp>
      <p:pic>
        <p:nvPicPr>
          <p:cNvPr id="405" name="image.png" descr="image.png"/>
          <p:cNvPicPr>
            <a:picLocks noChangeAspect="1"/>
          </p:cNvPicPr>
          <p:nvPr/>
        </p:nvPicPr>
        <p:blipFill>
          <a:blip r:embed="rId2">
            <a:extLst/>
          </a:blip>
          <a:stretch>
            <a:fillRect/>
          </a:stretch>
        </p:blipFill>
        <p:spPr>
          <a:xfrm>
            <a:off x="-2" y="3034452"/>
            <a:ext cx="7886420" cy="6242758"/>
          </a:xfrm>
          <a:prstGeom prst="rect">
            <a:avLst/>
          </a:prstGeom>
          <a:ln w="12700">
            <a:miter lim="400000"/>
          </a:ln>
        </p:spPr>
      </p:pic>
      <p:sp>
        <p:nvSpPr>
          <p:cNvPr id="406" name="IS1"/>
          <p:cNvSpPr txBox="1"/>
          <p:nvPr/>
        </p:nvSpPr>
        <p:spPr>
          <a:xfrm>
            <a:off x="7044266" y="4985172"/>
            <a:ext cx="758616" cy="638047"/>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65022" tIns="65022" rIns="65022" bIns="65022">
            <a:spAutoFit/>
          </a:bodyPr>
          <a:lstStyle/>
          <a:p>
            <a:pPr algn="l" defTabSz="1300480">
              <a:defRPr sz="3000">
                <a:latin typeface="Constantia"/>
                <a:ea typeface="Constantia"/>
                <a:cs typeface="Constantia"/>
                <a:sym typeface="Constantia"/>
              </a:defRPr>
            </a:pPr>
            <a:r>
              <a:t>I</a:t>
            </a:r>
            <a:r>
              <a:rPr sz="1600"/>
              <a:t>S</a:t>
            </a:r>
            <a:r>
              <a:rPr sz="2800"/>
              <a:t>1</a:t>
            </a:r>
          </a:p>
        </p:txBody>
      </p:sp>
      <p:pic>
        <p:nvPicPr>
          <p:cNvPr id="407" name="image.pdf" descr="image.pdf"/>
          <p:cNvPicPr>
            <a:picLocks noChangeAspect="1"/>
          </p:cNvPicPr>
          <p:nvPr/>
        </p:nvPicPr>
        <p:blipFill>
          <a:blip r:embed="rId3">
            <a:extLst/>
          </a:blip>
          <a:stretch>
            <a:fillRect/>
          </a:stretch>
        </p:blipFill>
        <p:spPr>
          <a:xfrm>
            <a:off x="7992533" y="1564638"/>
            <a:ext cx="4903895" cy="7477764"/>
          </a:xfrm>
          <a:prstGeom prst="rect">
            <a:avLst/>
          </a:prstGeom>
          <a:ln w="12700">
            <a:miter lim="400000"/>
          </a:ln>
        </p:spPr>
      </p:pic>
    </p:spTree>
  </p:cSld>
  <p:clrMapOvr>
    <a:masterClrMapping/>
  </p:clrMapOvr>
  <p:transition xmlns:p14="http://schemas.microsoft.com/office/powerpoint/2010/main" spd="med" advClick="1"/>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9" name="Example #1 (con’t)"/>
          <p:cNvSpPr txBox="1"/>
          <p:nvPr>
            <p:ph type="title"/>
          </p:nvPr>
        </p:nvSpPr>
        <p:spPr>
          <a:prstGeom prst="rect">
            <a:avLst/>
          </a:prstGeom>
        </p:spPr>
        <p:txBody>
          <a:bodyPr/>
          <a:lstStyle/>
          <a:p>
            <a:pPr/>
            <a:r>
              <a:t>Example #1 (con’t)</a:t>
            </a:r>
          </a:p>
        </p:txBody>
      </p:sp>
      <p:pic>
        <p:nvPicPr>
          <p:cNvPr id="410" name="image.png" descr="image.png"/>
          <p:cNvPicPr>
            <a:picLocks noChangeAspect="1"/>
          </p:cNvPicPr>
          <p:nvPr/>
        </p:nvPicPr>
        <p:blipFill>
          <a:blip r:embed="rId2">
            <a:extLst/>
          </a:blip>
          <a:stretch>
            <a:fillRect/>
          </a:stretch>
        </p:blipFill>
        <p:spPr>
          <a:xfrm>
            <a:off x="2614505" y="2792870"/>
            <a:ext cx="7775790" cy="6163735"/>
          </a:xfrm>
          <a:prstGeom prst="rect">
            <a:avLst/>
          </a:prstGeom>
          <a:ln w="12700">
            <a:miter lim="400000"/>
          </a:ln>
        </p:spPr>
      </p:pic>
      <p:sp>
        <p:nvSpPr>
          <p:cNvPr id="411" name="Replace VS with a Short Circuit and Is1 with an Open Circuit"/>
          <p:cNvSpPr txBox="1"/>
          <p:nvPr/>
        </p:nvSpPr>
        <p:spPr>
          <a:xfrm>
            <a:off x="1083733" y="3416017"/>
            <a:ext cx="4660054" cy="986281"/>
          </a:xfrm>
          <a:prstGeom prst="rect">
            <a:avLst/>
          </a:prstGeom>
          <a:ln w="12700">
            <a:miter lim="400000"/>
          </a:ln>
          <a:extLst>
            <a:ext uri="{C572A759-6A51-4108-AA02-DFA0A04FC94B}">
              <ma14:wrappingTextBoxFlag xmlns:ma14="http://schemas.microsoft.com/office/mac/drawingml/2011/main" val="1"/>
            </a:ext>
          </a:extLst>
        </p:spPr>
        <p:txBody>
          <a:bodyPr lIns="65022" tIns="65022" rIns="65022" bIns="65022">
            <a:spAutoFit/>
          </a:bodyPr>
          <a:lstStyle/>
          <a:p>
            <a:pPr algn="l" defTabSz="1300480">
              <a:defRPr>
                <a:latin typeface="Constantia"/>
                <a:ea typeface="Constantia"/>
                <a:cs typeface="Constantia"/>
                <a:sym typeface="Constantia"/>
              </a:defRPr>
            </a:pPr>
            <a:r>
              <a:t>Replace V</a:t>
            </a:r>
            <a:r>
              <a:rPr baseline="-20250"/>
              <a:t>S</a:t>
            </a:r>
            <a:r>
              <a:t> with a Short Circuit and Is1 with an Open Circuit</a:t>
            </a:r>
          </a:p>
        </p:txBody>
      </p:sp>
      <p:sp>
        <p:nvSpPr>
          <p:cNvPr id="412" name="IS2"/>
          <p:cNvSpPr txBox="1"/>
          <p:nvPr/>
        </p:nvSpPr>
        <p:spPr>
          <a:xfrm>
            <a:off x="8344745" y="4660053"/>
            <a:ext cx="758616" cy="638047"/>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65022" tIns="65022" rIns="65022" bIns="65022">
            <a:spAutoFit/>
          </a:bodyPr>
          <a:lstStyle/>
          <a:p>
            <a:pPr algn="l" defTabSz="1300480">
              <a:defRPr sz="3000">
                <a:latin typeface="Constantia"/>
                <a:ea typeface="Constantia"/>
                <a:cs typeface="Constantia"/>
                <a:sym typeface="Constantia"/>
              </a:defRPr>
            </a:pPr>
            <a:r>
              <a:t>I</a:t>
            </a:r>
            <a:r>
              <a:rPr sz="1600"/>
              <a:t>S</a:t>
            </a:r>
            <a:r>
              <a:rPr sz="2800"/>
              <a:t>2</a:t>
            </a:r>
          </a:p>
        </p:txBody>
      </p:sp>
    </p:spTree>
  </p:cSld>
  <p:clrMapOvr>
    <a:masterClrMapping/>
  </p:clrMapOvr>
  <p:transition xmlns:p14="http://schemas.microsoft.com/office/powerpoint/2010/main" spd="med" advClick="1"/>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4" name="Example #1 (con’t)"/>
          <p:cNvSpPr txBox="1"/>
          <p:nvPr>
            <p:ph type="title"/>
          </p:nvPr>
        </p:nvSpPr>
        <p:spPr>
          <a:prstGeom prst="rect">
            <a:avLst/>
          </a:prstGeom>
        </p:spPr>
        <p:txBody>
          <a:bodyPr/>
          <a:lstStyle/>
          <a:p>
            <a:pPr/>
            <a:r>
              <a:t>Example #1 (con’t)</a:t>
            </a:r>
          </a:p>
        </p:txBody>
      </p:sp>
      <p:pic>
        <p:nvPicPr>
          <p:cNvPr id="415" name="image.png" descr="image.png"/>
          <p:cNvPicPr>
            <a:picLocks noChangeAspect="1"/>
          </p:cNvPicPr>
          <p:nvPr/>
        </p:nvPicPr>
        <p:blipFill>
          <a:blip r:embed="rId2">
            <a:extLst/>
          </a:blip>
          <a:stretch>
            <a:fillRect/>
          </a:stretch>
        </p:blipFill>
        <p:spPr>
          <a:xfrm>
            <a:off x="537350" y="2779323"/>
            <a:ext cx="6475308" cy="5648962"/>
          </a:xfrm>
          <a:prstGeom prst="rect">
            <a:avLst/>
          </a:prstGeom>
          <a:ln w="12700">
            <a:miter lim="400000"/>
          </a:ln>
        </p:spPr>
      </p:pic>
      <p:sp>
        <p:nvSpPr>
          <p:cNvPr id="416" name="Since V1 = -V3, but I1 must equal I3, the only valid solution is when I1 = I3 = 0A."/>
          <p:cNvSpPr txBox="1"/>
          <p:nvPr/>
        </p:nvSpPr>
        <p:spPr>
          <a:xfrm>
            <a:off x="5743785" y="6285653"/>
            <a:ext cx="6068909" cy="1349247"/>
          </a:xfrm>
          <a:prstGeom prst="rect">
            <a:avLst/>
          </a:prstGeom>
          <a:ln w="12700">
            <a:miter lim="400000"/>
          </a:ln>
          <a:extLst>
            <a:ext uri="{C572A759-6A51-4108-AA02-DFA0A04FC94B}">
              <ma14:wrappingTextBoxFlag xmlns:ma14="http://schemas.microsoft.com/office/mac/drawingml/2011/main" val="1"/>
            </a:ext>
          </a:extLst>
        </p:spPr>
        <p:txBody>
          <a:bodyPr lIns="65022" tIns="65022" rIns="65022" bIns="65022">
            <a:spAutoFit/>
          </a:bodyPr>
          <a:lstStyle/>
          <a:p>
            <a:pPr algn="l" defTabSz="1300480">
              <a:defRPr>
                <a:latin typeface="Constantia"/>
                <a:ea typeface="Constantia"/>
                <a:cs typeface="Constantia"/>
                <a:sym typeface="Constantia"/>
              </a:defRPr>
            </a:pPr>
          </a:p>
          <a:p>
            <a:pPr algn="l" defTabSz="1300480">
              <a:defRPr>
                <a:latin typeface="Constantia"/>
                <a:ea typeface="Constantia"/>
                <a:cs typeface="Constantia"/>
                <a:sym typeface="Constantia"/>
              </a:defRPr>
            </a:pPr>
            <a:r>
              <a:t>Since V1 = -V3, but I1 must equal I3, the only valid solution is when I1 = I3 = </a:t>
            </a:r>
            <a:r>
              <a:rPr>
                <a:latin typeface="Calibri"/>
                <a:ea typeface="Calibri"/>
                <a:cs typeface="Calibri"/>
                <a:sym typeface="Calibri"/>
              </a:rPr>
              <a:t>0</a:t>
            </a:r>
            <a:r>
              <a:t>A.</a:t>
            </a:r>
          </a:p>
        </p:txBody>
      </p:sp>
      <p:sp>
        <p:nvSpPr>
          <p:cNvPr id="417" name="R2 and I2 are not in parallel with R1 and R3."/>
          <p:cNvSpPr txBox="1"/>
          <p:nvPr/>
        </p:nvSpPr>
        <p:spPr>
          <a:xfrm>
            <a:off x="7802880" y="4118185"/>
            <a:ext cx="4208499" cy="942847"/>
          </a:xfrm>
          <a:prstGeom prst="rect">
            <a:avLst/>
          </a:prstGeom>
          <a:ln w="12700">
            <a:miter lim="400000"/>
          </a:ln>
          <a:extLst>
            <a:ext uri="{C572A759-6A51-4108-AA02-DFA0A04FC94B}">
              <ma14:wrappingTextBoxFlag xmlns:ma14="http://schemas.microsoft.com/office/mac/drawingml/2011/main" val="1"/>
            </a:ext>
          </a:extLst>
        </p:spPr>
        <p:txBody>
          <a:bodyPr lIns="65022" tIns="65022" rIns="65022" bIns="65022">
            <a:spAutoFit/>
          </a:bodyPr>
          <a:lstStyle>
            <a:lvl1pPr algn="l" defTabSz="1300480">
              <a:defRPr>
                <a:latin typeface="Constantia"/>
                <a:ea typeface="Constantia"/>
                <a:cs typeface="Constantia"/>
                <a:sym typeface="Constantia"/>
              </a:defRPr>
            </a:lvl1pPr>
          </a:lstStyle>
          <a:p>
            <a:pPr/>
            <a:r>
              <a:t>R2 and I2 are not in parallel with R1 and R3.</a:t>
            </a:r>
          </a:p>
        </p:txBody>
      </p:sp>
      <p:sp>
        <p:nvSpPr>
          <p:cNvPr id="418" name="IS2"/>
          <p:cNvSpPr txBox="1"/>
          <p:nvPr/>
        </p:nvSpPr>
        <p:spPr>
          <a:xfrm>
            <a:off x="5093546" y="4590062"/>
            <a:ext cx="758615" cy="638047"/>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65022" tIns="65022" rIns="65022" bIns="65022">
            <a:spAutoFit/>
          </a:bodyPr>
          <a:lstStyle/>
          <a:p>
            <a:pPr algn="l" defTabSz="1300480">
              <a:defRPr sz="3000">
                <a:latin typeface="Constantia"/>
                <a:ea typeface="Constantia"/>
                <a:cs typeface="Constantia"/>
                <a:sym typeface="Constantia"/>
              </a:defRPr>
            </a:pPr>
            <a:r>
              <a:t>I</a:t>
            </a:r>
            <a:r>
              <a:rPr sz="1600"/>
              <a:t>S</a:t>
            </a:r>
            <a:r>
              <a:rPr sz="2800"/>
              <a:t>2</a:t>
            </a:r>
          </a:p>
        </p:txBody>
      </p:sp>
    </p:spTree>
  </p:cSld>
  <p:clrMapOvr>
    <a:masterClrMapping/>
  </p:clrMapOvr>
  <p:transition xmlns:p14="http://schemas.microsoft.com/office/powerpoint/2010/main" spd="med" advClick="1"/>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0" name="Example #1 (con’t)"/>
          <p:cNvSpPr txBox="1"/>
          <p:nvPr>
            <p:ph type="title"/>
          </p:nvPr>
        </p:nvSpPr>
        <p:spPr>
          <a:prstGeom prst="rect">
            <a:avLst/>
          </a:prstGeom>
        </p:spPr>
        <p:txBody>
          <a:bodyPr/>
          <a:lstStyle/>
          <a:p>
            <a:pPr/>
            <a:r>
              <a:t>Example #1 (con’t)</a:t>
            </a:r>
          </a:p>
        </p:txBody>
      </p:sp>
      <p:pic>
        <p:nvPicPr>
          <p:cNvPr id="421" name="image.png" descr="image.png"/>
          <p:cNvPicPr>
            <a:picLocks noChangeAspect="1"/>
          </p:cNvPicPr>
          <p:nvPr/>
        </p:nvPicPr>
        <p:blipFill>
          <a:blip r:embed="rId2">
            <a:extLst/>
          </a:blip>
          <a:stretch>
            <a:fillRect/>
          </a:stretch>
        </p:blipFill>
        <p:spPr>
          <a:xfrm>
            <a:off x="537350" y="2779323"/>
            <a:ext cx="6475308" cy="5648962"/>
          </a:xfrm>
          <a:prstGeom prst="rect">
            <a:avLst/>
          </a:prstGeom>
          <a:ln w="12700">
            <a:miter lim="400000"/>
          </a:ln>
        </p:spPr>
      </p:pic>
      <p:sp>
        <p:nvSpPr>
          <p:cNvPr id="422" name="IS2"/>
          <p:cNvSpPr txBox="1"/>
          <p:nvPr/>
        </p:nvSpPr>
        <p:spPr>
          <a:xfrm>
            <a:off x="5093546" y="4590062"/>
            <a:ext cx="758615" cy="638047"/>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65022" tIns="65022" rIns="65022" bIns="65022">
            <a:spAutoFit/>
          </a:bodyPr>
          <a:lstStyle/>
          <a:p>
            <a:pPr algn="l" defTabSz="1300480">
              <a:defRPr sz="3000">
                <a:latin typeface="Constantia"/>
                <a:ea typeface="Constantia"/>
                <a:cs typeface="Constantia"/>
                <a:sym typeface="Constantia"/>
              </a:defRPr>
            </a:pPr>
            <a:r>
              <a:t>I</a:t>
            </a:r>
            <a:r>
              <a:rPr sz="1600"/>
              <a:t>S</a:t>
            </a:r>
            <a:r>
              <a:rPr sz="2800"/>
              <a:t>2</a:t>
            </a:r>
          </a:p>
        </p:txBody>
      </p:sp>
      <p:pic>
        <p:nvPicPr>
          <p:cNvPr id="423" name="image.pdf" descr="image.pdf"/>
          <p:cNvPicPr>
            <a:picLocks noChangeAspect="1"/>
          </p:cNvPicPr>
          <p:nvPr/>
        </p:nvPicPr>
        <p:blipFill>
          <a:blip r:embed="rId3">
            <a:extLst/>
          </a:blip>
          <a:stretch>
            <a:fillRect/>
          </a:stretch>
        </p:blipFill>
        <p:spPr>
          <a:xfrm>
            <a:off x="7802880" y="2492586"/>
            <a:ext cx="4696179" cy="6906543"/>
          </a:xfrm>
          <a:prstGeom prst="rect">
            <a:avLst/>
          </a:prstGeom>
          <a:ln w="12700">
            <a:miter lim="400000"/>
          </a:ln>
        </p:spPr>
      </p:pic>
    </p:spTree>
  </p:cSld>
  <p:clrMapOvr>
    <a:masterClrMapping/>
  </p:clrMapOvr>
  <p:transition xmlns:p14="http://schemas.microsoft.com/office/powerpoint/2010/main" spd="med" advClick="1"/>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5" name="Example #1"/>
          <p:cNvSpPr txBox="1"/>
          <p:nvPr>
            <p:ph type="title"/>
          </p:nvPr>
        </p:nvSpPr>
        <p:spPr>
          <a:prstGeom prst="rect">
            <a:avLst/>
          </a:prstGeom>
        </p:spPr>
        <p:txBody>
          <a:bodyPr/>
          <a:lstStyle/>
          <a:p>
            <a:pPr/>
            <a:r>
              <a:t>Example #1</a:t>
            </a:r>
          </a:p>
        </p:txBody>
      </p:sp>
      <p:graphicFrame>
        <p:nvGraphicFramePr>
          <p:cNvPr id="426" name="Table"/>
          <p:cNvGraphicFramePr/>
          <p:nvPr/>
        </p:nvGraphicFramePr>
        <p:xfrm>
          <a:off x="650238" y="4226559"/>
          <a:ext cx="11004284" cy="505163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734993"/>
                <a:gridCol w="1872634"/>
                <a:gridCol w="2934071"/>
                <a:gridCol w="2122300"/>
                <a:gridCol w="2340283"/>
              </a:tblGrid>
              <a:tr h="682710">
                <a:tc>
                  <a:txBody>
                    <a:bodyPr/>
                    <a:lstStyle/>
                    <a:p>
                      <a:pPr defTabSz="1300480">
                        <a:defRPr b="1" sz="3400">
                          <a:solidFill>
                            <a:srgbClr val="FFFFFF"/>
                          </a:solidFill>
                          <a:latin typeface="Constantia"/>
                          <a:ea typeface="Constantia"/>
                          <a:cs typeface="Constantia"/>
                          <a:sym typeface="Constantia"/>
                        </a:defRPr>
                      </a:pPr>
                    </a:p>
                  </a:txBody>
                  <a:tcPr marL="45720" marR="45720" marT="45720" marB="45720" anchor="t" anchorCtr="0" horzOverflow="overflow">
                    <a:lnL w="12700">
                      <a:solidFill>
                        <a:srgbClr val="FFFFFF"/>
                      </a:solidFill>
                    </a:lnL>
                    <a:lnR w="12700">
                      <a:solidFill>
                        <a:srgbClr val="FFFFFF"/>
                      </a:solidFill>
                    </a:lnR>
                    <a:lnT w="12700">
                      <a:solidFill>
                        <a:srgbClr val="FFFFFF"/>
                      </a:solidFill>
                    </a:lnT>
                    <a:lnB w="50800">
                      <a:solidFill>
                        <a:srgbClr val="FFFFFF"/>
                      </a:solidFill>
                    </a:lnB>
                    <a:solidFill>
                      <a:srgbClr val="CEB966"/>
                    </a:solidFill>
                  </a:tcPr>
                </a:tc>
                <a:tc>
                  <a:txBody>
                    <a:bodyPr/>
                    <a:lstStyle/>
                    <a:p>
                      <a:pPr defTabSz="1300480">
                        <a:defRPr sz="1800"/>
                      </a:pPr>
                      <a:r>
                        <a:rPr b="1" sz="3400">
                          <a:solidFill>
                            <a:srgbClr val="FFFFFF"/>
                          </a:solidFill>
                          <a:latin typeface="Constantia"/>
                          <a:ea typeface="Constantia"/>
                          <a:cs typeface="Constantia"/>
                          <a:sym typeface="Constantia"/>
                        </a:rPr>
                        <a:t>Vs on</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50800">
                      <a:solidFill>
                        <a:srgbClr val="FFFFFF"/>
                      </a:solidFill>
                    </a:lnB>
                    <a:solidFill>
                      <a:srgbClr val="CEB966"/>
                    </a:solidFill>
                  </a:tcPr>
                </a:tc>
                <a:tc>
                  <a:txBody>
                    <a:bodyPr/>
                    <a:lstStyle/>
                    <a:p>
                      <a:pPr defTabSz="1300480">
                        <a:defRPr sz="1800"/>
                      </a:pPr>
                      <a:r>
                        <a:rPr b="1" sz="3400">
                          <a:solidFill>
                            <a:srgbClr val="FFFFFF"/>
                          </a:solidFill>
                          <a:latin typeface="Constantia"/>
                          <a:ea typeface="Constantia"/>
                          <a:cs typeface="Constantia"/>
                          <a:sym typeface="Constantia"/>
                        </a:rPr>
                        <a:t>Is1 on</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50800">
                      <a:solidFill>
                        <a:srgbClr val="FFFFFF"/>
                      </a:solidFill>
                    </a:lnB>
                    <a:solidFill>
                      <a:srgbClr val="CEB966"/>
                    </a:solidFill>
                  </a:tcPr>
                </a:tc>
                <a:tc>
                  <a:txBody>
                    <a:bodyPr/>
                    <a:lstStyle/>
                    <a:p>
                      <a:pPr defTabSz="1300480">
                        <a:defRPr sz="1800"/>
                      </a:pPr>
                      <a:r>
                        <a:rPr b="1" sz="3400">
                          <a:solidFill>
                            <a:srgbClr val="FFFFFF"/>
                          </a:solidFill>
                          <a:latin typeface="Constantia"/>
                          <a:ea typeface="Constantia"/>
                          <a:cs typeface="Constantia"/>
                          <a:sym typeface="Constantia"/>
                        </a:rPr>
                        <a:t>Is2 on</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50800">
                      <a:solidFill>
                        <a:srgbClr val="FFFFFF"/>
                      </a:solidFill>
                    </a:lnB>
                    <a:solidFill>
                      <a:srgbClr val="CEB966"/>
                    </a:solidFill>
                  </a:tcPr>
                </a:tc>
                <a:tc>
                  <a:txBody>
                    <a:bodyPr/>
                    <a:lstStyle/>
                    <a:p>
                      <a:pPr defTabSz="1300480">
                        <a:defRPr sz="1800"/>
                      </a:pPr>
                      <a:r>
                        <a:rPr b="1" sz="3400">
                          <a:solidFill>
                            <a:srgbClr val="FFFFFF"/>
                          </a:solidFill>
                          <a:latin typeface="Constantia"/>
                          <a:ea typeface="Constantia"/>
                          <a:cs typeface="Constantia"/>
                          <a:sym typeface="Constantia"/>
                        </a:rPr>
                        <a:t>Total</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50800">
                      <a:solidFill>
                        <a:srgbClr val="FFFFFF"/>
                      </a:solidFill>
                    </a:lnB>
                    <a:solidFill>
                      <a:srgbClr val="CEB966"/>
                    </a:solidFill>
                  </a:tcPr>
                </a:tc>
              </a:tr>
              <a:tr h="745070">
                <a:tc>
                  <a:txBody>
                    <a:bodyPr/>
                    <a:lstStyle/>
                    <a:p>
                      <a:pPr defTabSz="1300480">
                        <a:defRPr sz="3400">
                          <a:latin typeface="Constantia"/>
                          <a:ea typeface="Constantia"/>
                          <a:cs typeface="Constantia"/>
                          <a:sym typeface="Constantia"/>
                        </a:defRPr>
                      </a:pPr>
                      <a:r>
                        <a:t>I</a:t>
                      </a:r>
                      <a:r>
                        <a:rPr baseline="-19411"/>
                        <a:t>1</a:t>
                      </a:r>
                    </a:p>
                  </a:txBody>
                  <a:tcPr marL="45720" marR="45720" marT="45720" marB="45720" anchor="t" anchorCtr="0" horzOverflow="overflow">
                    <a:lnL w="12700">
                      <a:solidFill>
                        <a:srgbClr val="FFFFFF"/>
                      </a:solidFill>
                    </a:lnL>
                    <a:lnR w="12700">
                      <a:solidFill>
                        <a:srgbClr val="FFFFFF"/>
                      </a:solidFill>
                    </a:lnR>
                    <a:lnT w="50800">
                      <a:solidFill>
                        <a:srgbClr val="FFFFFF"/>
                      </a:solidFill>
                    </a:lnT>
                    <a:lnB w="12700">
                      <a:solidFill>
                        <a:srgbClr val="FFFFFF"/>
                      </a:solidFill>
                    </a:lnB>
                    <a:solidFill>
                      <a:srgbClr val="EDE6D3"/>
                    </a:solidFill>
                  </a:tcPr>
                </a:tc>
                <a:tc>
                  <a:txBody>
                    <a:bodyPr/>
                    <a:lstStyle/>
                    <a:p>
                      <a:pPr defTabSz="1300480">
                        <a:defRPr sz="1800"/>
                      </a:pPr>
                      <a:r>
                        <a:rPr sz="3400">
                          <a:latin typeface="Constantia"/>
                          <a:ea typeface="Constantia"/>
                          <a:cs typeface="Constantia"/>
                          <a:sym typeface="Constantia"/>
                        </a:rPr>
                        <a:t>+42.9mA</a:t>
                      </a:r>
                    </a:p>
                  </a:txBody>
                  <a:tcPr marL="45720" marR="45720" marT="45720" marB="45720" anchor="t" anchorCtr="0" horzOverflow="overflow">
                    <a:lnL w="12700">
                      <a:solidFill>
                        <a:srgbClr val="FFFFFF"/>
                      </a:solidFill>
                    </a:lnL>
                    <a:lnR w="12700">
                      <a:solidFill>
                        <a:srgbClr val="FFFFFF"/>
                      </a:solidFill>
                    </a:lnR>
                    <a:lnT w="50800">
                      <a:solidFill>
                        <a:srgbClr val="FFFFFF"/>
                      </a:solidFill>
                    </a:lnT>
                    <a:lnB w="12700">
                      <a:solidFill>
                        <a:srgbClr val="FFFFFF"/>
                      </a:solidFill>
                    </a:lnB>
                    <a:solidFill>
                      <a:srgbClr val="EDE6D3"/>
                    </a:solidFill>
                  </a:tcPr>
                </a:tc>
                <a:tc>
                  <a:txBody>
                    <a:bodyPr/>
                    <a:lstStyle/>
                    <a:p>
                      <a:pPr defTabSz="1300480">
                        <a:defRPr sz="1800"/>
                      </a:pPr>
                      <a:r>
                        <a:rPr sz="3400">
                          <a:latin typeface="Constantia"/>
                          <a:ea typeface="Constantia"/>
                          <a:cs typeface="Constantia"/>
                          <a:sym typeface="Constantia"/>
                        </a:rPr>
                        <a:t>+0.286A</a:t>
                      </a:r>
                    </a:p>
                  </a:txBody>
                  <a:tcPr marL="45720" marR="45720" marT="45720" marB="45720" anchor="t" anchorCtr="0" horzOverflow="overflow">
                    <a:lnL w="12700">
                      <a:solidFill>
                        <a:srgbClr val="FFFFFF"/>
                      </a:solidFill>
                    </a:lnL>
                    <a:lnR w="12700">
                      <a:solidFill>
                        <a:srgbClr val="FFFFFF"/>
                      </a:solidFill>
                    </a:lnR>
                    <a:lnT w="50800">
                      <a:solidFill>
                        <a:srgbClr val="FFFFFF"/>
                      </a:solidFill>
                    </a:lnT>
                    <a:lnB w="12700">
                      <a:solidFill>
                        <a:srgbClr val="FFFFFF"/>
                      </a:solidFill>
                    </a:lnB>
                    <a:solidFill>
                      <a:srgbClr val="EDE6D3"/>
                    </a:solidFill>
                  </a:tcPr>
                </a:tc>
                <a:tc>
                  <a:txBody>
                    <a:bodyPr/>
                    <a:lstStyle/>
                    <a:p>
                      <a:pPr defTabSz="1300480">
                        <a:defRPr sz="1800"/>
                      </a:pPr>
                      <a:r>
                        <a:rPr sz="3400">
                          <a:latin typeface="Constantia"/>
                          <a:ea typeface="Constantia"/>
                          <a:cs typeface="Constantia"/>
                          <a:sym typeface="Constantia"/>
                        </a:rPr>
                        <a:t>0A</a:t>
                      </a:r>
                    </a:p>
                  </a:txBody>
                  <a:tcPr marL="45720" marR="45720" marT="45720" marB="45720" anchor="t" anchorCtr="0" horzOverflow="overflow">
                    <a:lnL w="12700">
                      <a:solidFill>
                        <a:srgbClr val="FFFFFF"/>
                      </a:solidFill>
                    </a:lnL>
                    <a:lnR w="12700">
                      <a:solidFill>
                        <a:srgbClr val="FFFFFF"/>
                      </a:solidFill>
                    </a:lnR>
                    <a:lnT w="50800">
                      <a:solidFill>
                        <a:srgbClr val="FFFFFF"/>
                      </a:solidFill>
                    </a:lnT>
                    <a:lnB w="12700">
                      <a:solidFill>
                        <a:srgbClr val="FFFFFF"/>
                      </a:solidFill>
                    </a:lnB>
                    <a:solidFill>
                      <a:srgbClr val="EDE6D3"/>
                    </a:solidFill>
                  </a:tcPr>
                </a:tc>
                <a:tc>
                  <a:txBody>
                    <a:bodyPr/>
                    <a:lstStyle/>
                    <a:p>
                      <a:pPr defTabSz="1300480">
                        <a:defRPr sz="1800"/>
                      </a:pPr>
                      <a:r>
                        <a:rPr sz="3400">
                          <a:latin typeface="Constantia"/>
                          <a:ea typeface="Constantia"/>
                          <a:cs typeface="Constantia"/>
                          <a:sym typeface="Constantia"/>
                        </a:rPr>
                        <a:t>+0.329A</a:t>
                      </a:r>
                    </a:p>
                  </a:txBody>
                  <a:tcPr marL="45720" marR="45720" marT="45720" marB="45720" anchor="t" anchorCtr="0" horzOverflow="overflow">
                    <a:lnL w="12700">
                      <a:solidFill>
                        <a:srgbClr val="FFFFFF"/>
                      </a:solidFill>
                    </a:lnL>
                    <a:lnR w="12700">
                      <a:solidFill>
                        <a:srgbClr val="FFFFFF"/>
                      </a:solidFill>
                    </a:lnR>
                    <a:lnT w="50800">
                      <a:solidFill>
                        <a:srgbClr val="FFFFFF"/>
                      </a:solidFill>
                    </a:lnT>
                    <a:lnB w="12700">
                      <a:solidFill>
                        <a:srgbClr val="FFFFFF"/>
                      </a:solidFill>
                    </a:lnB>
                    <a:solidFill>
                      <a:srgbClr val="EDE6D3"/>
                    </a:solidFill>
                  </a:tcPr>
                </a:tc>
              </a:tr>
              <a:tr h="721613">
                <a:tc>
                  <a:txBody>
                    <a:bodyPr/>
                    <a:lstStyle/>
                    <a:p>
                      <a:pPr defTabSz="1300480">
                        <a:defRPr sz="3400">
                          <a:latin typeface="Constantia"/>
                          <a:ea typeface="Constantia"/>
                          <a:cs typeface="Constantia"/>
                          <a:sym typeface="Constantia"/>
                        </a:defRPr>
                      </a:pPr>
                      <a:r>
                        <a:t>I</a:t>
                      </a:r>
                      <a:r>
                        <a:rPr baseline="-19411"/>
                        <a:t>2</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6F3EA"/>
                    </a:solidFill>
                  </a:tcPr>
                </a:tc>
                <a:tc>
                  <a:txBody>
                    <a:bodyPr/>
                    <a:lstStyle/>
                    <a:p>
                      <a:pPr defTabSz="1300480">
                        <a:defRPr sz="1800"/>
                      </a:pPr>
                      <a:r>
                        <a:rPr sz="3400">
                          <a:latin typeface="Constantia"/>
                          <a:ea typeface="Constantia"/>
                          <a:cs typeface="Constantia"/>
                          <a:sym typeface="Constantia"/>
                        </a:rPr>
                        <a:t>0</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6F3EA"/>
                    </a:solidFill>
                  </a:tcPr>
                </a:tc>
                <a:tc>
                  <a:txBody>
                    <a:bodyPr/>
                    <a:lstStyle/>
                    <a:p>
                      <a:pPr defTabSz="1300480">
                        <a:defRPr sz="1800"/>
                      </a:pPr>
                      <a:r>
                        <a:rPr sz="3400">
                          <a:latin typeface="Constantia"/>
                          <a:ea typeface="Constantia"/>
                          <a:cs typeface="Constantia"/>
                          <a:sym typeface="Constantia"/>
                        </a:rPr>
                        <a:t>-1A</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6F3EA"/>
                    </a:solidFill>
                  </a:tcPr>
                </a:tc>
                <a:tc>
                  <a:txBody>
                    <a:bodyPr/>
                    <a:lstStyle/>
                    <a:p>
                      <a:pPr defTabSz="1300480">
                        <a:defRPr sz="1800"/>
                      </a:pPr>
                      <a:r>
                        <a:rPr sz="3400">
                          <a:latin typeface="Constantia"/>
                          <a:ea typeface="Constantia"/>
                          <a:cs typeface="Constantia"/>
                          <a:sym typeface="Constantia"/>
                        </a:rPr>
                        <a:t>2A</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6F3EA"/>
                    </a:solidFill>
                  </a:tcPr>
                </a:tc>
                <a:tc>
                  <a:txBody>
                    <a:bodyPr/>
                    <a:lstStyle/>
                    <a:p>
                      <a:pPr defTabSz="1300480">
                        <a:defRPr sz="1800"/>
                      </a:pPr>
                      <a:r>
                        <a:rPr sz="3400">
                          <a:latin typeface="Constantia"/>
                          <a:ea typeface="Constantia"/>
                          <a:cs typeface="Constantia"/>
                          <a:sym typeface="Constantia"/>
                        </a:rPr>
                        <a:t>+1A</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6F3EA"/>
                    </a:solidFill>
                  </a:tcPr>
                </a:tc>
              </a:tr>
              <a:tr h="737404">
                <a:tc>
                  <a:txBody>
                    <a:bodyPr/>
                    <a:lstStyle/>
                    <a:p>
                      <a:pPr defTabSz="1300480">
                        <a:defRPr sz="3400">
                          <a:latin typeface="Constantia"/>
                          <a:ea typeface="Constantia"/>
                          <a:cs typeface="Constantia"/>
                          <a:sym typeface="Constantia"/>
                        </a:defRPr>
                      </a:pPr>
                      <a:r>
                        <a:t>I</a:t>
                      </a:r>
                      <a:r>
                        <a:rPr baseline="-19411"/>
                        <a:t>3</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DE6D3"/>
                    </a:solidFill>
                  </a:tcPr>
                </a:tc>
                <a:tc>
                  <a:txBody>
                    <a:bodyPr/>
                    <a:lstStyle/>
                    <a:p>
                      <a:pPr defTabSz="1300480">
                        <a:defRPr sz="1800"/>
                      </a:pPr>
                      <a:r>
                        <a:rPr sz="3400">
                          <a:latin typeface="Constantia"/>
                          <a:ea typeface="Constantia"/>
                          <a:cs typeface="Constantia"/>
                          <a:sym typeface="Constantia"/>
                        </a:rPr>
                        <a:t>+42.9mA</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DE6D3"/>
                    </a:solidFill>
                  </a:tcPr>
                </a:tc>
                <a:tc>
                  <a:txBody>
                    <a:bodyPr/>
                    <a:lstStyle/>
                    <a:p>
                      <a:pPr defTabSz="1300480">
                        <a:defRPr sz="1800"/>
                      </a:pPr>
                      <a:r>
                        <a:rPr sz="3400">
                          <a:latin typeface="Constantia"/>
                          <a:ea typeface="Constantia"/>
                          <a:cs typeface="Constantia"/>
                          <a:sym typeface="Constantia"/>
                        </a:rPr>
                        <a:t>-0.714A</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DE6D3"/>
                    </a:solidFill>
                  </a:tcPr>
                </a:tc>
                <a:tc>
                  <a:txBody>
                    <a:bodyPr/>
                    <a:lstStyle/>
                    <a:p>
                      <a:pPr defTabSz="1300480">
                        <a:defRPr sz="1800"/>
                      </a:pPr>
                      <a:r>
                        <a:rPr sz="3400">
                          <a:latin typeface="Constantia"/>
                          <a:ea typeface="Constantia"/>
                          <a:cs typeface="Constantia"/>
                          <a:sym typeface="Constantia"/>
                        </a:rPr>
                        <a:t>0A</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DE6D3"/>
                    </a:solidFill>
                  </a:tcPr>
                </a:tc>
                <a:tc>
                  <a:txBody>
                    <a:bodyPr/>
                    <a:lstStyle/>
                    <a:p>
                      <a:pPr defTabSz="1300480">
                        <a:defRPr sz="1800"/>
                      </a:pPr>
                      <a:r>
                        <a:rPr sz="3400">
                          <a:latin typeface="Constantia"/>
                          <a:ea typeface="Constantia"/>
                          <a:cs typeface="Constantia"/>
                          <a:sym typeface="Constantia"/>
                        </a:rPr>
                        <a:t>-0.671A</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DE6D3"/>
                    </a:solidFill>
                  </a:tcPr>
                </a:tc>
              </a:tr>
              <a:tr h="721613">
                <a:tc>
                  <a:txBody>
                    <a:bodyPr/>
                    <a:lstStyle/>
                    <a:p>
                      <a:pPr defTabSz="1300480">
                        <a:defRPr sz="3400">
                          <a:latin typeface="Constantia"/>
                          <a:ea typeface="Constantia"/>
                          <a:cs typeface="Constantia"/>
                          <a:sym typeface="Constantia"/>
                        </a:defRPr>
                      </a:pPr>
                      <a:r>
                        <a:t>V</a:t>
                      </a:r>
                      <a:r>
                        <a:rPr baseline="-19411"/>
                        <a:t>1</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6F3EA"/>
                    </a:solidFill>
                  </a:tcPr>
                </a:tc>
                <a:tc>
                  <a:txBody>
                    <a:bodyPr/>
                    <a:lstStyle/>
                    <a:p>
                      <a:pPr defTabSz="1300480">
                        <a:defRPr sz="1800"/>
                      </a:pPr>
                      <a:r>
                        <a:rPr sz="3400">
                          <a:latin typeface="Constantia"/>
                          <a:ea typeface="Constantia"/>
                          <a:cs typeface="Constantia"/>
                          <a:sym typeface="Constantia"/>
                        </a:rPr>
                        <a:t>+2.14V</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6F3EA"/>
                    </a:solidFill>
                  </a:tcPr>
                </a:tc>
                <a:tc>
                  <a:txBody>
                    <a:bodyPr/>
                    <a:lstStyle/>
                    <a:p>
                      <a:pPr defTabSz="1300480">
                        <a:defRPr sz="1800"/>
                      </a:pPr>
                      <a:r>
                        <a:rPr sz="3400">
                          <a:latin typeface="Constantia"/>
                          <a:ea typeface="Constantia"/>
                          <a:cs typeface="Constantia"/>
                          <a:sym typeface="Constantia"/>
                        </a:rPr>
                        <a:t>+14.3V</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6F3EA"/>
                    </a:solidFill>
                  </a:tcPr>
                </a:tc>
                <a:tc>
                  <a:txBody>
                    <a:bodyPr/>
                    <a:lstStyle/>
                    <a:p>
                      <a:pPr defTabSz="1300480">
                        <a:defRPr sz="1800"/>
                      </a:pPr>
                      <a:r>
                        <a:rPr sz="3400">
                          <a:latin typeface="Constantia"/>
                          <a:ea typeface="Constantia"/>
                          <a:cs typeface="Constantia"/>
                          <a:sym typeface="Constantia"/>
                        </a:rPr>
                        <a:t>0V</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6F3EA"/>
                    </a:solidFill>
                  </a:tcPr>
                </a:tc>
                <a:tc>
                  <a:txBody>
                    <a:bodyPr/>
                    <a:lstStyle/>
                    <a:p>
                      <a:pPr defTabSz="1300480">
                        <a:defRPr sz="1800"/>
                      </a:pPr>
                      <a:r>
                        <a:rPr sz="3400">
                          <a:latin typeface="Constantia"/>
                          <a:ea typeface="Constantia"/>
                          <a:cs typeface="Constantia"/>
                          <a:sym typeface="Constantia"/>
                        </a:rPr>
                        <a:t>16.4V</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6F3EA"/>
                    </a:solidFill>
                  </a:tcPr>
                </a:tc>
              </a:tr>
              <a:tr h="721613">
                <a:tc>
                  <a:txBody>
                    <a:bodyPr/>
                    <a:lstStyle/>
                    <a:p>
                      <a:pPr defTabSz="1300480">
                        <a:defRPr sz="3400">
                          <a:latin typeface="Constantia"/>
                          <a:ea typeface="Constantia"/>
                          <a:cs typeface="Constantia"/>
                          <a:sym typeface="Constantia"/>
                        </a:defRPr>
                      </a:pPr>
                      <a:r>
                        <a:t>V</a:t>
                      </a:r>
                      <a:r>
                        <a:rPr baseline="-19411"/>
                        <a:t>2</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DE6D3"/>
                    </a:solidFill>
                  </a:tcPr>
                </a:tc>
                <a:tc>
                  <a:txBody>
                    <a:bodyPr/>
                    <a:lstStyle/>
                    <a:p>
                      <a:pPr defTabSz="1300480">
                        <a:defRPr sz="1800"/>
                      </a:pPr>
                      <a:r>
                        <a:rPr sz="3400">
                          <a:latin typeface="Constantia"/>
                          <a:ea typeface="Constantia"/>
                          <a:cs typeface="Constantia"/>
                          <a:sym typeface="Constantia"/>
                        </a:rPr>
                        <a:t>0V</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DE6D3"/>
                    </a:solidFill>
                  </a:tcPr>
                </a:tc>
                <a:tc>
                  <a:txBody>
                    <a:bodyPr/>
                    <a:lstStyle/>
                    <a:p>
                      <a:pPr defTabSz="1300480">
                        <a:defRPr sz="1800"/>
                      </a:pPr>
                      <a:r>
                        <a:rPr sz="3400">
                          <a:latin typeface="Constantia"/>
                          <a:ea typeface="Constantia"/>
                          <a:cs typeface="Constantia"/>
                          <a:sym typeface="Constantia"/>
                        </a:rPr>
                        <a:t>-30V</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DE6D3"/>
                    </a:solidFill>
                  </a:tcPr>
                </a:tc>
                <a:tc>
                  <a:txBody>
                    <a:bodyPr/>
                    <a:lstStyle/>
                    <a:p>
                      <a:pPr defTabSz="1300480">
                        <a:defRPr sz="1800"/>
                      </a:pPr>
                      <a:r>
                        <a:rPr sz="3400">
                          <a:latin typeface="Constantia"/>
                          <a:ea typeface="Constantia"/>
                          <a:cs typeface="Constantia"/>
                          <a:sym typeface="Constantia"/>
                        </a:rPr>
                        <a:t>+ 60V</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DE6D3"/>
                    </a:solidFill>
                  </a:tcPr>
                </a:tc>
                <a:tc>
                  <a:txBody>
                    <a:bodyPr/>
                    <a:lstStyle/>
                    <a:p>
                      <a:pPr defTabSz="1300480">
                        <a:defRPr sz="1800"/>
                      </a:pPr>
                      <a:r>
                        <a:rPr sz="3400">
                          <a:latin typeface="Constantia"/>
                          <a:ea typeface="Constantia"/>
                          <a:cs typeface="Constantia"/>
                          <a:sym typeface="Constantia"/>
                        </a:rPr>
                        <a:t>+30.0V</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EDE6D3"/>
                    </a:solidFill>
                  </a:tcPr>
                </a:tc>
              </a:tr>
              <a:tr h="721613">
                <a:tc>
                  <a:txBody>
                    <a:bodyPr/>
                    <a:lstStyle/>
                    <a:p>
                      <a:pPr defTabSz="1300480">
                        <a:defRPr sz="3400">
                          <a:latin typeface="Constantia"/>
                          <a:ea typeface="Constantia"/>
                          <a:cs typeface="Constantia"/>
                          <a:sym typeface="Constantia"/>
                        </a:defRPr>
                      </a:pPr>
                      <a:r>
                        <a:t>V</a:t>
                      </a:r>
                      <a:r>
                        <a:rPr baseline="-19411"/>
                        <a:t>3</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6F3EA"/>
                    </a:solidFill>
                  </a:tcPr>
                </a:tc>
                <a:tc>
                  <a:txBody>
                    <a:bodyPr/>
                    <a:lstStyle/>
                    <a:p>
                      <a:pPr defTabSz="1300480">
                        <a:defRPr sz="1800"/>
                      </a:pPr>
                      <a:r>
                        <a:rPr sz="3400">
                          <a:latin typeface="Constantia"/>
                          <a:ea typeface="Constantia"/>
                          <a:cs typeface="Constantia"/>
                          <a:sym typeface="Constantia"/>
                        </a:rPr>
                        <a:t>0.857V</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6F3EA"/>
                    </a:solidFill>
                  </a:tcPr>
                </a:tc>
                <a:tc>
                  <a:txBody>
                    <a:bodyPr/>
                    <a:lstStyle/>
                    <a:p>
                      <a:pPr defTabSz="1300480">
                        <a:defRPr sz="1800"/>
                      </a:pPr>
                      <a:r>
                        <a:rPr sz="3400">
                          <a:latin typeface="Constantia"/>
                          <a:ea typeface="Constantia"/>
                          <a:cs typeface="Constantia"/>
                          <a:sym typeface="Constantia"/>
                        </a:rPr>
                        <a:t>-14.3V</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6F3EA"/>
                    </a:solidFill>
                  </a:tcPr>
                </a:tc>
                <a:tc>
                  <a:txBody>
                    <a:bodyPr/>
                    <a:lstStyle/>
                    <a:p>
                      <a:pPr defTabSz="1300480">
                        <a:defRPr sz="1800"/>
                      </a:pPr>
                      <a:r>
                        <a:rPr sz="3400">
                          <a:latin typeface="Constantia"/>
                          <a:ea typeface="Constantia"/>
                          <a:cs typeface="Constantia"/>
                          <a:sym typeface="Constantia"/>
                        </a:rPr>
                        <a:t>0V</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6F3EA"/>
                    </a:solidFill>
                  </a:tcPr>
                </a:tc>
                <a:tc>
                  <a:txBody>
                    <a:bodyPr/>
                    <a:lstStyle/>
                    <a:p>
                      <a:pPr defTabSz="1300480">
                        <a:defRPr sz="1800"/>
                      </a:pPr>
                      <a:r>
                        <a:rPr sz="3400">
                          <a:latin typeface="Constantia"/>
                          <a:ea typeface="Constantia"/>
                          <a:cs typeface="Constantia"/>
                          <a:sym typeface="Constantia"/>
                        </a:rPr>
                        <a:t>-13.4V</a:t>
                      </a:r>
                    </a:p>
                  </a:txBody>
                  <a:tcPr marL="45720" marR="45720" marT="45720" marB="45720" anchor="t" anchorCtr="0" horzOverflow="overflow">
                    <a:lnL w="12700">
                      <a:solidFill>
                        <a:srgbClr val="FFFFFF"/>
                      </a:solidFill>
                    </a:lnL>
                    <a:lnR w="12700">
                      <a:solidFill>
                        <a:srgbClr val="FFFFFF"/>
                      </a:solidFill>
                    </a:lnR>
                    <a:lnT w="12700">
                      <a:solidFill>
                        <a:srgbClr val="FFFFFF"/>
                      </a:solidFill>
                    </a:lnT>
                    <a:lnB w="12700">
                      <a:solidFill>
                        <a:srgbClr val="FFFFFF"/>
                      </a:solidFill>
                    </a:lnB>
                    <a:solidFill>
                      <a:srgbClr val="F6F3EA"/>
                    </a:solidFill>
                  </a:tcPr>
                </a:tc>
              </a:tr>
            </a:tbl>
          </a:graphicData>
        </a:graphic>
      </p:graphicFrame>
      <p:sp>
        <p:nvSpPr>
          <p:cNvPr id="427" name="Currents and voltages in original circuit with all sources turned on."/>
          <p:cNvSpPr txBox="1"/>
          <p:nvPr/>
        </p:nvSpPr>
        <p:spPr>
          <a:xfrm>
            <a:off x="650238" y="3142825"/>
            <a:ext cx="11704323" cy="638047"/>
          </a:xfrm>
          <a:prstGeom prst="rect">
            <a:avLst/>
          </a:prstGeom>
          <a:ln w="12700">
            <a:miter lim="400000"/>
          </a:ln>
          <a:extLst>
            <a:ext uri="{C572A759-6A51-4108-AA02-DFA0A04FC94B}">
              <ma14:wrappingTextBoxFlag xmlns:ma14="http://schemas.microsoft.com/office/mac/drawingml/2011/main" val="1"/>
            </a:ext>
          </a:extLst>
        </p:spPr>
        <p:txBody>
          <a:bodyPr lIns="65022" tIns="65022" rIns="65022" bIns="65022">
            <a:spAutoFit/>
          </a:bodyPr>
          <a:lstStyle>
            <a:lvl1pPr algn="l" defTabSz="1300480">
              <a:defRPr sz="3000">
                <a:latin typeface="Constantia"/>
                <a:ea typeface="Constantia"/>
                <a:cs typeface="Constantia"/>
                <a:sym typeface="Constantia"/>
              </a:defRPr>
            </a:lvl1pPr>
          </a:lstStyle>
          <a:p>
            <a:pPr/>
            <a:r>
              <a:t>Currents and voltages in original circuit with all sources turned on.</a:t>
            </a:r>
          </a:p>
        </p:txBody>
      </p:sp>
    </p:spTree>
  </p:cSld>
  <p:clrMapOvr>
    <a:masterClrMapping/>
  </p:clrMapOvr>
  <p:transition xmlns:p14="http://schemas.microsoft.com/office/powerpoint/2010/main" spd="med" advClick="1"/>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9" name="LTspice Simulation"/>
          <p:cNvSpPr txBox="1"/>
          <p:nvPr>
            <p:ph type="title"/>
          </p:nvPr>
        </p:nvSpPr>
        <p:spPr>
          <a:prstGeom prst="rect">
            <a:avLst/>
          </a:prstGeom>
        </p:spPr>
        <p:txBody>
          <a:bodyPr/>
          <a:lstStyle/>
          <a:p>
            <a:pPr/>
            <a:r>
              <a:t>LTspice Simulation</a:t>
            </a:r>
          </a:p>
        </p:txBody>
      </p:sp>
      <p:pic>
        <p:nvPicPr>
          <p:cNvPr id="430" name="image.png" descr="image.png"/>
          <p:cNvPicPr>
            <a:picLocks noChangeAspect="1"/>
          </p:cNvPicPr>
          <p:nvPr/>
        </p:nvPicPr>
        <p:blipFill>
          <a:blip r:embed="rId2">
            <a:extLst/>
          </a:blip>
          <a:srcRect l="8649" t="8649" r="8649" b="8649"/>
          <a:stretch>
            <a:fillRect/>
          </a:stretch>
        </p:blipFill>
        <p:spPr>
          <a:xfrm>
            <a:off x="1508194" y="2752230"/>
            <a:ext cx="9988411" cy="6242758"/>
          </a:xfrm>
          <a:prstGeom prst="rect">
            <a:avLst/>
          </a:prstGeom>
          <a:ln w="12700">
            <a:miter lim="400000"/>
          </a:ln>
        </p:spPr>
      </p:pic>
    </p:spTree>
  </p:cSld>
  <p:clrMapOvr>
    <a:masterClrMapping/>
  </p:clrMapOvr>
  <p:transition xmlns:p14="http://schemas.microsoft.com/office/powerpoint/2010/main" spd="med" advClick="1"/>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2" name="Summary"/>
          <p:cNvSpPr txBox="1"/>
          <p:nvPr>
            <p:ph type="title"/>
          </p:nvPr>
        </p:nvSpPr>
        <p:spPr>
          <a:prstGeom prst="rect">
            <a:avLst/>
          </a:prstGeom>
        </p:spPr>
        <p:txBody>
          <a:bodyPr/>
          <a:lstStyle/>
          <a:p>
            <a:pPr/>
            <a:r>
              <a:t>Summary</a:t>
            </a:r>
          </a:p>
        </p:txBody>
      </p:sp>
      <p:sp>
        <p:nvSpPr>
          <p:cNvPr id="433" name="Superposition can be used to reduce the complexity of a circuit so that the voltages and currents in the circuit can be determined easily.…"/>
          <p:cNvSpPr txBox="1"/>
          <p:nvPr>
            <p:ph type="body" idx="1"/>
          </p:nvPr>
        </p:nvSpPr>
        <p:spPr>
          <a:prstGeom prst="rect">
            <a:avLst/>
          </a:prstGeom>
        </p:spPr>
        <p:txBody>
          <a:bodyPr/>
          <a:lstStyle/>
          <a:p>
            <a:pPr marL="386819" indent="-386819">
              <a:spcBef>
                <a:spcPts val="800"/>
              </a:spcBef>
              <a:defRPr sz="3400"/>
            </a:pPr>
            <a:r>
              <a:t>Superposition can be used to reduce the complexity of a circuit so that the voltages and currents in the circuit can be determined easily.</a:t>
            </a:r>
          </a:p>
          <a:p>
            <a:pPr lvl="1" marL="780039" indent="-335539">
              <a:spcBef>
                <a:spcPts val="0"/>
              </a:spcBef>
              <a:buClr>
                <a:srgbClr val="CEB966"/>
              </a:buClr>
              <a:defRPr sz="3000"/>
            </a:pPr>
            <a:r>
              <a:t>To turn off a voltage source, replace it with a short circuit.</a:t>
            </a:r>
          </a:p>
          <a:p>
            <a:pPr lvl="1" marL="780039" indent="-335539">
              <a:spcBef>
                <a:spcPts val="0"/>
              </a:spcBef>
              <a:buClr>
                <a:srgbClr val="CEB966"/>
              </a:buClr>
              <a:defRPr sz="3000"/>
            </a:pPr>
            <a:r>
              <a:t>To turn off a current source, replace it with an open circuit.</a:t>
            </a:r>
          </a:p>
          <a:p>
            <a:pPr lvl="1" marL="780039" indent="-335539">
              <a:spcBef>
                <a:spcPts val="0"/>
              </a:spcBef>
              <a:buClr>
                <a:srgbClr val="CEB966"/>
              </a:buClr>
              <a:defRPr sz="3000"/>
            </a:pPr>
            <a:r>
              <a:t>Polarity of voltage across components and direction of currents through the components must be the same during each iteration through the circuit.</a:t>
            </a:r>
          </a:p>
          <a:p>
            <a:pPr lvl="1" marL="780039" indent="-335539">
              <a:spcBef>
                <a:spcPts val="0"/>
              </a:spcBef>
              <a:buClr>
                <a:srgbClr val="CEB966"/>
              </a:buClr>
              <a:defRPr sz="3000"/>
            </a:pPr>
            <a:r>
              <a:t>The total of the currents and voltages from each iteration is the solution when all power sources are active in the circuit.</a:t>
            </a:r>
          </a:p>
        </p:txBody>
      </p:sp>
    </p:spTree>
  </p:cSld>
  <p:clrMapOvr>
    <a:masterClrMapping/>
  </p:clrMapOvr>
  <p:transition xmlns:p14="http://schemas.microsoft.com/office/powerpoint/2010/main" spd="med" advClick="1"/>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5" name="Title 1"/>
          <p:cNvSpPr txBox="1"/>
          <p:nvPr>
            <p:ph type="title"/>
          </p:nvPr>
        </p:nvSpPr>
        <p:spPr>
          <a:prstGeom prst="rect">
            <a:avLst/>
          </a:prstGeom>
        </p:spPr>
        <p:txBody>
          <a:bodyPr/>
          <a:lstStyle>
            <a:lvl1pPr>
              <a:defRPr sz="7200"/>
            </a:lvl1pPr>
          </a:lstStyle>
          <a:p>
            <a:pPr/>
            <a:r>
              <a:t>Maximum Power Transfer</a:t>
            </a:r>
          </a:p>
        </p:txBody>
      </p:sp>
      <p:sp>
        <p:nvSpPr>
          <p:cNvPr id="436" name="Content Placeholder 2"/>
          <p:cNvSpPr txBox="1"/>
          <p:nvPr>
            <p:ph type="body" idx="1"/>
          </p:nvPr>
        </p:nvSpPr>
        <p:spPr>
          <a:prstGeom prst="rect">
            <a:avLst/>
          </a:prstGeom>
        </p:spPr>
        <p:txBody>
          <a:bodyPr/>
          <a:lstStyle/>
          <a:p>
            <a:pPr/>
            <a:r>
              <a:t>For any power source, the maximum power transferred from the power source to the load is when the resistance of the load R</a:t>
            </a:r>
            <a:r>
              <a:rPr baseline="-25000"/>
              <a:t>L</a:t>
            </a:r>
            <a:r>
              <a:t> is equal to the equivalent or input resistance of the power source (R</a:t>
            </a:r>
            <a:r>
              <a:rPr baseline="-25000"/>
              <a:t>in </a:t>
            </a:r>
            <a:r>
              <a:t>= R</a:t>
            </a:r>
            <a:r>
              <a:rPr baseline="-25000"/>
              <a:t>Th</a:t>
            </a:r>
            <a:r>
              <a:t> or R</a:t>
            </a:r>
            <a:r>
              <a:rPr baseline="-25000"/>
              <a:t>N</a:t>
            </a:r>
            <a:r>
              <a:t>).</a:t>
            </a:r>
          </a:p>
          <a:p>
            <a:pPr lvl="1"/>
            <a:r>
              <a:t>The process used to make R</a:t>
            </a:r>
            <a:r>
              <a:rPr baseline="-25000"/>
              <a:t>L</a:t>
            </a:r>
            <a:r>
              <a:t> = R</a:t>
            </a:r>
            <a:r>
              <a:rPr baseline="-25000"/>
              <a:t>in</a:t>
            </a:r>
            <a:r>
              <a:t> is called impedance matching.</a:t>
            </a:r>
          </a:p>
        </p:txBody>
      </p:sp>
    </p:spTree>
  </p:cSld>
  <p:clrMapOvr>
    <a:masterClrMapping/>
  </p:clrMapOvr>
  <p:transition xmlns:p14="http://schemas.microsoft.com/office/powerpoint/2010/main" spd="med" advClick="1"/>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8" name="Title 1"/>
          <p:cNvSpPr txBox="1"/>
          <p:nvPr>
            <p:ph type="title"/>
          </p:nvPr>
        </p:nvSpPr>
        <p:spPr>
          <a:prstGeom prst="rect">
            <a:avLst/>
          </a:prstGeom>
        </p:spPr>
        <p:txBody>
          <a:bodyPr/>
          <a:lstStyle>
            <a:lvl1pPr defTabSz="560831">
              <a:defRPr sz="6911"/>
            </a:lvl1pPr>
          </a:lstStyle>
          <a:p>
            <a:pPr/>
            <a:r>
              <a:t>Power Transfer Calculation</a:t>
            </a:r>
          </a:p>
        </p:txBody>
      </p:sp>
      <p:pic>
        <p:nvPicPr>
          <p:cNvPr id="439" name="Picture 2" descr="Picture 2"/>
          <p:cNvPicPr>
            <a:picLocks noChangeAspect="1"/>
          </p:cNvPicPr>
          <p:nvPr/>
        </p:nvPicPr>
        <p:blipFill>
          <a:blip r:embed="rId2">
            <a:extLst/>
          </a:blip>
          <a:stretch>
            <a:fillRect/>
          </a:stretch>
        </p:blipFill>
        <p:spPr>
          <a:xfrm>
            <a:off x="5852159" y="3506330"/>
            <a:ext cx="7152641" cy="5569938"/>
          </a:xfrm>
          <a:prstGeom prst="rect">
            <a:avLst/>
          </a:prstGeom>
          <a:ln w="12700">
            <a:miter lim="400000"/>
          </a:ln>
        </p:spPr>
      </p:pic>
      <p:pic>
        <p:nvPicPr>
          <p:cNvPr id="440" name="Picture 3" descr="Picture 3"/>
          <p:cNvPicPr>
            <a:picLocks noChangeAspect="1"/>
          </p:cNvPicPr>
          <p:nvPr/>
        </p:nvPicPr>
        <p:blipFill>
          <a:blip r:embed="rId3">
            <a:extLst/>
          </a:blip>
          <a:stretch>
            <a:fillRect/>
          </a:stretch>
        </p:blipFill>
        <p:spPr>
          <a:xfrm>
            <a:off x="325120" y="6177279"/>
            <a:ext cx="5335132" cy="3251201"/>
          </a:xfrm>
          <a:prstGeom prst="rect">
            <a:avLst/>
          </a:prstGeom>
          <a:ln w="12700">
            <a:miter lim="400000"/>
          </a:ln>
        </p:spPr>
      </p:pic>
      <p:sp>
        <p:nvSpPr>
          <p:cNvPr id="441" name="TextBox 5"/>
          <p:cNvSpPr txBox="1"/>
          <p:nvPr/>
        </p:nvSpPr>
        <p:spPr>
          <a:xfrm>
            <a:off x="2375672" y="6291298"/>
            <a:ext cx="1517229" cy="130036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3400">
                <a:latin typeface="Constantia"/>
                <a:ea typeface="Constantia"/>
                <a:cs typeface="Constantia"/>
                <a:sym typeface="Constantia"/>
              </a:defRPr>
            </a:pPr>
            <a:r>
              <a:t>R</a:t>
            </a:r>
            <a:r>
              <a:rPr baseline="-25000"/>
              <a:t>Th</a:t>
            </a:r>
            <a:r>
              <a:t> 50</a:t>
            </a:r>
            <a:r>
              <a:rPr b="0">
                <a:latin typeface="Symbol"/>
                <a:ea typeface="Symbol"/>
                <a:cs typeface="Symbol"/>
                <a:sym typeface="Symbol"/>
              </a:rPr>
              <a:t>W</a:t>
            </a:r>
          </a:p>
        </p:txBody>
      </p:sp>
      <p:sp>
        <p:nvSpPr>
          <p:cNvPr id="442" name="Rectangle 6"/>
          <p:cNvSpPr/>
          <p:nvPr/>
        </p:nvSpPr>
        <p:spPr>
          <a:xfrm>
            <a:off x="1192106" y="7369386"/>
            <a:ext cx="1408855" cy="1291083"/>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45719" rIns="45719">
            <a:spAutoFit/>
          </a:bodyPr>
          <a:lstStyle/>
          <a:p>
            <a:pPr>
              <a:defRPr b="1" sz="3400">
                <a:latin typeface="Constantia"/>
                <a:ea typeface="Constantia"/>
                <a:cs typeface="Constantia"/>
                <a:sym typeface="Constantia"/>
              </a:defRPr>
            </a:pPr>
            <a:r>
              <a:t>V</a:t>
            </a:r>
            <a:r>
              <a:rPr baseline="-25000"/>
              <a:t>Th</a:t>
            </a:r>
            <a:endParaRPr>
              <a:latin typeface="Arial"/>
              <a:ea typeface="Arial"/>
              <a:cs typeface="Arial"/>
              <a:sym typeface="Arial"/>
            </a:endParaRPr>
          </a:p>
          <a:p>
            <a:pPr>
              <a:defRPr b="1" sz="3400">
                <a:latin typeface="Constantia"/>
                <a:ea typeface="Constantia"/>
                <a:cs typeface="Constantia"/>
                <a:sym typeface="Constantia"/>
              </a:defRPr>
            </a:pPr>
            <a:r>
              <a:t>1V</a:t>
            </a:r>
          </a:p>
        </p:txBody>
      </p:sp>
      <p:sp>
        <p:nvSpPr>
          <p:cNvPr id="443" name="Rectangle 8"/>
          <p:cNvSpPr/>
          <p:nvPr/>
        </p:nvSpPr>
        <p:spPr>
          <a:xfrm>
            <a:off x="3576320" y="6177279"/>
            <a:ext cx="758614" cy="541868"/>
          </a:xfrm>
          <a:prstGeom prst="rect">
            <a:avLst/>
          </a:prstGeom>
          <a:solidFill>
            <a:srgbClr val="FFFFFF"/>
          </a:solidFill>
          <a:ln w="25400">
            <a:solidFill>
              <a:srgbClr val="FFFFFF"/>
            </a:solidFill>
          </a:ln>
        </p:spPr>
        <p:txBody>
          <a:bodyPr lIns="50800" tIns="50800" rIns="50800" bIns="50800" anchor="ctr"/>
          <a:lstStyle/>
          <a:p>
            <a:pPr>
              <a:defRPr sz="3400">
                <a:solidFill>
                  <a:srgbClr val="FFFFFF"/>
                </a:solidFill>
              </a:defRPr>
            </a:pPr>
          </a:p>
        </p:txBody>
      </p:sp>
      <p:pic>
        <p:nvPicPr>
          <p:cNvPr id="444" name="Content Placeholder 9" descr="Content Placeholder 9"/>
          <p:cNvPicPr>
            <a:picLocks noChangeAspect="1"/>
          </p:cNvPicPr>
          <p:nvPr/>
        </p:nvPicPr>
        <p:blipFill>
          <a:blip r:embed="rId4">
            <a:extLst/>
          </a:blip>
          <a:stretch>
            <a:fillRect/>
          </a:stretch>
        </p:blipFill>
        <p:spPr>
          <a:xfrm>
            <a:off x="866987" y="2709333"/>
            <a:ext cx="4226560" cy="3199273"/>
          </a:xfrm>
          <a:prstGeom prst="rect">
            <a:avLst/>
          </a:prstGeom>
          <a:ln w="12700">
            <a:miter lim="400000"/>
          </a:ln>
        </p:spPr>
      </p:pic>
    </p:spTree>
  </p:cSld>
  <p:clrMapOvr>
    <a:masterClrMapping/>
  </p:clrMapOvr>
  <p:transition xmlns:p14="http://schemas.microsoft.com/office/powerpoint/2010/main" spd="med" advClick="1"/>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6" name="Title 1"/>
          <p:cNvSpPr txBox="1"/>
          <p:nvPr>
            <p:ph type="title"/>
          </p:nvPr>
        </p:nvSpPr>
        <p:spPr>
          <a:prstGeom prst="rect">
            <a:avLst/>
          </a:prstGeom>
        </p:spPr>
        <p:txBody>
          <a:bodyPr/>
          <a:lstStyle/>
          <a:p>
            <a:pPr/>
            <a:r>
              <a:t>Application</a:t>
            </a:r>
          </a:p>
        </p:txBody>
      </p:sp>
      <p:sp>
        <p:nvSpPr>
          <p:cNvPr id="447" name="Content Placeholder 2"/>
          <p:cNvSpPr txBox="1"/>
          <p:nvPr>
            <p:ph type="body" idx="1"/>
          </p:nvPr>
        </p:nvSpPr>
        <p:spPr>
          <a:prstGeom prst="rect">
            <a:avLst/>
          </a:prstGeom>
        </p:spPr>
        <p:txBody>
          <a:bodyPr/>
          <a:lstStyle/>
          <a:p>
            <a:pPr/>
            <a:r>
              <a:t>When developing new circuits for a known application, optimize the power transfer by designing the circuit to have an input resistance close to the load resistance.</a:t>
            </a:r>
          </a:p>
          <a:p>
            <a:pPr/>
            <a:r>
              <a:t>When selecting a source to power a circuit, one of the selection criteria is to match the input impedance to the load resistance.</a:t>
            </a:r>
          </a:p>
        </p:txBody>
      </p:sp>
    </p:spTree>
  </p:cSld>
  <p:clrMapOvr>
    <a:masterClrMapping/>
  </p:clrMapOvr>
  <p:transition xmlns:p14="http://schemas.microsoft.com/office/powerpoint/2010/main" spd="med" advClick="1"/>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9" name="Title 1"/>
          <p:cNvSpPr txBox="1"/>
          <p:nvPr>
            <p:ph type="title"/>
          </p:nvPr>
        </p:nvSpPr>
        <p:spPr>
          <a:prstGeom prst="rect">
            <a:avLst/>
          </a:prstGeom>
        </p:spPr>
        <p:txBody>
          <a:bodyPr/>
          <a:lstStyle/>
          <a:p>
            <a:pPr/>
            <a:r>
              <a:t>Other Examples</a:t>
            </a:r>
          </a:p>
        </p:txBody>
      </p:sp>
      <p:sp>
        <p:nvSpPr>
          <p:cNvPr id="450" name="Content Placeholder 2"/>
          <p:cNvSpPr txBox="1"/>
          <p:nvPr>
            <p:ph type="body" idx="1"/>
          </p:nvPr>
        </p:nvSpPr>
        <p:spPr>
          <a:prstGeom prst="rect">
            <a:avLst/>
          </a:prstGeom>
        </p:spPr>
        <p:txBody>
          <a:bodyPr/>
          <a:lstStyle/>
          <a:p>
            <a:pPr marL="374532" indent="-374532" defTabSz="560831">
              <a:lnSpc>
                <a:spcPct val="80000"/>
              </a:lnSpc>
              <a:spcBef>
                <a:spcPts val="4000"/>
              </a:spcBef>
              <a:buClr>
                <a:schemeClr val="accent3"/>
              </a:buClr>
              <a:buChar char="●"/>
              <a:defRPr sz="2112"/>
            </a:pPr>
            <a:r>
              <a:t>Selection of wire – </a:t>
            </a:r>
          </a:p>
          <a:p>
            <a:pPr lvl="1" marL="873909" indent="-337079" defTabSz="560831">
              <a:lnSpc>
                <a:spcPct val="80000"/>
              </a:lnSpc>
              <a:spcBef>
                <a:spcPts val="4000"/>
              </a:spcBef>
              <a:buChar char="●"/>
              <a:defRPr sz="2112"/>
            </a:pPr>
            <a:r>
              <a:t>Antenna wire is designed to match a 75 </a:t>
            </a:r>
            <a:r>
              <a:rPr>
                <a:latin typeface="Symbol"/>
                <a:ea typeface="Symbol"/>
                <a:cs typeface="Symbol"/>
                <a:sym typeface="Symbol"/>
              </a:rPr>
              <a:t>W</a:t>
            </a:r>
            <a:r>
              <a:t> load.</a:t>
            </a:r>
          </a:p>
          <a:p>
            <a:pPr lvl="1" marL="873909" indent="-337079" defTabSz="560831">
              <a:lnSpc>
                <a:spcPct val="80000"/>
              </a:lnSpc>
              <a:spcBef>
                <a:spcPts val="4000"/>
              </a:spcBef>
              <a:buChar char="●"/>
              <a:defRPr sz="2112"/>
            </a:pPr>
            <a:r>
              <a:t>Coaxial cable is designed to act like a 50 </a:t>
            </a:r>
            <a:r>
              <a:rPr>
                <a:latin typeface="Symbol"/>
                <a:ea typeface="Symbol"/>
                <a:cs typeface="Symbol"/>
                <a:sym typeface="Symbol"/>
              </a:rPr>
              <a:t>W</a:t>
            </a:r>
            <a:r>
              <a:t> load.</a:t>
            </a:r>
          </a:p>
          <a:p>
            <a:pPr marL="374532" indent="-374532" defTabSz="560831">
              <a:lnSpc>
                <a:spcPct val="80000"/>
              </a:lnSpc>
              <a:spcBef>
                <a:spcPts val="4000"/>
              </a:spcBef>
              <a:buClr>
                <a:schemeClr val="accent3"/>
              </a:buClr>
              <a:buChar char="●"/>
              <a:defRPr sz="2112"/>
            </a:pPr>
            <a:r>
              <a:t>Most electronic and electrical equipment are designed to have an R</a:t>
            </a:r>
            <a:r>
              <a:rPr baseline="-25791"/>
              <a:t>Th</a:t>
            </a:r>
            <a:r>
              <a:t> of 50 </a:t>
            </a:r>
            <a:r>
              <a:rPr>
                <a:latin typeface="Symbol"/>
                <a:ea typeface="Symbol"/>
                <a:cs typeface="Symbol"/>
                <a:sym typeface="Symbol"/>
              </a:rPr>
              <a:t>W</a:t>
            </a:r>
            <a:r>
              <a:t>.</a:t>
            </a:r>
          </a:p>
          <a:p>
            <a:pPr lvl="1" marL="372798" indent="-372798" defTabSz="560831">
              <a:lnSpc>
                <a:spcPct val="80000"/>
              </a:lnSpc>
              <a:spcBef>
                <a:spcPts val="4000"/>
              </a:spcBef>
              <a:buClr>
                <a:srgbClr val="A8CDD7"/>
              </a:buClr>
              <a:buSzPct val="95000"/>
              <a:buChar char="●"/>
              <a:defRPr sz="2112"/>
            </a:pPr>
            <a:r>
              <a:t>The speakers  used in some of the ECE labs are designed to act like an an 8 </a:t>
            </a:r>
            <a:r>
              <a:rPr>
                <a:latin typeface="Symbol"/>
                <a:ea typeface="Symbol"/>
                <a:cs typeface="Symbol"/>
                <a:sym typeface="Symbol"/>
              </a:rPr>
              <a:t>W</a:t>
            </a:r>
            <a:r>
              <a:t> load while microphones are designed to act like a 600 </a:t>
            </a:r>
            <a:r>
              <a:rPr>
                <a:latin typeface="Symbol"/>
                <a:ea typeface="Symbol"/>
                <a:cs typeface="Symbol"/>
                <a:sym typeface="Symbol"/>
              </a:rPr>
              <a:t>W</a:t>
            </a:r>
            <a:r>
              <a:t> load.</a:t>
            </a:r>
          </a:p>
          <a:p>
            <a:pPr lvl="2" marL="747763" indent="-372798" defTabSz="560831">
              <a:lnSpc>
                <a:spcPct val="80000"/>
              </a:lnSpc>
              <a:spcBef>
                <a:spcPts val="4000"/>
              </a:spcBef>
              <a:buClr>
                <a:srgbClr val="A8CDD7"/>
              </a:buClr>
              <a:buSzPct val="95000"/>
              <a:buChar char="●"/>
              <a:defRPr sz="2112"/>
            </a:pPr>
            <a:r>
              <a:t>It is important that the resistance of the wire that runs to the speaker is very low or the power will be dissipated in the wire rather than used to create sound.</a:t>
            </a:r>
          </a:p>
          <a:p>
            <a:pPr lvl="2" marL="747763" indent="-372798" defTabSz="560831">
              <a:lnSpc>
                <a:spcPct val="80000"/>
              </a:lnSpc>
              <a:spcBef>
                <a:spcPts val="4000"/>
              </a:spcBef>
              <a:buClr>
                <a:srgbClr val="A8CDD7"/>
              </a:buClr>
              <a:buSzPct val="95000"/>
              <a:buChar char="●"/>
              <a:defRPr sz="2112"/>
            </a:pPr>
            <a:r>
              <a:t>For best audio quality, the input impedance of the circuit connected to the speaker (or the microphone) should be equal to the resistance of the speaker (or the microphone).</a:t>
            </a:r>
          </a:p>
        </p:txBody>
      </p:sp>
    </p:spTree>
  </p:cSld>
  <p:clrMapOvr>
    <a:masterClrMapping/>
  </p:clrMapOvr>
  <p:transition xmlns:p14="http://schemas.microsoft.com/office/powerpoint/2010/main" spd="med" advClick="1"/>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2" name="Title 1"/>
          <p:cNvSpPr txBox="1"/>
          <p:nvPr>
            <p:ph type="title"/>
          </p:nvPr>
        </p:nvSpPr>
        <p:spPr>
          <a:prstGeom prst="rect">
            <a:avLst/>
          </a:prstGeom>
        </p:spPr>
        <p:txBody>
          <a:bodyPr/>
          <a:lstStyle/>
          <a:p>
            <a:pPr/>
            <a:r>
              <a:t>Summary</a:t>
            </a:r>
          </a:p>
        </p:txBody>
      </p:sp>
      <p:sp>
        <p:nvSpPr>
          <p:cNvPr id="453" name="Content Placeholder 2"/>
          <p:cNvSpPr txBox="1"/>
          <p:nvPr>
            <p:ph type="body" idx="1"/>
          </p:nvPr>
        </p:nvSpPr>
        <p:spPr>
          <a:prstGeom prst="rect">
            <a:avLst/>
          </a:prstGeom>
        </p:spPr>
        <p:txBody>
          <a:bodyPr/>
          <a:lstStyle/>
          <a:p>
            <a:pPr/>
            <a:r>
              <a:t>Maximum power transfer theorem is used frequently to insure that the greatest power can be transferred from a power source to a load. </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a:ea typeface="Helvetica"/>
        <a:cs typeface="Helvetica"/>
      </a:majorFont>
      <a:minorFont>
        <a:latin typeface="Helvetica Neue"/>
        <a:ea typeface="Helvetica Neue"/>
        <a:cs typeface="Helvetica Neu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a:ea typeface="Helvetica"/>
        <a:cs typeface="Helvetica"/>
      </a:majorFont>
      <a:minorFont>
        <a:latin typeface="Helvetica Neue"/>
        <a:ea typeface="Helvetica Neue"/>
        <a:cs typeface="Helvetica Neu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