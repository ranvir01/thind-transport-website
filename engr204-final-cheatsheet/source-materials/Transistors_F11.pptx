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jpeg" ContentType="image/jpeg"/>
  <Override PartName="/ppt/notesSlides/notesSlide2.xml" ContentType="application/vnd.openxmlformats-officedocument.presentationml.notesSlide+xml"/>
  <Override PartName="/ppt/media/image2.jpeg" ContentType="image/jpeg"/>
  <Override PartName="/ppt/media/image3.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9144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FF"/>
          </a:solidFill>
        </a:fill>
      </a:tcStyle>
    </a:wholeTbl>
    <a:band2H>
      <a:tcTxStyle b="def" i="def"/>
      <a:tcStyle>
        <a:tcBdr/>
        <a:fill>
          <a:solidFill>
            <a:srgbClr val="E6E6FF"/>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FF"/>
          </a:solidFill>
        </a:fill>
      </a:tcStyle>
    </a:wholeTbl>
    <a:band2H>
      <a:tcTxStyle b="def" i="def"/>
      <a:tcStyle>
        <a:tcBdr/>
        <a:fill>
          <a:solidFill>
            <a:srgbClr val="E6E6FF"/>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FF"/>
          </a:solidFill>
        </a:fill>
      </a:tcStyle>
    </a:wholeTbl>
    <a:band2H>
      <a:tcTxStyle b="def" i="def"/>
      <a:tcStyle>
        <a:tcBdr/>
        <a:fill>
          <a:solidFill>
            <a:srgbClr val="E6E6FF"/>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
          <a:latin typeface="Constantia"/>
          <a:ea typeface="Constantia"/>
          <a:cs typeface="Constantia"/>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onstantia"/>
          <a:ea typeface="Constantia"/>
          <a:cs typeface="Constantia"/>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onstantia"/>
          <a:ea typeface="Constantia"/>
          <a:cs typeface="Constantia"/>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onstantia"/>
          <a:ea typeface="Constantia"/>
          <a:cs typeface="Constantia"/>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onstantia"/>
          <a:ea typeface="Constantia"/>
          <a:cs typeface="Constantia"/>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onstantia"/>
          <a:ea typeface="Constantia"/>
          <a:cs typeface="Constantia"/>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9" name="Shape 99"/>
          <p:cNvSpPr/>
          <p:nvPr>
            <p:ph type="sldImg"/>
          </p:nvPr>
        </p:nvSpPr>
        <p:spPr>
          <a:xfrm>
            <a:off x="1143000" y="685800"/>
            <a:ext cx="4572000" cy="3429000"/>
          </a:xfrm>
          <a:prstGeom prst="rect">
            <a:avLst/>
          </a:prstGeom>
        </p:spPr>
        <p:txBody>
          <a:bodyPr/>
          <a:lstStyle/>
          <a:p>
            <a:pPr/>
          </a:p>
        </p:txBody>
      </p:sp>
      <p:sp>
        <p:nvSpPr>
          <p:cNvPr id="100" name="Shape 100"/>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8" name="Shape 118"/>
          <p:cNvSpPr/>
          <p:nvPr>
            <p:ph type="sldImg"/>
          </p:nvPr>
        </p:nvSpPr>
        <p:spPr>
          <a:prstGeom prst="rect">
            <a:avLst/>
          </a:prstGeom>
        </p:spPr>
        <p:txBody>
          <a:bodyPr/>
          <a:lstStyle/>
          <a:p>
            <a:pPr/>
          </a:p>
        </p:txBody>
      </p:sp>
      <p:sp>
        <p:nvSpPr>
          <p:cNvPr id="119" name="Shape 119"/>
          <p:cNvSpPr/>
          <p:nvPr>
            <p:ph type="body" sz="quarter" idx="1"/>
          </p:nvPr>
        </p:nvSpPr>
        <p:spPr>
          <a:prstGeom prst="rect">
            <a:avLst/>
          </a:prstGeom>
        </p:spPr>
        <p:txBody>
          <a:bodyPr/>
          <a:lstStyle/>
          <a:p>
            <a:pPr/>
            <a:r>
              <a:t>You’ve all seen the transistor before, but instead of regurgitation, provide student perspective….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ROADMAP OF BUILD TRANSISTOR -&gt; PROPERTIES </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Suggestion: state the qualitative definition behind these equations: when ib =0, when ib !=0, etc, what happens?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Shape 196"/>
          <p:cNvSpPr/>
          <p:nvPr>
            <p:ph type="sldImg"/>
          </p:nvPr>
        </p:nvSpPr>
        <p:spPr>
          <a:prstGeom prst="rect">
            <a:avLst/>
          </a:prstGeom>
        </p:spPr>
        <p:txBody>
          <a:bodyPr/>
          <a:lstStyle/>
          <a:p>
            <a:pPr/>
          </a:p>
        </p:txBody>
      </p:sp>
      <p:sp>
        <p:nvSpPr>
          <p:cNvPr id="197" name="Shape 197"/>
          <p:cNvSpPr/>
          <p:nvPr>
            <p:ph type="body" sz="quarter" idx="1"/>
          </p:nvPr>
        </p:nvSpPr>
        <p:spPr>
          <a:prstGeom prst="rect">
            <a:avLst/>
          </a:prstGeom>
        </p:spPr>
        <p:txBody>
          <a:bodyPr/>
          <a:lstStyle/>
          <a:p>
            <a:pPr/>
            <a:r>
              <a:t>Why do more heavily doped (less electrons, more electrons) are of less/more voltage? Write it on the slide.</a:t>
            </a:r>
            <a:br/>
            <a:r>
              <a:t>Change the font.  Change the background.  b/c e is heavily doped…lower potential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6" name="Title Text"/>
          <p:cNvSpPr txBox="1"/>
          <p:nvPr>
            <p:ph type="title"/>
          </p:nvPr>
        </p:nvSpPr>
        <p:spPr>
          <a:xfrm>
            <a:off x="533400" y="1371600"/>
            <a:ext cx="7851648" cy="1828800"/>
          </a:xfrm>
          <a:prstGeom prst="rect">
            <a:avLst/>
          </a:prstGeom>
        </p:spPr>
        <p:txBody>
          <a:bodyPr/>
          <a:lstStyle>
            <a:lvl1pPr algn="r">
              <a:defRPr b="1" sz="5600">
                <a:solidFill>
                  <a:srgbClr val="5A5AFF"/>
                </a:solidFill>
                <a:effectLst>
                  <a:outerShdw sx="100000" sy="100000" kx="0" ky="0" algn="b" rotWithShape="0" blurRad="38100" dist="25400" dir="5400000">
                    <a:srgbClr val="000000">
                      <a:alpha val="43000"/>
                    </a:srgbClr>
                  </a:outerShdw>
                </a:effectLst>
              </a:defRPr>
            </a:lvl1pPr>
          </a:lstStyle>
          <a:p>
            <a:pPr/>
            <a:r>
              <a:t>Title Text</a:t>
            </a:r>
          </a:p>
        </p:txBody>
      </p:sp>
      <p:sp>
        <p:nvSpPr>
          <p:cNvPr id="17" name="Body Level One…"/>
          <p:cNvSpPr txBox="1"/>
          <p:nvPr>
            <p:ph type="body" sz="half" idx="1"/>
          </p:nvPr>
        </p:nvSpPr>
        <p:spPr>
          <a:xfrm>
            <a:off x="533400" y="3228536"/>
            <a:ext cx="7854696" cy="1752601"/>
          </a:xfrm>
          <a:prstGeom prst="rect">
            <a:avLst/>
          </a:prstGeom>
        </p:spPr>
        <p:txBody>
          <a:bodyPr lIns="0" tIns="0" rIns="0" bIns="0"/>
          <a:lstStyle>
            <a:lvl1pPr marL="0" marR="45719" indent="0" algn="r">
              <a:buClrTx/>
              <a:buSzTx/>
              <a:buNone/>
            </a:lvl1pPr>
            <a:lvl2pPr marL="0" marR="45719" indent="457200" algn="r">
              <a:buClrTx/>
              <a:buSzTx/>
              <a:buNone/>
            </a:lvl2pPr>
            <a:lvl3pPr marL="0" marR="45719" indent="914400" algn="r">
              <a:buClrTx/>
              <a:buSzTx/>
              <a:buNone/>
            </a:lvl3pPr>
            <a:lvl4pPr marL="0" marR="45719" indent="1371600" algn="r">
              <a:buClrTx/>
              <a:buSzTx/>
              <a:buNone/>
            </a:lvl4pPr>
            <a:lvl5pPr marL="0" marR="45719" indent="1828800" algn="r">
              <a:buClrTx/>
              <a:buSzTx/>
              <a:buNone/>
            </a:lvl5pPr>
          </a:lstStyle>
          <a:p>
            <a:pPr/>
            <a:r>
              <a:t>Body Level One</a:t>
            </a:r>
          </a:p>
          <a:p>
            <a:pPr lvl="1"/>
            <a:r>
              <a:t>Body Level Two</a:t>
            </a:r>
          </a:p>
          <a:p>
            <a:pPr lvl="2"/>
            <a:r>
              <a:t>Body Level Three</a:t>
            </a:r>
          </a:p>
          <a:p>
            <a:pPr lvl="3"/>
            <a:r>
              <a:t>Body Level Four</a:t>
            </a:r>
          </a:p>
          <a:p>
            <a:pPr lvl="4"/>
            <a:r>
              <a:t>Body Level Five</a:t>
            </a:r>
          </a:p>
        </p:txBody>
      </p:sp>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5" name="Title Text"/>
          <p:cNvSpPr txBox="1"/>
          <p:nvPr>
            <p:ph type="title"/>
          </p:nvPr>
        </p:nvSpPr>
        <p:spPr>
          <a:prstGeom prst="rect">
            <a:avLst/>
          </a:prstGeom>
        </p:spPr>
        <p:txBody>
          <a:bodyPr/>
          <a:lstStyle/>
          <a:p>
            <a:pPr/>
            <a:r>
              <a:t>Title Text</a:t>
            </a:r>
          </a:p>
        </p:txBody>
      </p:sp>
      <p:sp>
        <p:nvSpPr>
          <p:cNvPr id="26"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34" name="Title Text"/>
          <p:cNvSpPr txBox="1"/>
          <p:nvPr>
            <p:ph type="title"/>
          </p:nvPr>
        </p:nvSpPr>
        <p:spPr>
          <a:xfrm>
            <a:off x="530351" y="1316736"/>
            <a:ext cx="7772401" cy="1362456"/>
          </a:xfrm>
          <a:prstGeom prst="rect">
            <a:avLst/>
          </a:prstGeom>
        </p:spPr>
        <p:txBody>
          <a:bodyPr/>
          <a:lstStyle>
            <a:lvl1pPr>
              <a:defRPr b="1" sz="5600">
                <a:solidFill>
                  <a:srgbClr val="5A5AFF"/>
                </a:solidFill>
                <a:effectLst>
                  <a:outerShdw sx="100000" sy="100000" kx="0" ky="0" algn="b" rotWithShape="0" blurRad="38100" dist="25400" dir="5400000">
                    <a:srgbClr val="000000">
                      <a:alpha val="43000"/>
                    </a:srgbClr>
                  </a:outerShdw>
                </a:effectLst>
              </a:defRPr>
            </a:lvl1pPr>
          </a:lstStyle>
          <a:p>
            <a:pPr/>
            <a:r>
              <a:t>Title Text</a:t>
            </a:r>
          </a:p>
        </p:txBody>
      </p:sp>
      <p:sp>
        <p:nvSpPr>
          <p:cNvPr id="35" name="Body Level One…"/>
          <p:cNvSpPr txBox="1"/>
          <p:nvPr>
            <p:ph type="body" sz="quarter" idx="1"/>
          </p:nvPr>
        </p:nvSpPr>
        <p:spPr>
          <a:xfrm>
            <a:off x="530351" y="2704663"/>
            <a:ext cx="7772401" cy="1509713"/>
          </a:xfrm>
          <a:prstGeom prst="rect">
            <a:avLst/>
          </a:prstGeom>
        </p:spPr>
        <p:txBody>
          <a:bodyPr/>
          <a:lstStyle>
            <a:lvl1pPr marL="0" indent="0">
              <a:spcBef>
                <a:spcPts val="500"/>
              </a:spcBef>
              <a:buClrTx/>
              <a:buSzTx/>
              <a:buNone/>
              <a:defRPr sz="2200"/>
            </a:lvl1pPr>
            <a:lvl2pPr marL="0" indent="393192">
              <a:spcBef>
                <a:spcPts val="500"/>
              </a:spcBef>
              <a:buClrTx/>
              <a:buSzTx/>
              <a:buNone/>
              <a:defRPr sz="2200"/>
            </a:lvl2pPr>
            <a:lvl3pPr marL="0" indent="667511">
              <a:spcBef>
                <a:spcPts val="500"/>
              </a:spcBef>
              <a:buClrTx/>
              <a:buSzTx/>
              <a:buNone/>
              <a:defRPr sz="2200"/>
            </a:lvl3pPr>
            <a:lvl4pPr marL="0" indent="978408">
              <a:spcBef>
                <a:spcPts val="500"/>
              </a:spcBef>
              <a:buClrTx/>
              <a:buSzTx/>
              <a:buNone/>
              <a:defRPr sz="2200"/>
            </a:lvl4pPr>
            <a:lvl5pPr marL="0" indent="1252727">
              <a:spcBef>
                <a:spcPts val="500"/>
              </a:spcBef>
              <a:buClrTx/>
              <a:buSzTx/>
              <a:buNone/>
              <a:defRPr sz="2200"/>
            </a:lvl5pPr>
          </a:lstStyle>
          <a:p>
            <a:pPr/>
            <a:r>
              <a:t>Body Level One</a:t>
            </a:r>
          </a:p>
          <a:p>
            <a:pPr lvl="1"/>
            <a:r>
              <a:t>Body Level Two</a:t>
            </a:r>
          </a:p>
          <a:p>
            <a:pPr lvl="2"/>
            <a:r>
              <a:t>Body Level Three</a:t>
            </a:r>
          </a:p>
          <a:p>
            <a:pPr lvl="3"/>
            <a:r>
              <a:t>Body Level Four</a:t>
            </a:r>
          </a:p>
          <a:p>
            <a:pPr lvl="4"/>
            <a:r>
              <a:t>Body Level Five</a:t>
            </a:r>
          </a:p>
        </p:txBody>
      </p:sp>
      <p:sp>
        <p:nvSpPr>
          <p:cNvPr id="3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43" name="Title Text"/>
          <p:cNvSpPr txBox="1"/>
          <p:nvPr>
            <p:ph type="title"/>
          </p:nvPr>
        </p:nvSpPr>
        <p:spPr>
          <a:prstGeom prst="rect">
            <a:avLst/>
          </a:prstGeom>
        </p:spPr>
        <p:txBody>
          <a:bodyPr/>
          <a:lstStyle/>
          <a:p>
            <a:pPr/>
            <a:r>
              <a:t>Title Text</a:t>
            </a:r>
          </a:p>
        </p:txBody>
      </p:sp>
      <p:sp>
        <p:nvSpPr>
          <p:cNvPr id="44" name="Body Level One…"/>
          <p:cNvSpPr txBox="1"/>
          <p:nvPr>
            <p:ph type="body" sz="half" idx="1"/>
          </p:nvPr>
        </p:nvSpPr>
        <p:spPr>
          <a:xfrm>
            <a:off x="457200" y="1920084"/>
            <a:ext cx="4038600" cy="4434842"/>
          </a:xfrm>
          <a:prstGeom prst="rect">
            <a:avLst/>
          </a:prstGeom>
        </p:spPr>
        <p:txBody>
          <a:bodyPr/>
          <a:lstStyle>
            <a:lvl3pPr marL="988466" indent="-320954"/>
            <a:lvl4pPr marL="1282191" indent="-303783"/>
            <a:lvl5pPr marL="1556511" indent="-303783"/>
          </a:lstStyle>
          <a:p>
            <a:pPr/>
            <a:r>
              <a:t>Body Level One</a:t>
            </a:r>
          </a:p>
          <a:p>
            <a:pPr lvl="1"/>
            <a:r>
              <a:t>Body Level Two</a:t>
            </a:r>
          </a:p>
          <a:p>
            <a:pPr lvl="2"/>
            <a:r>
              <a:t>Body Level Three</a:t>
            </a:r>
          </a:p>
          <a:p>
            <a:pPr lvl="3"/>
            <a:r>
              <a:t>Body Level Four</a:t>
            </a:r>
          </a:p>
          <a:p>
            <a:pPr lvl="4"/>
            <a:r>
              <a:t>Body Level Five</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52" name="Title Text"/>
          <p:cNvSpPr txBox="1"/>
          <p:nvPr>
            <p:ph type="title"/>
          </p:nvPr>
        </p:nvSpPr>
        <p:spPr>
          <a:prstGeom prst="rect">
            <a:avLst/>
          </a:prstGeom>
        </p:spPr>
        <p:txBody>
          <a:bodyPr/>
          <a:lstStyle/>
          <a:p>
            <a:pPr/>
            <a:r>
              <a:t>Title Text</a:t>
            </a:r>
          </a:p>
        </p:txBody>
      </p:sp>
      <p:sp>
        <p:nvSpPr>
          <p:cNvPr id="53" name="Body Level One…"/>
          <p:cNvSpPr txBox="1"/>
          <p:nvPr>
            <p:ph type="body" sz="quarter" idx="1"/>
          </p:nvPr>
        </p:nvSpPr>
        <p:spPr>
          <a:xfrm>
            <a:off x="457200" y="1855247"/>
            <a:ext cx="4040188" cy="659353"/>
          </a:xfrm>
          <a:prstGeom prst="rect">
            <a:avLst/>
          </a:prstGeom>
        </p:spPr>
        <p:txBody>
          <a:bodyPr lIns="0" tIns="0" rIns="0" bIns="0" anchor="ctr"/>
          <a:lstStyle>
            <a:lvl1pPr marL="0" indent="0">
              <a:spcBef>
                <a:spcPts val="500"/>
              </a:spcBef>
              <a:buClrTx/>
              <a:buSzTx/>
              <a:buNone/>
              <a:defRPr b="1" sz="2400"/>
            </a:lvl1pPr>
            <a:lvl2pPr marL="0" indent="393192">
              <a:spcBef>
                <a:spcPts val="500"/>
              </a:spcBef>
              <a:buClrTx/>
              <a:buSzTx/>
              <a:buNone/>
              <a:defRPr b="1" sz="2400"/>
            </a:lvl2pPr>
            <a:lvl3pPr marL="0" indent="667511">
              <a:spcBef>
                <a:spcPts val="500"/>
              </a:spcBef>
              <a:buClrTx/>
              <a:buSzTx/>
              <a:buNone/>
              <a:defRPr b="1" sz="2400"/>
            </a:lvl3pPr>
            <a:lvl4pPr marL="0" indent="978408">
              <a:spcBef>
                <a:spcPts val="500"/>
              </a:spcBef>
              <a:buClrTx/>
              <a:buSzTx/>
              <a:buNone/>
              <a:defRPr b="1" sz="2400"/>
            </a:lvl4pPr>
            <a:lvl5pPr marL="0" indent="1252727">
              <a:spcBef>
                <a:spcPts val="500"/>
              </a:spcBef>
              <a:buClrTx/>
              <a:buSz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54" name="Text Placeholder 3"/>
          <p:cNvSpPr/>
          <p:nvPr>
            <p:ph type="body" sz="quarter" idx="13"/>
          </p:nvPr>
        </p:nvSpPr>
        <p:spPr>
          <a:xfrm>
            <a:off x="4645025" y="1859757"/>
            <a:ext cx="4041775" cy="654844"/>
          </a:xfrm>
          <a:prstGeom prst="rect">
            <a:avLst/>
          </a:prstGeom>
        </p:spPr>
        <p:txBody>
          <a:bodyPr lIns="0" tIns="0" rIns="0" bIns="0" anchor="ctr"/>
          <a:lstStyle/>
          <a:p>
            <a:pPr marL="0" indent="0">
              <a:spcBef>
                <a:spcPts val="500"/>
              </a:spcBef>
              <a:buClrTx/>
              <a:buSzTx/>
              <a:buNone/>
              <a:defRPr b="1" sz="2400"/>
            </a:pP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62" name="Title Text"/>
          <p:cNvSpPr txBox="1"/>
          <p:nvPr>
            <p:ph type="title"/>
          </p:nvPr>
        </p:nvSpPr>
        <p:spPr>
          <a:xfrm>
            <a:off x="457200" y="704087"/>
            <a:ext cx="8305800" cy="1143001"/>
          </a:xfrm>
          <a:prstGeom prst="rect">
            <a:avLst/>
          </a:prstGeom>
        </p:spPr>
        <p:txBody>
          <a:bodyPr/>
          <a:lstStyle/>
          <a:p>
            <a:pPr/>
            <a:r>
              <a:t>Title Text</a:t>
            </a: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7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7" name="Title Text"/>
          <p:cNvSpPr txBox="1"/>
          <p:nvPr>
            <p:ph type="title"/>
          </p:nvPr>
        </p:nvSpPr>
        <p:spPr>
          <a:xfrm>
            <a:off x="685800" y="514351"/>
            <a:ext cx="2743200" cy="1162051"/>
          </a:xfrm>
          <a:prstGeom prst="rect">
            <a:avLst/>
          </a:prstGeom>
        </p:spPr>
        <p:txBody>
          <a:bodyPr/>
          <a:lstStyle>
            <a:lvl1pPr>
              <a:defRPr sz="2600"/>
            </a:lvl1pPr>
          </a:lstStyle>
          <a:p>
            <a:pPr/>
            <a:r>
              <a:t>Title Text</a:t>
            </a:r>
          </a:p>
        </p:txBody>
      </p:sp>
      <p:sp>
        <p:nvSpPr>
          <p:cNvPr id="78" name="Body Level One…"/>
          <p:cNvSpPr txBox="1"/>
          <p:nvPr>
            <p:ph type="body" sz="half" idx="1"/>
          </p:nvPr>
        </p:nvSpPr>
        <p:spPr>
          <a:xfrm>
            <a:off x="685800" y="1676400"/>
            <a:ext cx="2743200" cy="4572000"/>
          </a:xfrm>
          <a:prstGeom prst="rect">
            <a:avLst/>
          </a:prstGeom>
        </p:spPr>
        <p:txBody>
          <a:bodyPr lIns="18288" tIns="18288" rIns="18288" bIns="18288"/>
          <a:lstStyle>
            <a:lvl1pPr marL="0" indent="0">
              <a:spcBef>
                <a:spcPts val="300"/>
              </a:spcBef>
              <a:buClrTx/>
              <a:buSzTx/>
              <a:buNone/>
              <a:defRPr sz="1400"/>
            </a:lvl1pPr>
            <a:lvl2pPr marL="0" indent="640080">
              <a:spcBef>
                <a:spcPts val="300"/>
              </a:spcBef>
              <a:buClrTx/>
              <a:buSzTx/>
              <a:buNone/>
              <a:defRPr sz="1400"/>
            </a:lvl2pPr>
            <a:lvl3pPr marL="0" indent="914400">
              <a:spcBef>
                <a:spcPts val="300"/>
              </a:spcBef>
              <a:buClrTx/>
              <a:buSzTx/>
              <a:buNone/>
              <a:defRPr sz="1400"/>
            </a:lvl3pPr>
            <a:lvl4pPr marL="0" indent="1188719">
              <a:spcBef>
                <a:spcPts val="300"/>
              </a:spcBef>
              <a:buClrTx/>
              <a:buSzTx/>
              <a:buNone/>
              <a:defRPr sz="1400"/>
            </a:lvl4pPr>
            <a:lvl5pPr marL="0" indent="1463039">
              <a:spcBef>
                <a:spcPts val="300"/>
              </a:spcBef>
              <a:buClrTx/>
              <a:buSz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7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6" name="Snip and Round Single Corner Rectangle 8"/>
          <p:cNvSpPr/>
          <p:nvPr/>
        </p:nvSpPr>
        <p:spPr>
          <a:xfrm flipV="1" rot="420000">
            <a:off x="3165753" y="1108076"/>
            <a:ext cx="5257801" cy="41148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984" y="0"/>
                </a:lnTo>
                <a:lnTo>
                  <a:pt x="21600" y="788"/>
                </a:lnTo>
                <a:lnTo>
                  <a:pt x="21600" y="21600"/>
                </a:lnTo>
                <a:lnTo>
                  <a:pt x="0" y="21600"/>
                </a:lnTo>
                <a:lnTo>
                  <a:pt x="0" y="0"/>
                </a:lnTo>
                <a:close/>
              </a:path>
            </a:pathLst>
          </a:custGeom>
          <a:solidFill>
            <a:srgbClr val="FFFFFF"/>
          </a:solidFill>
          <a:ln w="3175" cap="rnd">
            <a:solidFill>
              <a:srgbClr val="C0C0C0"/>
            </a:solidFill>
          </a:ln>
          <a:effectLst>
            <a:outerShdw sx="100000" sy="100000" kx="0" ky="0" algn="b" rotWithShape="0" blurRad="63500" dist="38500" dir="7500000">
              <a:srgbClr val="000000">
                <a:alpha val="25000"/>
              </a:srgbClr>
            </a:outerShdw>
          </a:effectLst>
        </p:spPr>
        <p:txBody>
          <a:bodyPr lIns="45719" rIns="45719" anchor="ctr"/>
          <a:lstStyle/>
          <a:p>
            <a:pPr algn="ctr">
              <a:defRPr>
                <a:solidFill>
                  <a:srgbClr val="FFFFFF"/>
                </a:solidFill>
              </a:defRPr>
            </a:pPr>
          </a:p>
        </p:txBody>
      </p:sp>
      <p:sp>
        <p:nvSpPr>
          <p:cNvPr id="87" name="Right Triangle 11"/>
          <p:cNvSpPr/>
          <p:nvPr/>
        </p:nvSpPr>
        <p:spPr>
          <a:xfrm flipV="1" rot="420000">
            <a:off x="8004133" y="5359768"/>
            <a:ext cx="155449" cy="1554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lnTo>
                  <a:pt x="21600" y="21600"/>
                </a:lnTo>
                <a:lnTo>
                  <a:pt x="0" y="0"/>
                </a:lnTo>
                <a:close/>
              </a:path>
            </a:pathLst>
          </a:custGeom>
          <a:solidFill>
            <a:srgbClr val="FFFFFF"/>
          </a:solidFill>
          <a:ln w="12700">
            <a:solidFill>
              <a:srgbClr val="FFFFFF"/>
            </a:solidFill>
            <a:bevel/>
          </a:ln>
          <a:effectLst>
            <a:outerShdw sx="100000" sy="100000" kx="0" ky="0" algn="b" rotWithShape="0" blurRad="25400" dist="6350" dir="12900000">
              <a:srgbClr val="000000">
                <a:alpha val="47000"/>
              </a:srgbClr>
            </a:outerShdw>
          </a:effectLst>
        </p:spPr>
        <p:txBody>
          <a:bodyPr lIns="45719" rIns="45719" anchor="ctr"/>
          <a:lstStyle/>
          <a:p>
            <a:pPr algn="ctr">
              <a:defRPr>
                <a:solidFill>
                  <a:srgbClr val="FFFFFF"/>
                </a:solidFill>
              </a:defRPr>
            </a:pPr>
          </a:p>
        </p:txBody>
      </p:sp>
      <p:sp>
        <p:nvSpPr>
          <p:cNvPr id="88" name="Title Text"/>
          <p:cNvSpPr txBox="1"/>
          <p:nvPr>
            <p:ph type="title"/>
          </p:nvPr>
        </p:nvSpPr>
        <p:spPr>
          <a:xfrm>
            <a:off x="609600" y="1176995"/>
            <a:ext cx="2212849" cy="1582623"/>
          </a:xfrm>
          <a:prstGeom prst="rect">
            <a:avLst/>
          </a:prstGeom>
        </p:spPr>
        <p:txBody>
          <a:bodyPr lIns="45719" tIns="45719" rIns="45719" bIns="45719"/>
          <a:lstStyle>
            <a:lvl1pPr>
              <a:defRPr b="1" sz="2000"/>
            </a:lvl1pPr>
          </a:lstStyle>
          <a:p>
            <a:pPr/>
            <a:r>
              <a:t>Title Text</a:t>
            </a:r>
          </a:p>
        </p:txBody>
      </p:sp>
      <p:sp>
        <p:nvSpPr>
          <p:cNvPr id="89" name="Body Level One…"/>
          <p:cNvSpPr txBox="1"/>
          <p:nvPr>
            <p:ph type="body" sz="quarter" idx="1"/>
          </p:nvPr>
        </p:nvSpPr>
        <p:spPr>
          <a:xfrm>
            <a:off x="609600" y="2828785"/>
            <a:ext cx="2209800" cy="2179321"/>
          </a:xfrm>
          <a:prstGeom prst="rect">
            <a:avLst/>
          </a:prstGeom>
        </p:spPr>
        <p:txBody>
          <a:bodyPr/>
          <a:lstStyle>
            <a:lvl1pPr marL="0" indent="0">
              <a:spcBef>
                <a:spcPts val="200"/>
              </a:spcBef>
              <a:buClrTx/>
              <a:buSzTx/>
              <a:buNone/>
              <a:defRPr sz="1300"/>
            </a:lvl1pPr>
            <a:lvl2pPr>
              <a:spcBef>
                <a:spcPts val="200"/>
              </a:spcBef>
              <a:buClrTx/>
              <a:defRPr sz="1300"/>
            </a:lvl2pPr>
            <a:lvl3pPr marL="988466" indent="-320954">
              <a:spcBef>
                <a:spcPts val="200"/>
              </a:spcBef>
              <a:buClrTx/>
              <a:defRPr sz="1300"/>
            </a:lvl3pPr>
            <a:lvl4pPr marL="1282191" indent="-303783">
              <a:spcBef>
                <a:spcPts val="200"/>
              </a:spcBef>
              <a:buClrTx/>
              <a:defRPr sz="1300"/>
            </a:lvl4pPr>
            <a:lvl5pPr marL="1556511" indent="-303783">
              <a:spcBef>
                <a:spcPts val="200"/>
              </a:spcBef>
              <a:buClrTx/>
              <a:defRPr sz="1300"/>
            </a:lvl5pPr>
          </a:lstStyle>
          <a:p>
            <a:pPr/>
            <a:r>
              <a:t>Body Level One</a:t>
            </a:r>
          </a:p>
          <a:p>
            <a:pPr lvl="1"/>
            <a:r>
              <a:t>Body Level Two</a:t>
            </a:r>
          </a:p>
          <a:p>
            <a:pPr lvl="2"/>
            <a:r>
              <a:t>Body Level Three</a:t>
            </a:r>
          </a:p>
          <a:p>
            <a:pPr lvl="3"/>
            <a:r>
              <a:t>Body Level Four</a:t>
            </a:r>
          </a:p>
          <a:p>
            <a:pPr lvl="4"/>
            <a:r>
              <a:t>Body Level Five</a:t>
            </a:r>
          </a:p>
        </p:txBody>
      </p:sp>
      <p:sp>
        <p:nvSpPr>
          <p:cNvPr id="90" name="Picture Placeholder 2"/>
          <p:cNvSpPr/>
          <p:nvPr>
            <p:ph type="pic" sz="half" idx="13"/>
          </p:nvPr>
        </p:nvSpPr>
        <p:spPr>
          <a:xfrm rot="420000">
            <a:off x="3485793" y="1199516"/>
            <a:ext cx="4617721" cy="3931922"/>
          </a:xfrm>
          <a:prstGeom prst="rect">
            <a:avLst/>
          </a:prstGeom>
          <a:ln w="3175" cap="rnd">
            <a:solidFill>
              <a:srgbClr val="C0C0C0"/>
            </a:solidFill>
            <a:round/>
          </a:ln>
        </p:spPr>
        <p:txBody>
          <a:bodyPr lIns="91439" rIns="91439">
            <a:noAutofit/>
          </a:bodyPr>
          <a:lstStyle/>
          <a:p>
            <a:pPr/>
          </a:p>
        </p:txBody>
      </p:sp>
      <p:sp>
        <p:nvSpPr>
          <p:cNvPr id="91" name="Freeform 9"/>
          <p:cNvSpPr/>
          <p:nvPr/>
        </p:nvSpPr>
        <p:spPr>
          <a:xfrm flipV="1">
            <a:off x="-9525" y="5816599"/>
            <a:ext cx="9163051" cy="1041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00BA">
                  <a:alpha val="45000"/>
                </a:srgbClr>
              </a:gs>
              <a:gs pos="100000">
                <a:srgbClr val="0000E6">
                  <a:alpha val="55000"/>
                </a:srgbClr>
              </a:gs>
            </a:gsLst>
            <a:lin ang="5400000"/>
          </a:gradFill>
          <a:ln w="12700">
            <a:miter lim="400000"/>
          </a:ln>
        </p:spPr>
        <p:txBody>
          <a:bodyPr lIns="45719" rIns="45719"/>
          <a:lstStyle/>
          <a:p>
            <a:pPr/>
          </a:p>
        </p:txBody>
      </p:sp>
      <p:sp>
        <p:nvSpPr>
          <p:cNvPr id="92" name="Freeform 10"/>
          <p:cNvSpPr/>
          <p:nvPr/>
        </p:nvSpPr>
        <p:spPr>
          <a:xfrm flipV="1">
            <a:off x="4381500" y="6250788"/>
            <a:ext cx="4762501" cy="607213"/>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00BA">
                  <a:alpha val="30000"/>
                </a:srgbClr>
              </a:gs>
              <a:gs pos="80000">
                <a:srgbClr val="0000E0">
                  <a:alpha val="45000"/>
                </a:srgbClr>
              </a:gs>
            </a:gsLst>
            <a:lin ang="5400000"/>
          </a:gradFill>
          <a:ln w="12700">
            <a:miter lim="400000"/>
          </a:ln>
        </p:spPr>
        <p:txBody>
          <a:bodyPr lIns="45719" rIns="45719"/>
          <a:lstStyle/>
          <a:p>
            <a:pPr/>
          </a:p>
        </p:txBody>
      </p:sp>
      <p:sp>
        <p:nvSpPr>
          <p:cNvPr id="9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Freeform 6"/>
          <p:cNvSpPr/>
          <p:nvPr/>
        </p:nvSpPr>
        <p:spPr>
          <a:xfrm>
            <a:off x="-9525" y="-7144"/>
            <a:ext cx="9163051" cy="10414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 y="66"/>
                </a:moveTo>
                <a:lnTo>
                  <a:pt x="9513" y="0"/>
                </a:lnTo>
                <a:cubicBezTo>
                  <a:pt x="10276" y="3326"/>
                  <a:pt x="14325" y="12084"/>
                  <a:pt x="16368" y="12084"/>
                </a:cubicBezTo>
                <a:cubicBezTo>
                  <a:pt x="18412" y="12084"/>
                  <a:pt x="20679" y="5005"/>
                  <a:pt x="21578" y="1811"/>
                </a:cubicBezTo>
                <a:lnTo>
                  <a:pt x="21600" y="7013"/>
                </a:lnTo>
                <a:cubicBezTo>
                  <a:pt x="21218" y="8462"/>
                  <a:pt x="18771" y="14521"/>
                  <a:pt x="16099" y="14455"/>
                </a:cubicBezTo>
                <a:cubicBezTo>
                  <a:pt x="13427" y="14389"/>
                  <a:pt x="8252" y="5433"/>
                  <a:pt x="5568" y="6618"/>
                </a:cubicBezTo>
                <a:cubicBezTo>
                  <a:pt x="2807" y="6882"/>
                  <a:pt x="1010" y="15871"/>
                  <a:pt x="0" y="21600"/>
                </a:cubicBezTo>
                <a:lnTo>
                  <a:pt x="22" y="66"/>
                </a:lnTo>
                <a:close/>
              </a:path>
            </a:pathLst>
          </a:custGeom>
          <a:gradFill>
            <a:gsLst>
              <a:gs pos="0">
                <a:srgbClr val="0000BA">
                  <a:alpha val="45000"/>
                </a:srgbClr>
              </a:gs>
              <a:gs pos="100000">
                <a:srgbClr val="0000E6">
                  <a:alpha val="55000"/>
                </a:srgbClr>
              </a:gs>
            </a:gsLst>
            <a:lin ang="5400000"/>
          </a:gradFill>
          <a:ln w="12700">
            <a:miter lim="400000"/>
          </a:ln>
        </p:spPr>
        <p:txBody>
          <a:bodyPr lIns="45719" rIns="45719"/>
          <a:lstStyle/>
          <a:p>
            <a:pPr/>
          </a:p>
        </p:txBody>
      </p:sp>
      <p:sp>
        <p:nvSpPr>
          <p:cNvPr id="3" name="Freeform 7"/>
          <p:cNvSpPr/>
          <p:nvPr/>
        </p:nvSpPr>
        <p:spPr>
          <a:xfrm>
            <a:off x="4381500" y="-7145"/>
            <a:ext cx="4762501" cy="607213"/>
          </a:xfrm>
          <a:custGeom>
            <a:avLst/>
            <a:gdLst/>
            <a:ahLst/>
            <a:cxnLst>
              <a:cxn ang="0">
                <a:pos x="wd2" y="hd2"/>
              </a:cxn>
              <a:cxn ang="5400000">
                <a:pos x="wd2" y="hd2"/>
              </a:cxn>
              <a:cxn ang="10800000">
                <a:pos x="wd2" y="hd2"/>
              </a:cxn>
              <a:cxn ang="16200000">
                <a:pos x="wd2" y="hd2"/>
              </a:cxn>
            </a:cxnLst>
            <a:rect l="0" t="0" r="r" b="b"/>
            <a:pathLst>
              <a:path w="21600" h="20552" fill="norm" stroke="1" extrusionOk="0">
                <a:moveTo>
                  <a:pt x="0" y="0"/>
                </a:moveTo>
                <a:cubicBezTo>
                  <a:pt x="1253" y="3703"/>
                  <a:pt x="8410" y="19349"/>
                  <a:pt x="12010" y="20475"/>
                </a:cubicBezTo>
                <a:cubicBezTo>
                  <a:pt x="15610" y="21600"/>
                  <a:pt x="20002" y="10128"/>
                  <a:pt x="21600" y="6752"/>
                </a:cubicBezTo>
                <a:lnTo>
                  <a:pt x="21600" y="218"/>
                </a:lnTo>
                <a:lnTo>
                  <a:pt x="0" y="0"/>
                </a:lnTo>
                <a:close/>
              </a:path>
            </a:pathLst>
          </a:custGeom>
          <a:gradFill>
            <a:gsLst>
              <a:gs pos="0">
                <a:srgbClr val="0000BA">
                  <a:alpha val="30000"/>
                </a:srgbClr>
              </a:gs>
              <a:gs pos="80000">
                <a:srgbClr val="0000E0">
                  <a:alpha val="45000"/>
                </a:srgbClr>
              </a:gs>
            </a:gsLst>
            <a:lin ang="5400000"/>
          </a:gradFill>
          <a:ln w="12700">
            <a:miter lim="400000"/>
          </a:ln>
        </p:spPr>
        <p:txBody>
          <a:bodyPr lIns="45719" rIns="45719"/>
          <a:lstStyle/>
          <a:p>
            <a:pPr/>
          </a:p>
        </p:txBody>
      </p:sp>
      <p:grpSp>
        <p:nvGrpSpPr>
          <p:cNvPr id="6" name="Group 1"/>
          <p:cNvGrpSpPr/>
          <p:nvPr/>
        </p:nvGrpSpPr>
        <p:grpSpPr>
          <a:xfrm>
            <a:off x="-29295" y="-16113"/>
            <a:ext cx="9197179" cy="1058653"/>
            <a:chOff x="0" y="0"/>
            <a:chExt cx="9197178" cy="1058652"/>
          </a:xfrm>
        </p:grpSpPr>
        <p:sp>
          <p:nvSpPr>
            <p:cNvPr id="4" name="Freeform 11"/>
            <p:cNvSpPr/>
            <p:nvPr/>
          </p:nvSpPr>
          <p:spPr>
            <a:xfrm rot="21435692">
              <a:off x="9616" y="218536"/>
              <a:ext cx="9163051" cy="621581"/>
            </a:xfrm>
            <a:custGeom>
              <a:avLst/>
              <a:gdLst/>
              <a:ahLst/>
              <a:cxnLst>
                <a:cxn ang="0">
                  <a:pos x="wd2" y="hd2"/>
                </a:cxn>
                <a:cxn ang="5400000">
                  <a:pos x="wd2" y="hd2"/>
                </a:cxn>
                <a:cxn ang="10800000">
                  <a:pos x="wd2" y="hd2"/>
                </a:cxn>
                <a:cxn ang="16200000">
                  <a:pos x="wd2" y="hd2"/>
                </a:cxn>
              </a:cxnLst>
              <a:rect l="0" t="0" r="r" b="b"/>
              <a:pathLst>
                <a:path w="21600" h="20680" fill="norm" stroke="1" extrusionOk="0">
                  <a:moveTo>
                    <a:pt x="0" y="19778"/>
                  </a:moveTo>
                  <a:cubicBezTo>
                    <a:pt x="1055" y="15110"/>
                    <a:pt x="3454" y="5630"/>
                    <a:pt x="6017" y="5774"/>
                  </a:cubicBezTo>
                  <a:cubicBezTo>
                    <a:pt x="8581" y="5917"/>
                    <a:pt x="12783" y="21600"/>
                    <a:pt x="15380" y="20638"/>
                  </a:cubicBezTo>
                  <a:cubicBezTo>
                    <a:pt x="17978" y="19675"/>
                    <a:pt x="20305" y="4300"/>
                    <a:pt x="21600" y="0"/>
                  </a:cubicBezTo>
                </a:path>
              </a:pathLst>
            </a:custGeom>
            <a:noFill/>
            <a:ln w="10795" cap="flat">
              <a:solidFill>
                <a:srgbClr val="0000E0">
                  <a:alpha val="78000"/>
                </a:srgbClr>
              </a:solidFill>
              <a:prstDash val="solid"/>
              <a:round/>
            </a:ln>
            <a:effectLst/>
          </p:spPr>
          <p:txBody>
            <a:bodyPr wrap="square" lIns="45719" tIns="45719" rIns="45719" bIns="45719" numCol="1" anchor="t">
              <a:noAutofit/>
            </a:bodyPr>
            <a:lstStyle/>
            <a:p>
              <a:pPr/>
            </a:p>
          </p:txBody>
        </p:sp>
        <p:sp>
          <p:nvSpPr>
            <p:cNvPr id="5" name="Freeform 12"/>
            <p:cNvSpPr/>
            <p:nvPr/>
          </p:nvSpPr>
          <p:spPr>
            <a:xfrm rot="21435692">
              <a:off x="14474" y="291986"/>
              <a:ext cx="9175813" cy="507809"/>
            </a:xfrm>
            <a:custGeom>
              <a:avLst/>
              <a:gdLst/>
              <a:ahLst/>
              <a:cxnLst>
                <a:cxn ang="0">
                  <a:pos x="wd2" y="hd2"/>
                </a:cxn>
                <a:cxn ang="5400000">
                  <a:pos x="wd2" y="hd2"/>
                </a:cxn>
                <a:cxn ang="10800000">
                  <a:pos x="wd2" y="hd2"/>
                </a:cxn>
                <a:cxn ang="16200000">
                  <a:pos x="wd2" y="hd2"/>
                </a:cxn>
              </a:cxnLst>
              <a:rect l="0" t="0" r="r" b="b"/>
              <a:pathLst>
                <a:path w="21600" h="20682" fill="norm" stroke="1" extrusionOk="0">
                  <a:moveTo>
                    <a:pt x="0" y="18514"/>
                  </a:moveTo>
                  <a:cubicBezTo>
                    <a:pt x="1023" y="16364"/>
                    <a:pt x="3563" y="5413"/>
                    <a:pt x="6136" y="5767"/>
                  </a:cubicBezTo>
                  <a:cubicBezTo>
                    <a:pt x="8710" y="6121"/>
                    <a:pt x="12864" y="21600"/>
                    <a:pt x="15441" y="20639"/>
                  </a:cubicBezTo>
                  <a:cubicBezTo>
                    <a:pt x="18019" y="19678"/>
                    <a:pt x="20319" y="4300"/>
                    <a:pt x="21600" y="0"/>
                  </a:cubicBezTo>
                </a:path>
              </a:pathLst>
            </a:custGeom>
            <a:noFill/>
            <a:ln w="9525" cap="flat">
              <a:solidFill>
                <a:schemeClr val="accent1">
                  <a:alpha val="78000"/>
                </a:schemeClr>
              </a:solidFill>
              <a:prstDash val="solid"/>
              <a:round/>
            </a:ln>
            <a:effectLst/>
          </p:spPr>
          <p:txBody>
            <a:bodyPr wrap="square" lIns="45719" tIns="45719" rIns="45719" bIns="45719" numCol="1" anchor="t">
              <a:noAutofit/>
            </a:bodyPr>
            <a:lstStyle/>
            <a:p>
              <a:pPr/>
            </a:p>
          </p:txBody>
        </p:sp>
      </p:grpSp>
      <p:sp>
        <p:nvSpPr>
          <p:cNvPr id="7" name="Title Text"/>
          <p:cNvSpPr txBox="1"/>
          <p:nvPr>
            <p:ph type="title"/>
          </p:nvPr>
        </p:nvSpPr>
        <p:spPr>
          <a:xfrm>
            <a:off x="457200" y="704087"/>
            <a:ext cx="8229600" cy="1143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normAutofit fontScale="100000" lnSpcReduction="0"/>
          </a:bodyPr>
          <a:lstStyle/>
          <a:p>
            <a:pPr/>
            <a:r>
              <a:t>Title Text</a:t>
            </a:r>
          </a:p>
        </p:txBody>
      </p:sp>
      <p:sp>
        <p:nvSpPr>
          <p:cNvPr id="8" name="Body Level One…"/>
          <p:cNvSpPr txBox="1"/>
          <p:nvPr>
            <p:ph type="body" idx="1"/>
          </p:nvPr>
        </p:nvSpPr>
        <p:spPr>
          <a:xfrm>
            <a:off x="457200" y="1935479"/>
            <a:ext cx="8229600" cy="43891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9" name="Slide Number"/>
          <p:cNvSpPr txBox="1"/>
          <p:nvPr>
            <p:ph type="sldNum" sz="quarter" idx="2"/>
          </p:nvPr>
        </p:nvSpPr>
        <p:spPr>
          <a:xfrm>
            <a:off x="8521700" y="6518275"/>
            <a:ext cx="165101" cy="203201"/>
          </a:xfrm>
          <a:prstGeom prst="rect">
            <a:avLst/>
          </a:prstGeom>
          <a:ln w="12700">
            <a:miter lim="400000"/>
          </a:ln>
        </p:spPr>
        <p:txBody>
          <a:bodyPr wrap="none" lIns="0" tIns="0" rIns="0" bIns="0" anchor="b">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1pPr>
      <a:lvl2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2pPr>
      <a:lvl3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3pPr>
      <a:lvl4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4pPr>
      <a:lvl5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5pPr>
      <a:lvl6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6pPr>
      <a:lvl7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7pPr>
      <a:lvl8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8pPr>
      <a:lvl9pPr marL="0" marR="0" indent="0" algn="l" defTabSz="914400" rtl="0" latinLnBrk="0">
        <a:lnSpc>
          <a:spcPct val="100000"/>
        </a:lnSpc>
        <a:spcBef>
          <a:spcPts val="0"/>
        </a:spcBef>
        <a:spcAft>
          <a:spcPts val="0"/>
        </a:spcAft>
        <a:buClrTx/>
        <a:buSzTx/>
        <a:buFontTx/>
        <a:buNone/>
        <a:tabLst/>
        <a:defRPr b="0" baseline="0" cap="none" i="0" spc="0" strike="noStrike" sz="5000" u="none">
          <a:ln>
            <a:noFill/>
          </a:ln>
          <a:solidFill>
            <a:srgbClr val="000000"/>
          </a:solidFill>
          <a:uFillTx/>
          <a:latin typeface="+mj-lt"/>
          <a:ea typeface="+mj-ea"/>
          <a:cs typeface="+mj-cs"/>
          <a:sym typeface="Calibri"/>
        </a:defRPr>
      </a:lvl9pPr>
    </p:titleStyle>
    <p:bodyStyle>
      <a:lvl1pPr marL="274320" marR="0" indent="-274320" algn="l" defTabSz="914400" rtl="0" latinLnBrk="0">
        <a:lnSpc>
          <a:spcPct val="100000"/>
        </a:lnSpc>
        <a:spcBef>
          <a:spcPts val="600"/>
        </a:spcBef>
        <a:spcAft>
          <a:spcPts val="0"/>
        </a:spcAft>
        <a:buClr>
          <a:schemeClr val="accent1"/>
        </a:buClr>
        <a:buSzPct val="95000"/>
        <a:buFontTx/>
        <a:buChar char="●"/>
        <a:tabLst/>
        <a:defRPr b="0" baseline="0" cap="none" i="0" spc="0" strike="noStrike" sz="2600" u="none">
          <a:ln>
            <a:noFill/>
          </a:ln>
          <a:solidFill>
            <a:srgbClr val="000000"/>
          </a:solidFill>
          <a:uFillTx/>
          <a:latin typeface="Constantia"/>
          <a:ea typeface="Constantia"/>
          <a:cs typeface="Constantia"/>
          <a:sym typeface="Constantia"/>
        </a:defRPr>
      </a:lvl1pPr>
      <a:lvl2pPr marL="660654" marR="0" indent="-267461" algn="l" defTabSz="914400" rtl="0" latinLnBrk="0">
        <a:lnSpc>
          <a:spcPct val="100000"/>
        </a:lnSpc>
        <a:spcBef>
          <a:spcPts val="600"/>
        </a:spcBef>
        <a:spcAft>
          <a:spcPts val="0"/>
        </a:spcAft>
        <a:buClr>
          <a:schemeClr val="accent1"/>
        </a:buClr>
        <a:buSzPct val="85000"/>
        <a:buFontTx/>
        <a:buChar char="●"/>
        <a:tabLst/>
        <a:defRPr b="0" baseline="0" cap="none" i="0" spc="0" strike="noStrike" sz="2600" u="none">
          <a:ln>
            <a:noFill/>
          </a:ln>
          <a:solidFill>
            <a:srgbClr val="000000"/>
          </a:solidFill>
          <a:uFillTx/>
          <a:latin typeface="Constantia"/>
          <a:ea typeface="Constantia"/>
          <a:cs typeface="Constantia"/>
          <a:sym typeface="Constantia"/>
        </a:defRPr>
      </a:lvl2pPr>
      <a:lvl3pPr marL="973182" marR="0" indent="-305670" algn="l" defTabSz="914400" rtl="0" latinLnBrk="0">
        <a:lnSpc>
          <a:spcPct val="100000"/>
        </a:lnSpc>
        <a:spcBef>
          <a:spcPts val="600"/>
        </a:spcBef>
        <a:spcAft>
          <a:spcPts val="0"/>
        </a:spcAft>
        <a:buClr>
          <a:schemeClr val="accent1"/>
        </a:buClr>
        <a:buSzPct val="70000"/>
        <a:buFontTx/>
        <a:buChar char="●"/>
        <a:tabLst/>
        <a:defRPr b="0" baseline="0" cap="none" i="0" spc="0" strike="noStrike" sz="2600" u="none">
          <a:ln>
            <a:noFill/>
          </a:ln>
          <a:solidFill>
            <a:srgbClr val="000000"/>
          </a:solidFill>
          <a:uFillTx/>
          <a:latin typeface="Constantia"/>
          <a:ea typeface="Constantia"/>
          <a:cs typeface="Constantia"/>
          <a:sym typeface="Constantia"/>
        </a:defRPr>
      </a:lvl3pPr>
      <a:lvl4pPr marL="1251813" marR="0" indent="-273405" algn="l" defTabSz="914400" rtl="0" latinLnBrk="0">
        <a:lnSpc>
          <a:spcPct val="100000"/>
        </a:lnSpc>
        <a:spcBef>
          <a:spcPts val="600"/>
        </a:spcBef>
        <a:spcAft>
          <a:spcPts val="0"/>
        </a:spcAft>
        <a:buClr>
          <a:schemeClr val="accent1"/>
        </a:buClr>
        <a:buSzPct val="65000"/>
        <a:buFontTx/>
        <a:buChar char="●"/>
        <a:tabLst/>
        <a:defRPr b="0" baseline="0" cap="none" i="0" spc="0" strike="noStrike" sz="2600" u="none">
          <a:ln>
            <a:noFill/>
          </a:ln>
          <a:solidFill>
            <a:srgbClr val="000000"/>
          </a:solidFill>
          <a:uFillTx/>
          <a:latin typeface="Constantia"/>
          <a:ea typeface="Constantia"/>
          <a:cs typeface="Constantia"/>
          <a:sym typeface="Constantia"/>
        </a:defRPr>
      </a:lvl4pPr>
      <a:lvl5pPr marL="1526133" marR="0" indent="-273405" algn="l" defTabSz="914400" rtl="0" latinLnBrk="0">
        <a:lnSpc>
          <a:spcPct val="100000"/>
        </a:lnSpc>
        <a:spcBef>
          <a:spcPts val="600"/>
        </a:spcBef>
        <a:spcAft>
          <a:spcPts val="0"/>
        </a:spcAft>
        <a:buClr>
          <a:schemeClr val="accent1"/>
        </a:buClr>
        <a:buSzPct val="65000"/>
        <a:buFontTx/>
        <a:buChar char="●"/>
        <a:tabLst/>
        <a:defRPr b="0" baseline="0" cap="none" i="0" spc="0" strike="noStrike" sz="2600" u="none">
          <a:ln>
            <a:noFill/>
          </a:ln>
          <a:solidFill>
            <a:srgbClr val="000000"/>
          </a:solidFill>
          <a:uFillTx/>
          <a:latin typeface="Constantia"/>
          <a:ea typeface="Constantia"/>
          <a:cs typeface="Constantia"/>
          <a:sym typeface="Constantia"/>
        </a:defRPr>
      </a:lvl5pPr>
      <a:lvl6pPr marL="1830832" marR="0" indent="-303783" algn="l" defTabSz="914400" rtl="0" latinLnBrk="0">
        <a:lnSpc>
          <a:spcPct val="100000"/>
        </a:lnSpc>
        <a:spcBef>
          <a:spcPts val="600"/>
        </a:spcBef>
        <a:spcAft>
          <a:spcPts val="0"/>
        </a:spcAft>
        <a:buClr>
          <a:schemeClr val="accent1"/>
        </a:buClr>
        <a:buSzPct val="80000"/>
        <a:buFontTx/>
        <a:buChar char="●"/>
        <a:tabLst/>
        <a:defRPr b="0" baseline="0" cap="none" i="0" spc="0" strike="noStrike" sz="2600" u="none">
          <a:ln>
            <a:noFill/>
          </a:ln>
          <a:solidFill>
            <a:srgbClr val="000000"/>
          </a:solidFill>
          <a:uFillTx/>
          <a:latin typeface="Constantia"/>
          <a:ea typeface="Constantia"/>
          <a:cs typeface="Constantia"/>
          <a:sym typeface="Constantia"/>
        </a:defRPr>
      </a:lvl6pPr>
      <a:lvl7pPr marL="2034539" marR="0" indent="-297179" algn="l" defTabSz="914400" rtl="0" latinLnBrk="0">
        <a:lnSpc>
          <a:spcPct val="100000"/>
        </a:lnSpc>
        <a:spcBef>
          <a:spcPts val="600"/>
        </a:spcBef>
        <a:spcAft>
          <a:spcPts val="0"/>
        </a:spcAft>
        <a:buClr>
          <a:schemeClr val="accent1"/>
        </a:buClr>
        <a:buSzPct val="80000"/>
        <a:buFontTx/>
        <a:buChar char="●"/>
        <a:tabLst/>
        <a:defRPr b="0" baseline="0" cap="none" i="0" spc="0" strike="noStrike" sz="2600" u="none">
          <a:ln>
            <a:noFill/>
          </a:ln>
          <a:solidFill>
            <a:srgbClr val="000000"/>
          </a:solidFill>
          <a:uFillTx/>
          <a:latin typeface="Constantia"/>
          <a:ea typeface="Constantia"/>
          <a:cs typeface="Constantia"/>
          <a:sym typeface="Constantia"/>
        </a:defRPr>
      </a:lvl7pPr>
      <a:lvl8pPr marL="2308860" marR="0" indent="-297179" algn="l" defTabSz="914400" rtl="0" latinLnBrk="0">
        <a:lnSpc>
          <a:spcPct val="100000"/>
        </a:lnSpc>
        <a:spcBef>
          <a:spcPts val="600"/>
        </a:spcBef>
        <a:spcAft>
          <a:spcPts val="0"/>
        </a:spcAft>
        <a:buClr>
          <a:schemeClr val="accent1"/>
        </a:buClr>
        <a:buSzPct val="100000"/>
        <a:buFontTx/>
        <a:buChar char="•"/>
        <a:tabLst/>
        <a:defRPr b="0" baseline="0" cap="none" i="0" spc="0" strike="noStrike" sz="2600" u="none">
          <a:ln>
            <a:noFill/>
          </a:ln>
          <a:solidFill>
            <a:srgbClr val="000000"/>
          </a:solidFill>
          <a:uFillTx/>
          <a:latin typeface="Constantia"/>
          <a:ea typeface="Constantia"/>
          <a:cs typeface="Constantia"/>
          <a:sym typeface="Constantia"/>
        </a:defRPr>
      </a:lvl8pPr>
      <a:lvl9pPr marL="2625634" marR="0" indent="-339634" algn="l" defTabSz="914400" rtl="0" latinLnBrk="0">
        <a:lnSpc>
          <a:spcPct val="100000"/>
        </a:lnSpc>
        <a:spcBef>
          <a:spcPts val="600"/>
        </a:spcBef>
        <a:spcAft>
          <a:spcPts val="0"/>
        </a:spcAft>
        <a:buClr>
          <a:schemeClr val="accent1"/>
        </a:buClr>
        <a:buSzPct val="100000"/>
        <a:buFontTx/>
        <a:buChar char="•"/>
        <a:tabLst/>
        <a:defRPr b="0" baseline="0" cap="none" i="0" spc="0" strike="noStrike" sz="2600" u="none">
          <a:ln>
            <a:noFill/>
          </a:ln>
          <a:solidFill>
            <a:srgbClr val="000000"/>
          </a:solidFill>
          <a:uFillTx/>
          <a:latin typeface="Constantia"/>
          <a:ea typeface="Constantia"/>
          <a:cs typeface="Constantia"/>
          <a:sym typeface="Constanti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ln>
            <a:noFill/>
          </a:ln>
          <a:solidFill>
            <a:schemeClr val="tx1"/>
          </a:solidFill>
          <a:uFillTx/>
          <a:latin typeface="+mn-lt"/>
          <a:ea typeface="+mn-ea"/>
          <a:cs typeface="+mn-cs"/>
          <a:sym typeface="Constanti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1.gif"/><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dictionary.reference.com/browse/current" TargetMode="External"/><Relationship Id="rId3" Type="http://schemas.openxmlformats.org/officeDocument/2006/relationships/image" Target="../media/image6.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8.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 Id="rId3" Type="http://schemas.openxmlformats.org/officeDocument/2006/relationships/image" Target="../media/image1.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 Id="rId3" Type="http://schemas.openxmlformats.org/officeDocument/2006/relationships/image" Target="../media/image1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5.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 Id="rId3" Type="http://schemas.openxmlformats.org/officeDocument/2006/relationships/image" Target="../media/image1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gif"/><Relationship Id="rId3"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gif"/><Relationship Id="rId3" Type="http://schemas.openxmlformats.org/officeDocument/2006/relationships/image" Target="../media/image1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eg"/><Relationship Id="rId3" Type="http://schemas.openxmlformats.org/officeDocument/2006/relationships/image" Target="../media/image13.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gif"/></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 Id="rId3" Type="http://schemas.openxmlformats.org/officeDocument/2006/relationships/image" Target="../media/image21.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gif"/><Relationship Id="rId3"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TextBox 22"/>
          <p:cNvSpPr txBox="1"/>
          <p:nvPr/>
        </p:nvSpPr>
        <p:spPr>
          <a:xfrm>
            <a:off x="1066800" y="685800"/>
            <a:ext cx="7086600" cy="624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u="sng"/>
            </a:lvl1pPr>
          </a:lstStyle>
          <a:p>
            <a:pPr/>
            <a:r>
              <a:t>Transistors</a:t>
            </a:r>
          </a:p>
        </p:txBody>
      </p:sp>
      <p:pic>
        <p:nvPicPr>
          <p:cNvPr id="103" name="Picture 6" descr="Picture 6"/>
          <p:cNvPicPr>
            <a:picLocks noChangeAspect="1"/>
          </p:cNvPicPr>
          <p:nvPr/>
        </p:nvPicPr>
        <p:blipFill>
          <a:blip r:embed="rId3">
            <a:extLst/>
          </a:blip>
          <a:srcRect l="13333" t="4207" r="13333" b="0"/>
          <a:stretch>
            <a:fillRect/>
          </a:stretch>
        </p:blipFill>
        <p:spPr>
          <a:xfrm>
            <a:off x="533400" y="4267199"/>
            <a:ext cx="1676400" cy="1541409"/>
          </a:xfrm>
          <a:prstGeom prst="rect">
            <a:avLst/>
          </a:prstGeom>
          <a:ln w="12700">
            <a:miter lim="400000"/>
          </a:ln>
        </p:spPr>
      </p:pic>
      <p:sp>
        <p:nvSpPr>
          <p:cNvPr id="104" name="TextBox 9"/>
          <p:cNvSpPr txBox="1"/>
          <p:nvPr/>
        </p:nvSpPr>
        <p:spPr>
          <a:xfrm>
            <a:off x="-304800" y="5796069"/>
            <a:ext cx="3429002" cy="762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20000"/>
              </a:lnSpc>
              <a:spcBef>
                <a:spcPts val="400"/>
              </a:spcBef>
              <a:defRPr b="1"/>
            </a:pPr>
            <a:r>
              <a:t>First Transistor </a:t>
            </a:r>
            <a:br/>
            <a:r>
              <a:t>Model, 1947</a:t>
            </a:r>
          </a:p>
        </p:txBody>
      </p:sp>
      <p:grpSp>
        <p:nvGrpSpPr>
          <p:cNvPr id="107" name="Group 29"/>
          <p:cNvGrpSpPr/>
          <p:nvPr/>
        </p:nvGrpSpPr>
        <p:grpSpPr>
          <a:xfrm>
            <a:off x="4675990" y="4500984"/>
            <a:ext cx="2663495" cy="1868776"/>
            <a:chOff x="0" y="0"/>
            <a:chExt cx="2663494" cy="1868775"/>
          </a:xfrm>
        </p:grpSpPr>
        <p:pic>
          <p:nvPicPr>
            <p:cNvPr id="105" name="Picture 3" descr="Picture 3"/>
            <p:cNvPicPr>
              <a:picLocks noChangeAspect="1"/>
            </p:cNvPicPr>
            <p:nvPr/>
          </p:nvPicPr>
          <p:blipFill>
            <a:blip r:embed="rId4">
              <a:extLst/>
            </a:blip>
            <a:srcRect l="39286" t="0" r="0" b="0"/>
            <a:stretch>
              <a:fillRect/>
            </a:stretch>
          </p:blipFill>
          <p:spPr>
            <a:xfrm>
              <a:off x="609599" y="0"/>
              <a:ext cx="1295402" cy="1396336"/>
            </a:xfrm>
            <a:prstGeom prst="rect">
              <a:avLst/>
            </a:prstGeom>
            <a:ln w="9525" cap="flat">
              <a:solidFill>
                <a:srgbClr val="000000"/>
              </a:solidFill>
              <a:prstDash val="solid"/>
              <a:round/>
            </a:ln>
            <a:effectLst/>
          </p:spPr>
        </p:pic>
        <p:sp>
          <p:nvSpPr>
            <p:cNvPr id="106" name="TextBox 9"/>
            <p:cNvSpPr txBox="1"/>
            <p:nvPr/>
          </p:nvSpPr>
          <p:spPr>
            <a:xfrm>
              <a:off x="0" y="1472535"/>
              <a:ext cx="266349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lnSpc>
                  <a:spcPct val="120000"/>
                </a:lnSpc>
                <a:spcBef>
                  <a:spcPts val="400"/>
                </a:spcBef>
                <a:defRPr b="1"/>
              </a:lvl1pPr>
            </a:lstStyle>
            <a:p>
              <a:pPr/>
              <a:r>
                <a:t>FET Transistor</a:t>
              </a:r>
            </a:p>
          </p:txBody>
        </p:sp>
      </p:grpSp>
      <p:pic>
        <p:nvPicPr>
          <p:cNvPr id="108" name="Picture 5" descr="Picture 5"/>
          <p:cNvPicPr>
            <a:picLocks noChangeAspect="1"/>
          </p:cNvPicPr>
          <p:nvPr/>
        </p:nvPicPr>
        <p:blipFill>
          <a:blip r:embed="rId5">
            <a:extLst/>
          </a:blip>
          <a:srcRect l="5624" t="12928" r="6270" b="6917"/>
          <a:stretch>
            <a:fillRect/>
          </a:stretch>
        </p:blipFill>
        <p:spPr>
          <a:xfrm>
            <a:off x="381000" y="1295399"/>
            <a:ext cx="3581400" cy="2362202"/>
          </a:xfrm>
          <a:prstGeom prst="rect">
            <a:avLst/>
          </a:prstGeom>
          <a:ln w="12700">
            <a:miter lim="400000"/>
          </a:ln>
        </p:spPr>
      </p:pic>
      <p:pic>
        <p:nvPicPr>
          <p:cNvPr id="109" name="Picture 24" descr="Picture 24"/>
          <p:cNvPicPr>
            <a:picLocks noChangeAspect="1"/>
          </p:cNvPicPr>
          <p:nvPr/>
        </p:nvPicPr>
        <p:blipFill>
          <a:blip r:embed="rId6">
            <a:extLst/>
          </a:blip>
          <a:stretch>
            <a:fillRect/>
          </a:stretch>
        </p:blipFill>
        <p:spPr>
          <a:xfrm>
            <a:off x="4576476" y="1575343"/>
            <a:ext cx="3842651" cy="1905001"/>
          </a:xfrm>
          <a:prstGeom prst="rect">
            <a:avLst/>
          </a:prstGeom>
          <a:ln w="12700">
            <a:miter lim="400000"/>
          </a:ln>
        </p:spPr>
      </p:pic>
      <p:pic>
        <p:nvPicPr>
          <p:cNvPr id="110" name="Picture 6" descr="Picture 6"/>
          <p:cNvPicPr>
            <a:picLocks noChangeAspect="1"/>
          </p:cNvPicPr>
          <p:nvPr/>
        </p:nvPicPr>
        <p:blipFill>
          <a:blip r:embed="rId7">
            <a:extLst/>
          </a:blip>
          <a:stretch>
            <a:fillRect/>
          </a:stretch>
        </p:blipFill>
        <p:spPr>
          <a:xfrm>
            <a:off x="7315200" y="4520284"/>
            <a:ext cx="1371600" cy="1381126"/>
          </a:xfrm>
          <a:prstGeom prst="rect">
            <a:avLst/>
          </a:prstGeom>
          <a:ln>
            <a:solidFill>
              <a:srgbClr val="000000"/>
            </a:solidFill>
            <a:miter/>
          </a:ln>
        </p:spPr>
      </p:pic>
      <p:sp>
        <p:nvSpPr>
          <p:cNvPr id="111" name="TextBox 9"/>
          <p:cNvSpPr txBox="1"/>
          <p:nvPr/>
        </p:nvSpPr>
        <p:spPr>
          <a:xfrm>
            <a:off x="6705599" y="5973519"/>
            <a:ext cx="266349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a:lvl1pPr>
          </a:lstStyle>
          <a:p>
            <a:pPr/>
            <a:r>
              <a:t>BJT Transistor</a:t>
            </a:r>
          </a:p>
        </p:txBody>
      </p:sp>
      <p:sp>
        <p:nvSpPr>
          <p:cNvPr id="112" name="TextBox 9"/>
          <p:cNvSpPr txBox="1"/>
          <p:nvPr/>
        </p:nvSpPr>
        <p:spPr>
          <a:xfrm>
            <a:off x="304800" y="3505200"/>
            <a:ext cx="3810000" cy="396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a:lvl1pPr>
          </a:lstStyle>
          <a:p>
            <a:pPr/>
            <a:r>
              <a:t>Transistors of various type &amp; size</a:t>
            </a:r>
          </a:p>
        </p:txBody>
      </p:sp>
      <p:grpSp>
        <p:nvGrpSpPr>
          <p:cNvPr id="115" name="Group 21"/>
          <p:cNvGrpSpPr/>
          <p:nvPr/>
        </p:nvGrpSpPr>
        <p:grpSpPr>
          <a:xfrm>
            <a:off x="3116217" y="3946297"/>
            <a:ext cx="1460259" cy="1921103"/>
            <a:chOff x="0" y="0"/>
            <a:chExt cx="1460258" cy="1921101"/>
          </a:xfrm>
        </p:grpSpPr>
        <p:pic>
          <p:nvPicPr>
            <p:cNvPr id="113" name="Picture 2" descr="Picture 2"/>
            <p:cNvPicPr>
              <a:picLocks noChangeAspect="1"/>
            </p:cNvPicPr>
            <p:nvPr/>
          </p:nvPicPr>
          <p:blipFill>
            <a:blip r:embed="rId8">
              <a:extLst/>
            </a:blip>
            <a:stretch>
              <a:fillRect/>
            </a:stretch>
          </p:blipFill>
          <p:spPr>
            <a:xfrm>
              <a:off x="-1" y="0"/>
              <a:ext cx="1460260" cy="1066800"/>
            </a:xfrm>
            <a:prstGeom prst="rect">
              <a:avLst/>
            </a:prstGeom>
            <a:ln w="12700" cap="flat">
              <a:noFill/>
              <a:miter lim="400000"/>
            </a:ln>
            <a:effectLst/>
          </p:spPr>
        </p:pic>
        <p:pic>
          <p:nvPicPr>
            <p:cNvPr id="114" name="Picture 4" descr="Picture 4"/>
            <p:cNvPicPr>
              <a:picLocks noChangeAspect="1"/>
            </p:cNvPicPr>
            <p:nvPr/>
          </p:nvPicPr>
          <p:blipFill>
            <a:blip r:embed="rId9">
              <a:extLst/>
            </a:blip>
            <a:stretch>
              <a:fillRect/>
            </a:stretch>
          </p:blipFill>
          <p:spPr>
            <a:xfrm>
              <a:off x="76199" y="1066799"/>
              <a:ext cx="1067085" cy="854303"/>
            </a:xfrm>
            <a:prstGeom prst="rect">
              <a:avLst/>
            </a:prstGeom>
            <a:ln w="12700" cap="flat">
              <a:noFill/>
              <a:miter lim="400000"/>
            </a:ln>
            <a:effectLst/>
          </p:spPr>
        </p:pic>
      </p:grpSp>
      <p:sp>
        <p:nvSpPr>
          <p:cNvPr id="116" name="TextBox 9"/>
          <p:cNvSpPr txBox="1"/>
          <p:nvPr/>
        </p:nvSpPr>
        <p:spPr>
          <a:xfrm>
            <a:off x="2446382" y="5872269"/>
            <a:ext cx="2663495" cy="762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a:lvl1pPr>
          </a:lstStyle>
          <a:p>
            <a:pPr/>
            <a:r>
              <a:t>Used in all modern electronics</a:t>
            </a:r>
          </a:p>
        </p:txBody>
      </p:sp>
      <p:sp>
        <p:nvSpPr>
          <p:cNvPr id="117" name="TextBox 9"/>
          <p:cNvSpPr txBox="1"/>
          <p:nvPr/>
        </p:nvSpPr>
        <p:spPr>
          <a:xfrm>
            <a:off x="4724400" y="3432195"/>
            <a:ext cx="3810000" cy="7620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a:lvl1pPr>
          </a:lstStyle>
          <a:p>
            <a:pPr/>
            <a:r>
              <a:t>BJT (PNP) Electrical Diagram Representation</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1" name="Content Placeholder 2"/>
          <p:cNvSpPr txBox="1"/>
          <p:nvPr>
            <p:ph type="body" idx="1"/>
          </p:nvPr>
        </p:nvSpPr>
        <p:spPr>
          <a:xfrm>
            <a:off x="457200" y="1142999"/>
            <a:ext cx="8229600" cy="4389122"/>
          </a:xfrm>
          <a:prstGeom prst="rect">
            <a:avLst/>
          </a:prstGeom>
        </p:spPr>
        <p:txBody>
          <a:bodyPr/>
          <a:lstStyle/>
          <a:p>
            <a:pPr marL="0" indent="0">
              <a:buSzTx/>
              <a:buFont typeface="Wingdings 2"/>
              <a:buNone/>
              <a:defRPr b="1"/>
            </a:pPr>
            <a:r>
              <a:t>    tran·sis·tor</a:t>
            </a:r>
          </a:p>
          <a:p>
            <a:pPr>
              <a:spcBef>
                <a:spcPts val="400"/>
              </a:spcBef>
              <a:defRPr sz="2000"/>
            </a:pPr>
            <a:r>
              <a:t>a semiconductor device that </a:t>
            </a:r>
            <a:r>
              <a:rPr b="1"/>
              <a:t>amplifies</a:t>
            </a:r>
            <a:r>
              <a:t>, oscillates, or </a:t>
            </a:r>
            <a:r>
              <a:rPr b="1"/>
              <a:t>switches</a:t>
            </a:r>
            <a:r>
              <a:t> the flow of </a:t>
            </a:r>
            <a:r>
              <a:rPr u="sng">
                <a:uFill>
                  <a:solidFill>
                    <a:srgbClr val="000000"/>
                  </a:solidFill>
                </a:uFill>
                <a:hlinkClick r:id="rId2" invalidUrl="" action="" tgtFrame="" tooltip="" history="1" highlightClick="0" endSnd="0"/>
              </a:rPr>
              <a:t>current</a:t>
            </a:r>
            <a:r>
              <a:t> between two terminals by varying the current or voltage between one of the terminals and a third. </a:t>
            </a:r>
            <a:r>
              <a:rPr sz="1100"/>
              <a:t>(www.dictionary.com)</a:t>
            </a:r>
          </a:p>
        </p:txBody>
      </p:sp>
      <p:pic>
        <p:nvPicPr>
          <p:cNvPr id="122" name="Picture 3" descr="Picture 3"/>
          <p:cNvPicPr>
            <a:picLocks noChangeAspect="1"/>
          </p:cNvPicPr>
          <p:nvPr/>
        </p:nvPicPr>
        <p:blipFill>
          <a:blip r:embed="rId3">
            <a:extLst/>
          </a:blip>
          <a:stretch>
            <a:fillRect/>
          </a:stretch>
        </p:blipFill>
        <p:spPr>
          <a:xfrm>
            <a:off x="3505200" y="2984058"/>
            <a:ext cx="1981200" cy="2100929"/>
          </a:xfrm>
          <a:prstGeom prst="rect">
            <a:avLst/>
          </a:prstGeom>
          <a:ln w="12700">
            <a:miter lim="400000"/>
          </a:ln>
        </p:spPr>
      </p:pic>
      <p:sp>
        <p:nvSpPr>
          <p:cNvPr id="123" name="Rectangle 3"/>
          <p:cNvSpPr txBox="1"/>
          <p:nvPr/>
        </p:nvSpPr>
        <p:spPr>
          <a:xfrm>
            <a:off x="4267200" y="4854154"/>
            <a:ext cx="1600200" cy="2311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900"/>
            </a:lvl1pPr>
          </a:lstStyle>
          <a:p>
            <a:pPr/>
            <a:r>
              <a:t>www.coltecnica.com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Rectangle 23"/>
          <p:cNvSpPr txBox="1"/>
          <p:nvPr/>
        </p:nvSpPr>
        <p:spPr>
          <a:xfrm>
            <a:off x="609600" y="1354752"/>
            <a:ext cx="8001000" cy="578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lvl="1" marL="342900" indent="-342900">
              <a:buSzPct val="100000"/>
              <a:buChar char="➢"/>
              <a:defRPr b="1" sz="2400" u="sng"/>
            </a:pPr>
            <a:r>
              <a:t>Basic Purpose</a:t>
            </a:r>
          </a:p>
          <a:p>
            <a:pPr lvl="1" marL="342900" indent="-342900">
              <a:defRPr sz="2400"/>
            </a:pPr>
            <a:r>
              <a:t>	[1] To electronically switch (no moving parts) a signal on or off (high/low)</a:t>
            </a:r>
          </a:p>
          <a:p>
            <a:pPr lvl="1" marL="342900" indent="-342900">
              <a:defRPr sz="2400"/>
            </a:pPr>
            <a:r>
              <a:t>	[2] To amplify signals</a:t>
            </a:r>
          </a:p>
          <a:p>
            <a:pPr lvl="1" marL="342900" indent="-342900">
              <a:defRPr sz="2400"/>
            </a:pPr>
          </a:p>
          <a:p>
            <a:pPr lvl="1" marL="342900" indent="-342900">
              <a:buSzPct val="100000"/>
              <a:buChar char="➢"/>
              <a:defRPr b="1" sz="2400" u="sng"/>
            </a:pPr>
            <a:r>
              <a:t>Role in Modern Electronics</a:t>
            </a:r>
          </a:p>
          <a:p>
            <a:pPr lvl="2" marL="800100" indent="-342900">
              <a:buSzPct val="100000"/>
              <a:buFont typeface="Arial"/>
              <a:buChar char="•"/>
              <a:defRPr sz="2400"/>
            </a:pPr>
            <a:r>
              <a:t>Basic building blocks for all modern electronics</a:t>
            </a:r>
          </a:p>
          <a:p>
            <a:pPr lvl="2" marL="800100" indent="-342900">
              <a:buSzPct val="100000"/>
              <a:buFont typeface="Arial"/>
              <a:buChar char="•"/>
              <a:defRPr sz="2400"/>
            </a:pPr>
            <a:r>
              <a:t>Microprocessors, Microcontrollers, Computers, Digital watches, Digital Logic Circuits, Cell Phones….</a:t>
            </a:r>
          </a:p>
          <a:p>
            <a:pPr lvl="1" marL="342900" indent="-342900">
              <a:buSzPct val="100000"/>
              <a:buChar char="➢"/>
              <a:defRPr sz="2400"/>
            </a:pPr>
          </a:p>
          <a:p>
            <a:pPr lvl="1" marL="342900" indent="-342900">
              <a:defRPr sz="2400"/>
            </a:pPr>
          </a:p>
          <a:p>
            <a:pPr lvl="1" marL="342900" indent="-342900">
              <a:defRPr b="1" sz="2400"/>
            </a:pPr>
          </a:p>
        </p:txBody>
      </p:sp>
      <p:pic>
        <p:nvPicPr>
          <p:cNvPr id="126" name="Picture 6" descr="Picture 6"/>
          <p:cNvPicPr>
            <a:picLocks noChangeAspect="1"/>
          </p:cNvPicPr>
          <p:nvPr/>
        </p:nvPicPr>
        <p:blipFill>
          <a:blip r:embed="rId3">
            <a:extLst/>
          </a:blip>
          <a:stretch>
            <a:fillRect/>
          </a:stretch>
        </p:blipFill>
        <p:spPr>
          <a:xfrm>
            <a:off x="4544960" y="2178997"/>
            <a:ext cx="685801" cy="690563"/>
          </a:xfrm>
          <a:prstGeom prst="rect">
            <a:avLst/>
          </a:prstGeom>
          <a:ln>
            <a:solidFill>
              <a:srgbClr val="FFFFFF"/>
            </a:solidFill>
            <a:miter/>
          </a:ln>
        </p:spPr>
      </p:pic>
      <p:pic>
        <p:nvPicPr>
          <p:cNvPr id="127" name="Picture 2" descr="Picture 2"/>
          <p:cNvPicPr>
            <a:picLocks noChangeAspect="1"/>
          </p:cNvPicPr>
          <p:nvPr/>
        </p:nvPicPr>
        <p:blipFill>
          <a:blip r:embed="rId4">
            <a:extLst/>
          </a:blip>
          <a:stretch>
            <a:fillRect/>
          </a:stretch>
        </p:blipFill>
        <p:spPr>
          <a:xfrm>
            <a:off x="914400" y="5246370"/>
            <a:ext cx="1371600" cy="1002031"/>
          </a:xfrm>
          <a:prstGeom prst="rect">
            <a:avLst/>
          </a:prstGeom>
          <a:ln w="12700">
            <a:miter lim="400000"/>
          </a:ln>
        </p:spPr>
      </p:pic>
      <p:pic>
        <p:nvPicPr>
          <p:cNvPr id="128" name="Picture 4" descr="Picture 4"/>
          <p:cNvPicPr>
            <a:picLocks noChangeAspect="1"/>
          </p:cNvPicPr>
          <p:nvPr/>
        </p:nvPicPr>
        <p:blipFill>
          <a:blip r:embed="rId5">
            <a:extLst/>
          </a:blip>
          <a:stretch>
            <a:fillRect/>
          </a:stretch>
        </p:blipFill>
        <p:spPr>
          <a:xfrm>
            <a:off x="2971800" y="5333319"/>
            <a:ext cx="1295400" cy="991281"/>
          </a:xfrm>
          <a:prstGeom prst="rect">
            <a:avLst/>
          </a:prstGeom>
          <a:ln w="12700">
            <a:miter lim="400000"/>
          </a:ln>
        </p:spPr>
      </p:pic>
      <p:pic>
        <p:nvPicPr>
          <p:cNvPr id="129" name="Picture 7" descr="Picture 7"/>
          <p:cNvPicPr>
            <a:picLocks noChangeAspect="1"/>
          </p:cNvPicPr>
          <p:nvPr/>
        </p:nvPicPr>
        <p:blipFill>
          <a:blip r:embed="rId6">
            <a:extLst/>
          </a:blip>
          <a:stretch>
            <a:fillRect/>
          </a:stretch>
        </p:blipFill>
        <p:spPr>
          <a:xfrm>
            <a:off x="6705600" y="5410200"/>
            <a:ext cx="1146175" cy="957263"/>
          </a:xfrm>
          <a:prstGeom prst="rect">
            <a:avLst/>
          </a:prstGeom>
          <a:ln w="12700">
            <a:miter lim="400000"/>
          </a:ln>
        </p:spPr>
      </p:pic>
      <p:pic>
        <p:nvPicPr>
          <p:cNvPr id="130" name="Picture 8" descr="Picture 8"/>
          <p:cNvPicPr>
            <a:picLocks noChangeAspect="1"/>
          </p:cNvPicPr>
          <p:nvPr/>
        </p:nvPicPr>
        <p:blipFill>
          <a:blip r:embed="rId7">
            <a:extLst/>
          </a:blip>
          <a:stretch>
            <a:fillRect/>
          </a:stretch>
        </p:blipFill>
        <p:spPr>
          <a:xfrm>
            <a:off x="4953000" y="5334000"/>
            <a:ext cx="1066800" cy="990600"/>
          </a:xfrm>
          <a:prstGeom prst="rect">
            <a:avLst/>
          </a:prstGeom>
          <a:ln w="12700">
            <a:miter lim="400000"/>
          </a:ln>
        </p:spPr>
      </p:pic>
      <p:pic>
        <p:nvPicPr>
          <p:cNvPr id="131" name="Picture 15" descr="Picture 15"/>
          <p:cNvPicPr>
            <a:picLocks noChangeAspect="1"/>
          </p:cNvPicPr>
          <p:nvPr/>
        </p:nvPicPr>
        <p:blipFill>
          <a:blip r:embed="rId3">
            <a:extLst/>
          </a:blip>
          <a:stretch>
            <a:fillRect/>
          </a:stretch>
        </p:blipFill>
        <p:spPr>
          <a:xfrm>
            <a:off x="5078360" y="2176539"/>
            <a:ext cx="685801" cy="690563"/>
          </a:xfrm>
          <a:prstGeom prst="rect">
            <a:avLst/>
          </a:prstGeom>
          <a:ln>
            <a:solidFill>
              <a:srgbClr val="FFFFFF"/>
            </a:solidFill>
            <a:miter/>
          </a:ln>
        </p:spPr>
      </p:pic>
      <p:pic>
        <p:nvPicPr>
          <p:cNvPr id="132" name="Picture 16" descr="Picture 16"/>
          <p:cNvPicPr>
            <a:picLocks noChangeAspect="1"/>
          </p:cNvPicPr>
          <p:nvPr/>
        </p:nvPicPr>
        <p:blipFill>
          <a:blip r:embed="rId3">
            <a:extLst/>
          </a:blip>
          <a:stretch>
            <a:fillRect/>
          </a:stretch>
        </p:blipFill>
        <p:spPr>
          <a:xfrm>
            <a:off x="5687960" y="2178997"/>
            <a:ext cx="685801" cy="690563"/>
          </a:xfrm>
          <a:prstGeom prst="rect">
            <a:avLst/>
          </a:prstGeom>
          <a:ln>
            <a:solidFill>
              <a:srgbClr val="FFFFFF"/>
            </a:solidFill>
            <a:miter/>
          </a:ln>
        </p:spPr>
      </p:pic>
      <p:sp>
        <p:nvSpPr>
          <p:cNvPr id="133" name="TextBox 9"/>
          <p:cNvSpPr txBox="1"/>
          <p:nvPr/>
        </p:nvSpPr>
        <p:spPr>
          <a:xfrm>
            <a:off x="609600" y="4870001"/>
            <a:ext cx="190500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300"/>
              </a:spcBef>
              <a:defRPr b="1" sz="1600"/>
            </a:lvl1pPr>
          </a:lstStyle>
          <a:p>
            <a:pPr/>
            <a:r>
              <a:t>Microprocessor</a:t>
            </a:r>
          </a:p>
        </p:txBody>
      </p:sp>
      <p:sp>
        <p:nvSpPr>
          <p:cNvPr id="134" name="TextBox 9"/>
          <p:cNvSpPr txBox="1"/>
          <p:nvPr/>
        </p:nvSpPr>
        <p:spPr>
          <a:xfrm>
            <a:off x="2667000" y="4876800"/>
            <a:ext cx="1905000" cy="3454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600"/>
            </a:lvl1pPr>
          </a:lstStyle>
          <a:p>
            <a:pPr/>
            <a:r>
              <a:t>PC &amp; Cell Phones</a:t>
            </a:r>
          </a:p>
        </p:txBody>
      </p:sp>
      <p:sp>
        <p:nvSpPr>
          <p:cNvPr id="135" name="TextBox 9"/>
          <p:cNvSpPr txBox="1"/>
          <p:nvPr/>
        </p:nvSpPr>
        <p:spPr>
          <a:xfrm>
            <a:off x="4495800" y="4673024"/>
            <a:ext cx="190500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600"/>
            </a:lvl1pPr>
          </a:lstStyle>
          <a:p>
            <a:pPr/>
            <a:r>
              <a:t>Motor Controllers</a:t>
            </a:r>
          </a:p>
        </p:txBody>
      </p:sp>
      <p:sp>
        <p:nvSpPr>
          <p:cNvPr id="136" name="TextBox 9"/>
          <p:cNvSpPr txBox="1"/>
          <p:nvPr/>
        </p:nvSpPr>
        <p:spPr>
          <a:xfrm>
            <a:off x="6248400" y="4919245"/>
            <a:ext cx="190500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600"/>
            </a:lvl1pPr>
          </a:lstStyle>
          <a:p>
            <a:pPr/>
            <a:r>
              <a:t>Headphones</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0" name="Rectangle 5"/>
          <p:cNvSpPr txBox="1"/>
          <p:nvPr/>
        </p:nvSpPr>
        <p:spPr>
          <a:xfrm>
            <a:off x="228600" y="1142999"/>
            <a:ext cx="8686800" cy="59507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spcBef>
                <a:spcPts val="500"/>
              </a:spcBef>
              <a:buSzPct val="100000"/>
              <a:buChar char="▪"/>
              <a:defRPr sz="2100"/>
            </a:pPr>
            <a:r>
              <a:t>Early 20</a:t>
            </a:r>
            <a:r>
              <a:rPr baseline="30000"/>
              <a:t>th</a:t>
            </a:r>
            <a:r>
              <a:t> century, </a:t>
            </a:r>
            <a:r>
              <a:rPr u="sng"/>
              <a:t>vacuum tube </a:t>
            </a:r>
            <a:r>
              <a:t>were used as signal amplifiers &amp; switches.</a:t>
            </a:r>
            <a:br/>
          </a:p>
          <a:p>
            <a:pPr marL="342900" indent="-342900">
              <a:spcBef>
                <a:spcPts val="400"/>
              </a:spcBef>
              <a:buSzPct val="100000"/>
              <a:buChar char="▪"/>
              <a:defRPr sz="2200"/>
            </a:pPr>
          </a:p>
          <a:p>
            <a:pPr marL="342900" indent="-342900">
              <a:spcBef>
                <a:spcPts val="400"/>
              </a:spcBef>
              <a:buSzPct val="100000"/>
              <a:buChar char="▪"/>
              <a:defRPr sz="2200"/>
            </a:pPr>
          </a:p>
          <a:p>
            <a:pPr marL="342900" indent="-342900">
              <a:spcBef>
                <a:spcPts val="400"/>
              </a:spcBef>
              <a:buSzPct val="100000"/>
              <a:buChar char="▪"/>
              <a:defRPr sz="2200"/>
            </a:pPr>
          </a:p>
          <a:p>
            <a:pPr marL="342900" indent="-342900">
              <a:spcBef>
                <a:spcPts val="400"/>
              </a:spcBef>
              <a:buSzPct val="100000"/>
              <a:buChar char="▪"/>
              <a:defRPr sz="2200"/>
            </a:pPr>
          </a:p>
          <a:p>
            <a:pPr marL="342900" indent="-342900">
              <a:spcBef>
                <a:spcPts val="400"/>
              </a:spcBef>
              <a:defRPr sz="2200"/>
            </a:pPr>
          </a:p>
          <a:p>
            <a:pPr marL="342900" indent="-342900">
              <a:spcBef>
                <a:spcPts val="400"/>
              </a:spcBef>
              <a:buSzPct val="100000"/>
              <a:buChar char="▪"/>
              <a:defRPr sz="2200"/>
            </a:pPr>
          </a:p>
          <a:p>
            <a:pPr marL="342900" indent="-342900">
              <a:spcBef>
                <a:spcPts val="500"/>
              </a:spcBef>
              <a:buSzPct val="100000"/>
              <a:buChar char="▪"/>
              <a:defRPr sz="2200"/>
            </a:pPr>
            <a:r>
              <a:t>Use of vacuum tube* resulted in extremely large, fragile, energy inefficient, and expensive electronics.</a:t>
            </a:r>
          </a:p>
          <a:p>
            <a:pPr marL="342900" indent="-342900">
              <a:spcBef>
                <a:spcPts val="500"/>
              </a:spcBef>
              <a:buSzPct val="100000"/>
              <a:buChar char="▪"/>
              <a:defRPr sz="2200"/>
            </a:pPr>
            <a:r>
              <a:t>Evolution of electronics required device that was small, light weight, robust, reliable, cheap to manufacture, energy efficient… </a:t>
            </a:r>
          </a:p>
          <a:p>
            <a:pPr marL="342900" indent="-342900">
              <a:spcBef>
                <a:spcPts val="200"/>
              </a:spcBef>
              <a:defRPr sz="1200"/>
            </a:pPr>
            <a:r>
              <a:t>	*Vacuum tube advantages: operation at higher voltages (10K region vs. 1K region of transistors); high power, high frequency operation (over-the-air TV broadcasting) better suited for vacuum tubes; and silicon transistors more vulnerable to electromagnetic pulses than vacuum tubes</a:t>
            </a:r>
          </a:p>
        </p:txBody>
      </p:sp>
      <p:pic>
        <p:nvPicPr>
          <p:cNvPr id="141" name="Picture 2" descr="Picture 2"/>
          <p:cNvPicPr>
            <a:picLocks noChangeAspect="1"/>
          </p:cNvPicPr>
          <p:nvPr/>
        </p:nvPicPr>
        <p:blipFill>
          <a:blip r:embed="rId2">
            <a:extLst/>
          </a:blip>
          <a:stretch>
            <a:fillRect/>
          </a:stretch>
        </p:blipFill>
        <p:spPr>
          <a:xfrm>
            <a:off x="1142975" y="2050601"/>
            <a:ext cx="2857521" cy="2143141"/>
          </a:xfrm>
          <a:prstGeom prst="rect">
            <a:avLst/>
          </a:prstGeom>
          <a:ln w="12700">
            <a:miter lim="400000"/>
          </a:ln>
        </p:spPr>
      </p:pic>
      <p:pic>
        <p:nvPicPr>
          <p:cNvPr id="142" name="Picture 3" descr="Picture 3"/>
          <p:cNvPicPr>
            <a:picLocks noChangeAspect="1"/>
          </p:cNvPicPr>
          <p:nvPr/>
        </p:nvPicPr>
        <p:blipFill>
          <a:blip r:embed="rId3">
            <a:extLst/>
          </a:blip>
          <a:stretch>
            <a:fillRect/>
          </a:stretch>
        </p:blipFill>
        <p:spPr>
          <a:xfrm>
            <a:off x="4754562" y="2041076"/>
            <a:ext cx="3175001" cy="2143126"/>
          </a:xfrm>
          <a:prstGeom prst="rect">
            <a:avLst/>
          </a:prstGeom>
          <a:ln w="12700">
            <a:miter lim="400000"/>
          </a:ln>
        </p:spPr>
      </p:pic>
      <p:sp>
        <p:nvSpPr>
          <p:cNvPr id="143" name="TextBox 12"/>
          <p:cNvSpPr txBox="1"/>
          <p:nvPr/>
        </p:nvSpPr>
        <p:spPr>
          <a:xfrm>
            <a:off x="1066800" y="533399"/>
            <a:ext cx="7086600"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u="sng"/>
            </a:lvl1pPr>
          </a:lstStyle>
          <a:p>
            <a:pPr/>
            <a:r>
              <a:t>Reason for Transistor’s Invention:</a:t>
            </a:r>
          </a:p>
        </p:txBody>
      </p:sp>
      <p:sp>
        <p:nvSpPr>
          <p:cNvPr id="144" name="TextBox 9"/>
          <p:cNvSpPr txBox="1"/>
          <p:nvPr/>
        </p:nvSpPr>
        <p:spPr>
          <a:xfrm>
            <a:off x="1371600" y="4184201"/>
            <a:ext cx="243840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sz="1700"/>
            </a:lvl1pPr>
          </a:lstStyle>
          <a:p>
            <a:pPr/>
            <a:r>
              <a:t>Vacuum Tube Radios</a:t>
            </a:r>
          </a:p>
        </p:txBody>
      </p:sp>
      <p:sp>
        <p:nvSpPr>
          <p:cNvPr id="145" name="TextBox 9"/>
          <p:cNvSpPr txBox="1"/>
          <p:nvPr/>
        </p:nvSpPr>
        <p:spPr>
          <a:xfrm>
            <a:off x="4724400" y="4184201"/>
            <a:ext cx="3200400"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400"/>
              </a:spcBef>
              <a:defRPr b="1" sz="1700"/>
            </a:lvl1pPr>
          </a:lstStyle>
          <a:p>
            <a:pPr/>
            <a:r>
              <a:t>ENIAC : 17, 468 vacuum tubes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Content Placeholder 8"/>
          <p:cNvSpPr txBox="1"/>
          <p:nvPr>
            <p:ph type="body" sz="half" idx="1"/>
          </p:nvPr>
        </p:nvSpPr>
        <p:spPr>
          <a:xfrm>
            <a:off x="304800" y="1371599"/>
            <a:ext cx="5429250" cy="4500564"/>
          </a:xfrm>
          <a:prstGeom prst="rect">
            <a:avLst/>
          </a:prstGeom>
        </p:spPr>
        <p:txBody>
          <a:bodyPr/>
          <a:lstStyle/>
          <a:p>
            <a:pPr marL="271576" indent="-271576" defTabSz="905255">
              <a:spcBef>
                <a:spcPts val="900"/>
              </a:spcBef>
              <a:buClrTx/>
              <a:buChar char="➢"/>
              <a:defRPr b="1" sz="2475" u="sng"/>
            </a:pPr>
            <a:r>
              <a:t>Invention</a:t>
            </a:r>
          </a:p>
          <a:p>
            <a:pPr lvl="1" marL="633679" indent="-244419" defTabSz="905255">
              <a:spcBef>
                <a:spcPts val="900"/>
              </a:spcBef>
              <a:buClrTx/>
              <a:defRPr sz="1979"/>
            </a:pPr>
            <a:r>
              <a:t>In 1947, John Bardeen, Walter Brattain, and William Schockly, researchers at Bell Lab, invented Transistor.</a:t>
            </a:r>
            <a:endParaRPr sz="2376"/>
          </a:p>
          <a:p>
            <a:pPr lvl="1" marL="633679" indent="-244419" defTabSz="905255">
              <a:spcBef>
                <a:spcPts val="900"/>
              </a:spcBef>
              <a:buClrTx/>
              <a:defRPr sz="1979"/>
            </a:pPr>
            <a:r>
              <a:t>They found Transistor Effect: “when electrical contacts were applied to a crystal of germanium, the output power was larger than the input.”</a:t>
            </a:r>
            <a:endParaRPr sz="2376"/>
          </a:p>
          <a:p>
            <a:pPr lvl="1" marL="633679" indent="-244419" defTabSz="905255">
              <a:spcBef>
                <a:spcPts val="900"/>
              </a:spcBef>
              <a:buClrTx/>
              <a:defRPr sz="1979"/>
            </a:pPr>
            <a:r>
              <a:t>Awarded the Nobel Prize in physics (1956)</a:t>
            </a:r>
            <a:endParaRPr sz="2376"/>
          </a:p>
          <a:p>
            <a:pPr lvl="1" marL="633679" indent="-244419" defTabSz="905255">
              <a:spcBef>
                <a:spcPts val="900"/>
              </a:spcBef>
              <a:buClrTx/>
              <a:defRPr sz="1979"/>
            </a:pPr>
            <a:r>
              <a:t>Revolutionized portability and efficiency of electronic devices</a:t>
            </a:r>
          </a:p>
        </p:txBody>
      </p:sp>
      <p:pic>
        <p:nvPicPr>
          <p:cNvPr id="148" name="Picture 10" descr="Picture 10"/>
          <p:cNvPicPr>
            <a:picLocks noChangeAspect="1"/>
          </p:cNvPicPr>
          <p:nvPr/>
        </p:nvPicPr>
        <p:blipFill>
          <a:blip r:embed="rId2">
            <a:extLst/>
          </a:blip>
          <a:stretch>
            <a:fillRect/>
          </a:stretch>
        </p:blipFill>
        <p:spPr>
          <a:xfrm>
            <a:off x="6072187" y="1285875"/>
            <a:ext cx="2786063" cy="2058989"/>
          </a:xfrm>
          <a:prstGeom prst="rect">
            <a:avLst/>
          </a:prstGeom>
          <a:ln w="12700">
            <a:miter lim="400000"/>
          </a:ln>
        </p:spPr>
      </p:pic>
      <p:sp>
        <p:nvSpPr>
          <p:cNvPr id="149" name="TextBox 6"/>
          <p:cNvSpPr txBox="1"/>
          <p:nvPr/>
        </p:nvSpPr>
        <p:spPr>
          <a:xfrm>
            <a:off x="5943600" y="3375085"/>
            <a:ext cx="2990850"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300"/>
              </a:spcBef>
              <a:defRPr sz="1600"/>
            </a:lvl1pPr>
          </a:lstStyle>
          <a:p>
            <a:pPr/>
            <a:r>
              <a:t>John Bardeen, Walter Brattain, and William Schockly</a:t>
            </a:r>
          </a:p>
        </p:txBody>
      </p:sp>
      <p:pic>
        <p:nvPicPr>
          <p:cNvPr id="150" name="Picture 6" descr="Picture 6"/>
          <p:cNvPicPr>
            <a:picLocks noChangeAspect="1"/>
          </p:cNvPicPr>
          <p:nvPr/>
        </p:nvPicPr>
        <p:blipFill>
          <a:blip r:embed="rId3">
            <a:extLst/>
          </a:blip>
          <a:stretch>
            <a:fillRect/>
          </a:stretch>
        </p:blipFill>
        <p:spPr>
          <a:xfrm>
            <a:off x="6072187" y="4138760"/>
            <a:ext cx="2814638" cy="1981201"/>
          </a:xfrm>
          <a:prstGeom prst="rect">
            <a:avLst/>
          </a:prstGeom>
          <a:ln w="12700">
            <a:miter lim="400000"/>
          </a:ln>
        </p:spPr>
      </p:pic>
      <p:sp>
        <p:nvSpPr>
          <p:cNvPr id="151" name="TextBox 9"/>
          <p:cNvSpPr txBox="1"/>
          <p:nvPr/>
        </p:nvSpPr>
        <p:spPr>
          <a:xfrm>
            <a:off x="5867400" y="6126310"/>
            <a:ext cx="3276600" cy="345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20000"/>
              </a:lnSpc>
              <a:spcBef>
                <a:spcPts val="300"/>
              </a:spcBef>
              <a:defRPr sz="1600"/>
            </a:lvl1pPr>
          </a:lstStyle>
          <a:p>
            <a:pPr/>
            <a:r>
              <a:t>First model of Transistor, 1947</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Title 1"/>
          <p:cNvSpPr txBox="1"/>
          <p:nvPr>
            <p:ph type="title"/>
          </p:nvPr>
        </p:nvSpPr>
        <p:spPr>
          <a:xfrm>
            <a:off x="457200" y="685799"/>
            <a:ext cx="8229600" cy="704090"/>
          </a:xfrm>
          <a:prstGeom prst="rect">
            <a:avLst/>
          </a:prstGeom>
        </p:spPr>
        <p:txBody>
          <a:bodyPr/>
          <a:lstStyle>
            <a:lvl1pPr>
              <a:defRPr sz="4500" u="sng"/>
            </a:lvl1pPr>
          </a:lstStyle>
          <a:p>
            <a:pPr/>
            <a:r>
              <a:t>Model of a transistor</a:t>
            </a:r>
          </a:p>
        </p:txBody>
      </p:sp>
      <p:pic>
        <p:nvPicPr>
          <p:cNvPr id="154" name="Picture 3" descr="Picture 3"/>
          <p:cNvPicPr>
            <a:picLocks noChangeAspect="1"/>
          </p:cNvPicPr>
          <p:nvPr/>
        </p:nvPicPr>
        <p:blipFill>
          <a:blip r:embed="rId2">
            <a:extLst/>
          </a:blip>
          <a:stretch>
            <a:fillRect/>
          </a:stretch>
        </p:blipFill>
        <p:spPr>
          <a:xfrm>
            <a:off x="2362200" y="3189514"/>
            <a:ext cx="4191000" cy="2754086"/>
          </a:xfrm>
          <a:prstGeom prst="rect">
            <a:avLst/>
          </a:prstGeom>
          <a:ln w="12700">
            <a:miter lim="400000"/>
          </a:ln>
        </p:spPr>
      </p:pic>
      <p:sp>
        <p:nvSpPr>
          <p:cNvPr id="155" name="TextBox 4"/>
          <p:cNvSpPr txBox="1"/>
          <p:nvPr/>
        </p:nvSpPr>
        <p:spPr>
          <a:xfrm>
            <a:off x="381000" y="1743669"/>
            <a:ext cx="8153400" cy="1005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Bipolar transistors are constructed of a three-layer semiconductor “sandwich,” either PNP or NPN. As such, transistors register as two diodes connected back-to-back when tested with a multimeter's “resistance” or “diode check” function</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TextBox 4"/>
          <p:cNvSpPr txBox="1"/>
          <p:nvPr/>
        </p:nvSpPr>
        <p:spPr>
          <a:xfrm>
            <a:off x="838200" y="609599"/>
            <a:ext cx="7924800" cy="624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u="sng"/>
            </a:lvl1pPr>
          </a:lstStyle>
          <a:p>
            <a:pPr/>
            <a:r>
              <a:t>Electrical Switching on P-N Junction </a:t>
            </a:r>
          </a:p>
        </p:txBody>
      </p:sp>
      <p:sp>
        <p:nvSpPr>
          <p:cNvPr id="158" name="TextBox 9"/>
          <p:cNvSpPr txBox="1"/>
          <p:nvPr/>
        </p:nvSpPr>
        <p:spPr>
          <a:xfrm>
            <a:off x="76200" y="1099622"/>
            <a:ext cx="9067800" cy="14732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spcBef>
                <a:spcPts val="400"/>
              </a:spcBef>
              <a:buClr>
                <a:schemeClr val="accent1"/>
              </a:buClr>
              <a:buSzPct val="100000"/>
              <a:buChar char="➢"/>
              <a:defRPr b="1" sz="2000" u="sng"/>
            </a:pPr>
            <a:r>
              <a:t>Applying External Voltage…</a:t>
            </a:r>
          </a:p>
          <a:p>
            <a:pPr>
              <a:lnSpc>
                <a:spcPct val="150000"/>
              </a:lnSpc>
              <a:buClr>
                <a:schemeClr val="accent1"/>
              </a:buClr>
              <a:buSzPct val="120000"/>
              <a:buFont typeface="Arial"/>
              <a:buChar char="•"/>
              <a:defRPr sz="2000"/>
            </a:pPr>
            <a:r>
              <a:t>…of </a:t>
            </a:r>
            <a:r>
              <a:rPr b="1">
                <a:solidFill>
                  <a:schemeClr val="accent1"/>
                </a:solidFill>
              </a:rPr>
              <a:t>Forward Biasing </a:t>
            </a:r>
            <a:r>
              <a:t>polarity </a:t>
            </a:r>
            <a:r>
              <a:rPr b="1">
                <a:solidFill>
                  <a:schemeClr val="accent1"/>
                </a:solidFill>
              </a:rPr>
              <a:t>facilitates </a:t>
            </a:r>
            <a:r>
              <a:t>motion of free electrons</a:t>
            </a:r>
          </a:p>
          <a:p>
            <a:pPr>
              <a:lnSpc>
                <a:spcPct val="150000"/>
              </a:lnSpc>
              <a:spcBef>
                <a:spcPts val="400"/>
              </a:spcBef>
              <a:buClr>
                <a:schemeClr val="accent1"/>
              </a:buClr>
              <a:buSzPct val="120000"/>
              <a:buFont typeface="Arial"/>
              <a:buChar char="•"/>
              <a:defRPr sz="2000"/>
            </a:pPr>
            <a:r>
              <a:t>…of </a:t>
            </a:r>
            <a:r>
              <a:rPr b="1">
                <a:solidFill>
                  <a:schemeClr val="accent1"/>
                </a:solidFill>
              </a:rPr>
              <a:t>Reverse Biasing </a:t>
            </a:r>
            <a:r>
              <a:t>polarity </a:t>
            </a:r>
            <a:r>
              <a:rPr b="1">
                <a:solidFill>
                  <a:schemeClr val="accent1"/>
                </a:solidFill>
              </a:rPr>
              <a:t>impedes</a:t>
            </a:r>
            <a:r>
              <a:rPr>
                <a:solidFill>
                  <a:schemeClr val="accent1"/>
                </a:solidFill>
              </a:rPr>
              <a:t> </a:t>
            </a:r>
            <a:r>
              <a:t>motion of free electrons </a:t>
            </a:r>
          </a:p>
        </p:txBody>
      </p:sp>
      <p:pic>
        <p:nvPicPr>
          <p:cNvPr id="159" name="Picture 8" descr="Picture 8"/>
          <p:cNvPicPr>
            <a:picLocks noChangeAspect="1"/>
          </p:cNvPicPr>
          <p:nvPr/>
        </p:nvPicPr>
        <p:blipFill>
          <a:blip r:embed="rId2">
            <a:extLst/>
          </a:blip>
          <a:stretch>
            <a:fillRect/>
          </a:stretch>
        </p:blipFill>
        <p:spPr>
          <a:xfrm>
            <a:off x="457200" y="3733800"/>
            <a:ext cx="3723543" cy="2746443"/>
          </a:xfrm>
          <a:prstGeom prst="rect">
            <a:avLst/>
          </a:prstGeom>
          <a:ln w="12700">
            <a:miter lim="400000"/>
          </a:ln>
        </p:spPr>
      </p:pic>
      <p:pic>
        <p:nvPicPr>
          <p:cNvPr id="160" name="Picture 7" descr="Picture 7"/>
          <p:cNvPicPr>
            <a:picLocks noChangeAspect="1"/>
          </p:cNvPicPr>
          <p:nvPr/>
        </p:nvPicPr>
        <p:blipFill>
          <a:blip r:embed="rId3">
            <a:extLst/>
          </a:blip>
          <a:stretch>
            <a:fillRect/>
          </a:stretch>
        </p:blipFill>
        <p:spPr>
          <a:xfrm>
            <a:off x="5257800" y="3810000"/>
            <a:ext cx="3581400" cy="2696759"/>
          </a:xfrm>
          <a:prstGeom prst="rect">
            <a:avLst/>
          </a:prstGeom>
          <a:ln w="12700">
            <a:miter lim="400000"/>
          </a:ln>
        </p:spPr>
      </p:pic>
      <p:sp>
        <p:nvSpPr>
          <p:cNvPr id="161" name="Rectangle 6"/>
          <p:cNvSpPr/>
          <p:nvPr/>
        </p:nvSpPr>
        <p:spPr>
          <a:xfrm>
            <a:off x="2514600" y="4876800"/>
            <a:ext cx="1524000" cy="533400"/>
          </a:xfrm>
          <a:prstGeom prst="rect">
            <a:avLst/>
          </a:prstGeom>
          <a:ln w="38100">
            <a:solidFill>
              <a:srgbClr val="0000BA"/>
            </a:solidFill>
          </a:ln>
        </p:spPr>
        <p:txBody>
          <a:bodyPr lIns="45719" rIns="45719" anchor="ctr"/>
          <a:lstStyle/>
          <a:p>
            <a:pPr algn="ctr">
              <a:defRPr>
                <a:solidFill>
                  <a:srgbClr val="FFFFFF"/>
                </a:solidFill>
              </a:defRPr>
            </a:pPr>
          </a:p>
        </p:txBody>
      </p:sp>
      <p:sp>
        <p:nvSpPr>
          <p:cNvPr id="162" name="Rectangle 8"/>
          <p:cNvSpPr/>
          <p:nvPr/>
        </p:nvSpPr>
        <p:spPr>
          <a:xfrm>
            <a:off x="7315200" y="4876800"/>
            <a:ext cx="1524000" cy="533400"/>
          </a:xfrm>
          <a:prstGeom prst="rect">
            <a:avLst/>
          </a:prstGeom>
          <a:ln w="38100">
            <a:solidFill>
              <a:srgbClr val="0000BA"/>
            </a:solidFill>
          </a:ln>
        </p:spPr>
        <p:txBody>
          <a:bodyPr lIns="45719" rIns="45719" anchor="ctr"/>
          <a:lstStyle/>
          <a:p>
            <a:pPr algn="ctr">
              <a:defRPr>
                <a:solidFill>
                  <a:srgbClr val="FFFFFF"/>
                </a:solidFill>
              </a:defRPr>
            </a:pPr>
          </a:p>
        </p:txBody>
      </p:sp>
      <p:sp>
        <p:nvSpPr>
          <p:cNvPr id="163" name="TextBox 10"/>
          <p:cNvSpPr txBox="1"/>
          <p:nvPr/>
        </p:nvSpPr>
        <p:spPr>
          <a:xfrm>
            <a:off x="6019800" y="2743199"/>
            <a:ext cx="2057400" cy="405766"/>
          </a:xfrm>
          <a:prstGeom prst="rect">
            <a:avLst/>
          </a:prstGeom>
          <a:ln>
            <a:solidFill>
              <a:srgbClr val="000000"/>
            </a:solidFill>
            <a:miter/>
          </a:ln>
          <a:extLst>
            <a:ext uri="{C572A759-6A51-4108-AA02-DFA0A04FC94B}">
              <ma14:wrappingTextBoxFlag xmlns:ma14="http://schemas.microsoft.com/office/mac/drawingml/2011/main" val="1"/>
            </a:ext>
          </a:extLst>
        </p:spPr>
        <p:txBody>
          <a:bodyPr lIns="45719" rIns="45719">
            <a:spAutoFit/>
          </a:bodyPr>
          <a:lstStyle>
            <a:lvl1pPr algn="ctr">
              <a:defRPr b="1"/>
            </a:lvl1pPr>
          </a:lstStyle>
          <a:p>
            <a:pPr/>
            <a:r>
              <a:t>Reverse Biasing</a:t>
            </a:r>
          </a:p>
        </p:txBody>
      </p:sp>
      <p:sp>
        <p:nvSpPr>
          <p:cNvPr id="164" name="TextBox 11"/>
          <p:cNvSpPr txBox="1"/>
          <p:nvPr/>
        </p:nvSpPr>
        <p:spPr>
          <a:xfrm>
            <a:off x="1371600" y="2743199"/>
            <a:ext cx="2057400" cy="405766"/>
          </a:xfrm>
          <a:prstGeom prst="rect">
            <a:avLst/>
          </a:prstGeom>
          <a:ln>
            <a:solidFill>
              <a:srgbClr val="000000"/>
            </a:solidFill>
            <a:miter/>
          </a:ln>
          <a:extLst>
            <a:ext uri="{C572A759-6A51-4108-AA02-DFA0A04FC94B}">
              <ma14:wrappingTextBoxFlag xmlns:ma14="http://schemas.microsoft.com/office/mac/drawingml/2011/main" val="1"/>
            </a:ext>
          </a:extLst>
        </p:spPr>
        <p:txBody>
          <a:bodyPr lIns="45719" rIns="45719">
            <a:spAutoFit/>
          </a:bodyPr>
          <a:lstStyle>
            <a:lvl1pPr algn="ctr">
              <a:defRPr b="1"/>
            </a:lvl1pPr>
          </a:lstStyle>
          <a:p>
            <a:pPr/>
            <a:r>
              <a:t>Forward Biasing</a:t>
            </a:r>
          </a:p>
        </p:txBody>
      </p:sp>
      <p:sp>
        <p:nvSpPr>
          <p:cNvPr id="165" name="TextBox 12"/>
          <p:cNvSpPr txBox="1"/>
          <p:nvPr/>
        </p:nvSpPr>
        <p:spPr>
          <a:xfrm>
            <a:off x="6019800" y="3087468"/>
            <a:ext cx="2667000" cy="710566"/>
          </a:xfrm>
          <a:prstGeom prst="rect">
            <a:avLst/>
          </a:prstGeom>
          <a:ln>
            <a:solidFill>
              <a:srgbClr val="FFFFFF"/>
            </a:solidFill>
            <a:miter/>
          </a:ln>
          <a:extLst>
            <a:ext uri="{C572A759-6A51-4108-AA02-DFA0A04FC94B}">
              <ma14:wrappingTextBoxFlag xmlns:ma14="http://schemas.microsoft.com/office/mac/drawingml/2011/main" val="1"/>
            </a:ext>
          </a:extLst>
        </p:spPr>
        <p:txBody>
          <a:bodyPr lIns="45719" rIns="45719">
            <a:spAutoFit/>
          </a:bodyPr>
          <a:lstStyle/>
          <a:p>
            <a:pPr>
              <a:buClr>
                <a:schemeClr val="accent1"/>
              </a:buClr>
              <a:buSzPct val="100000"/>
              <a:buFont typeface="Arial"/>
              <a:buChar char="•"/>
              <a:defRPr b="1"/>
            </a:pPr>
            <a:r>
              <a:t>Circuit is “Off”</a:t>
            </a:r>
          </a:p>
          <a:p>
            <a:pPr>
              <a:buClr>
                <a:schemeClr val="accent1"/>
              </a:buClr>
              <a:buSzPct val="100000"/>
              <a:buFont typeface="Arial"/>
              <a:buChar char="•"/>
              <a:defRPr b="1"/>
            </a:pPr>
            <a:r>
              <a:t>Current not Flowing</a:t>
            </a:r>
          </a:p>
        </p:txBody>
      </p:sp>
      <p:sp>
        <p:nvSpPr>
          <p:cNvPr id="166" name="TextBox 13"/>
          <p:cNvSpPr txBox="1"/>
          <p:nvPr/>
        </p:nvSpPr>
        <p:spPr>
          <a:xfrm>
            <a:off x="1371600" y="3087468"/>
            <a:ext cx="2667000" cy="710566"/>
          </a:xfrm>
          <a:prstGeom prst="rect">
            <a:avLst/>
          </a:prstGeom>
          <a:ln>
            <a:solidFill>
              <a:srgbClr val="FFFFFF"/>
            </a:solidFill>
            <a:miter/>
          </a:ln>
          <a:extLst>
            <a:ext uri="{C572A759-6A51-4108-AA02-DFA0A04FC94B}">
              <ma14:wrappingTextBoxFlag xmlns:ma14="http://schemas.microsoft.com/office/mac/drawingml/2011/main" val="1"/>
            </a:ext>
          </a:extLst>
        </p:spPr>
        <p:txBody>
          <a:bodyPr lIns="45719" rIns="45719">
            <a:spAutoFit/>
          </a:bodyPr>
          <a:lstStyle/>
          <a:p>
            <a:pPr>
              <a:buClr>
                <a:schemeClr val="accent1"/>
              </a:buClr>
              <a:buSzPct val="100000"/>
              <a:buFont typeface="Arial"/>
              <a:buChar char="•"/>
              <a:defRPr b="1"/>
            </a:pPr>
            <a:r>
              <a:t>Circuit is “On”</a:t>
            </a:r>
          </a:p>
          <a:p>
            <a:pPr>
              <a:buClr>
                <a:schemeClr val="accent1"/>
              </a:buClr>
              <a:buSzPct val="100000"/>
              <a:buFont typeface="Arial"/>
              <a:buChar char="•"/>
              <a:defRPr b="1"/>
            </a:pPr>
            <a:r>
              <a:t>Current is Flowing</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 name="Title 1"/>
          <p:cNvSpPr txBox="1"/>
          <p:nvPr>
            <p:ph type="title"/>
          </p:nvPr>
        </p:nvSpPr>
        <p:spPr>
          <a:prstGeom prst="rect">
            <a:avLst/>
          </a:prstGeom>
        </p:spPr>
        <p:txBody>
          <a:bodyPr/>
          <a:lstStyle/>
          <a:p>
            <a:pPr/>
            <a:r>
              <a:t>BJT introduction</a:t>
            </a:r>
          </a:p>
        </p:txBody>
      </p:sp>
      <p:pic>
        <p:nvPicPr>
          <p:cNvPr id="169" name="Picture 2" descr="Picture 2"/>
          <p:cNvPicPr>
            <a:picLocks noChangeAspect="1"/>
          </p:cNvPicPr>
          <p:nvPr/>
        </p:nvPicPr>
        <p:blipFill>
          <a:blip r:embed="rId2">
            <a:extLst/>
          </a:blip>
          <a:stretch>
            <a:fillRect/>
          </a:stretch>
        </p:blipFill>
        <p:spPr>
          <a:xfrm>
            <a:off x="5715000" y="2173664"/>
            <a:ext cx="3124200" cy="3350827"/>
          </a:xfrm>
          <a:prstGeom prst="rect">
            <a:avLst/>
          </a:prstGeom>
          <a:ln w="12700">
            <a:miter lim="400000"/>
          </a:ln>
        </p:spPr>
      </p:pic>
      <p:sp>
        <p:nvSpPr>
          <p:cNvPr id="170" name="Rectangle 4"/>
          <p:cNvSpPr txBox="1"/>
          <p:nvPr/>
        </p:nvSpPr>
        <p:spPr>
          <a:xfrm>
            <a:off x="228600" y="2209799"/>
            <a:ext cx="5410200" cy="328930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nSpc>
                <a:spcPct val="80000"/>
              </a:lnSpc>
              <a:spcBef>
                <a:spcPts val="500"/>
              </a:spcBef>
              <a:buClr>
                <a:srgbClr val="5695DC"/>
              </a:buClr>
              <a:buSzPct val="60000"/>
              <a:buChar char="❖"/>
              <a:defRPr sz="2400"/>
            </a:pPr>
            <a:r>
              <a:t>BJT = </a:t>
            </a:r>
            <a:r>
              <a:rPr u="sng"/>
              <a:t>B</a:t>
            </a:r>
            <a:r>
              <a:t>ipolar </a:t>
            </a:r>
            <a:r>
              <a:rPr u="sng"/>
              <a:t>J</a:t>
            </a:r>
            <a:r>
              <a:t>unction </a:t>
            </a:r>
            <a:r>
              <a:rPr u="sng"/>
              <a:t>T</a:t>
            </a:r>
            <a:r>
              <a:t>ransistor</a:t>
            </a:r>
          </a:p>
          <a:p>
            <a:pPr marL="342900" indent="-342900">
              <a:lnSpc>
                <a:spcPct val="80000"/>
              </a:lnSpc>
              <a:spcBef>
                <a:spcPts val="500"/>
              </a:spcBef>
              <a:buClr>
                <a:srgbClr val="5695DC"/>
              </a:buClr>
              <a:buSzPct val="60000"/>
              <a:buChar char="❖"/>
              <a:defRPr sz="2400"/>
            </a:pPr>
            <a:r>
              <a:t>A BJT consists of two back-to-back p-n junctions. </a:t>
            </a:r>
          </a:p>
          <a:p>
            <a:pPr marL="342900" indent="-342900">
              <a:lnSpc>
                <a:spcPct val="80000"/>
              </a:lnSpc>
              <a:spcBef>
                <a:spcPts val="500"/>
              </a:spcBef>
              <a:buClr>
                <a:srgbClr val="5695DC"/>
              </a:buClr>
              <a:buSzPct val="60000"/>
              <a:buChar char="❖"/>
              <a:defRPr sz="2400"/>
            </a:pPr>
            <a:r>
              <a:t>The three regions are the emitter(</a:t>
            </a:r>
            <a:r>
              <a:rPr b="1"/>
              <a:t>E</a:t>
            </a:r>
            <a:r>
              <a:t>),base(</a:t>
            </a:r>
            <a:r>
              <a:rPr b="1"/>
              <a:t>B</a:t>
            </a:r>
            <a:r>
              <a:t>),and collector(</a:t>
            </a:r>
            <a:r>
              <a:rPr b="1"/>
              <a:t>C</a:t>
            </a:r>
            <a:r>
              <a:t>).</a:t>
            </a:r>
          </a:p>
          <a:p>
            <a:pPr marL="342900" indent="-342900">
              <a:lnSpc>
                <a:spcPct val="80000"/>
              </a:lnSpc>
              <a:spcBef>
                <a:spcPts val="500"/>
              </a:spcBef>
              <a:buClr>
                <a:srgbClr val="5695DC"/>
              </a:buClr>
              <a:buSzPct val="60000"/>
              <a:buChar char="❖"/>
              <a:defRPr sz="2400"/>
            </a:pPr>
            <a:r>
              <a:t>The middle region, the base is very thin. Since the base is thin, most carriers from emitter injected into base diffuse into collector.</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72" name="Picture 8" descr="Picture 8"/>
          <p:cNvPicPr>
            <a:picLocks noChangeAspect="1"/>
          </p:cNvPicPr>
          <p:nvPr/>
        </p:nvPicPr>
        <p:blipFill>
          <a:blip r:embed="rId2">
            <a:extLst/>
          </a:blip>
          <a:stretch>
            <a:fillRect/>
          </a:stretch>
        </p:blipFill>
        <p:spPr>
          <a:xfrm>
            <a:off x="3733800" y="1752600"/>
            <a:ext cx="4949589" cy="2438400"/>
          </a:xfrm>
          <a:prstGeom prst="rect">
            <a:avLst/>
          </a:prstGeom>
          <a:ln w="12700">
            <a:miter lim="400000"/>
          </a:ln>
        </p:spPr>
      </p:pic>
      <p:pic>
        <p:nvPicPr>
          <p:cNvPr id="173" name="Picture 4" descr="Picture 4"/>
          <p:cNvPicPr>
            <a:picLocks noChangeAspect="1"/>
          </p:cNvPicPr>
          <p:nvPr/>
        </p:nvPicPr>
        <p:blipFill>
          <a:blip r:embed="rId3">
            <a:extLst/>
          </a:blip>
          <a:stretch>
            <a:fillRect/>
          </a:stretch>
        </p:blipFill>
        <p:spPr>
          <a:xfrm>
            <a:off x="3810000" y="4319587"/>
            <a:ext cx="4966623" cy="2462213"/>
          </a:xfrm>
          <a:prstGeom prst="rect">
            <a:avLst/>
          </a:prstGeom>
          <a:ln w="12700">
            <a:miter lim="400000"/>
          </a:ln>
        </p:spPr>
      </p:pic>
      <p:sp>
        <p:nvSpPr>
          <p:cNvPr id="174" name="TextBox 13"/>
          <p:cNvSpPr txBox="1"/>
          <p:nvPr/>
        </p:nvSpPr>
        <p:spPr>
          <a:xfrm>
            <a:off x="4452937" y="1571625"/>
            <a:ext cx="1643064" cy="56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vl1pPr>
          </a:lstStyle>
          <a:p>
            <a:pPr/>
            <a:r>
              <a:t>NPN</a:t>
            </a:r>
          </a:p>
        </p:txBody>
      </p:sp>
      <p:sp>
        <p:nvSpPr>
          <p:cNvPr id="175" name="TextBox 12"/>
          <p:cNvSpPr txBox="1"/>
          <p:nvPr/>
        </p:nvSpPr>
        <p:spPr>
          <a:xfrm>
            <a:off x="4572000" y="4162425"/>
            <a:ext cx="1643061" cy="56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vl1pPr>
          </a:lstStyle>
          <a:p>
            <a:pPr/>
            <a:r>
              <a:t>PNP</a:t>
            </a:r>
          </a:p>
        </p:txBody>
      </p:sp>
      <p:sp>
        <p:nvSpPr>
          <p:cNvPr id="176" name="Rectangle 7"/>
          <p:cNvSpPr txBox="1"/>
          <p:nvPr/>
        </p:nvSpPr>
        <p:spPr>
          <a:xfrm>
            <a:off x="304800" y="1752599"/>
            <a:ext cx="3200400" cy="160528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lvl="1" marL="742950" indent="-285750">
              <a:lnSpc>
                <a:spcPct val="80000"/>
              </a:lnSpc>
              <a:spcBef>
                <a:spcPts val="500"/>
              </a:spcBef>
              <a:buClr>
                <a:srgbClr val="5695DC"/>
              </a:buClr>
              <a:buSzPct val="60000"/>
              <a:buChar char="❖"/>
              <a:defRPr sz="2000"/>
            </a:pPr>
            <a:r>
              <a:t>NPN:  </a:t>
            </a:r>
          </a:p>
          <a:p>
            <a:pPr lvl="2" marL="1257300" indent="-342900">
              <a:lnSpc>
                <a:spcPct val="80000"/>
              </a:lnSpc>
              <a:spcBef>
                <a:spcPts val="500"/>
              </a:spcBef>
              <a:buClr>
                <a:srgbClr val="5695DC"/>
              </a:buClr>
              <a:buSzPct val="60000"/>
              <a:buChar char="❖"/>
              <a:defRPr sz="2000"/>
            </a:pPr>
            <a:r>
              <a:t>BE forward biased</a:t>
            </a:r>
          </a:p>
          <a:p>
            <a:pPr lvl="2" marL="1257300" indent="-342900">
              <a:lnSpc>
                <a:spcPct val="80000"/>
              </a:lnSpc>
              <a:spcBef>
                <a:spcPts val="500"/>
              </a:spcBef>
              <a:buClr>
                <a:srgbClr val="5695DC"/>
              </a:buClr>
              <a:buSzPct val="60000"/>
              <a:buChar char="❖"/>
              <a:defRPr sz="2000"/>
            </a:pPr>
            <a:r>
              <a:t>BC reverse biased</a:t>
            </a:r>
          </a:p>
        </p:txBody>
      </p:sp>
      <p:sp>
        <p:nvSpPr>
          <p:cNvPr id="177" name="Rectangle 8"/>
          <p:cNvSpPr txBox="1"/>
          <p:nvPr/>
        </p:nvSpPr>
        <p:spPr>
          <a:xfrm>
            <a:off x="381000" y="4451346"/>
            <a:ext cx="3352800" cy="13411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lvl="1" marL="742950" indent="-285750">
              <a:lnSpc>
                <a:spcPct val="80000"/>
              </a:lnSpc>
              <a:spcBef>
                <a:spcPts val="500"/>
              </a:spcBef>
              <a:buClr>
                <a:srgbClr val="5695DC"/>
              </a:buClr>
              <a:buSzPct val="60000"/>
              <a:buChar char="❖"/>
              <a:defRPr sz="2000"/>
            </a:pPr>
            <a:r>
              <a:t>PNP:  </a:t>
            </a:r>
          </a:p>
          <a:p>
            <a:pPr lvl="2" marL="1257300" indent="-342900">
              <a:lnSpc>
                <a:spcPct val="80000"/>
              </a:lnSpc>
              <a:spcBef>
                <a:spcPts val="500"/>
              </a:spcBef>
              <a:buClr>
                <a:srgbClr val="5695DC"/>
              </a:buClr>
              <a:buSzPct val="60000"/>
              <a:buChar char="❖"/>
              <a:defRPr sz="2000"/>
            </a:pPr>
            <a:r>
              <a:t>BE reverse biased</a:t>
            </a:r>
          </a:p>
          <a:p>
            <a:pPr lvl="2" marL="1257300" indent="-342900">
              <a:lnSpc>
                <a:spcPct val="80000"/>
              </a:lnSpc>
              <a:spcBef>
                <a:spcPts val="500"/>
              </a:spcBef>
              <a:buClr>
                <a:srgbClr val="5695DC"/>
              </a:buClr>
              <a:buSzPct val="60000"/>
              <a:buChar char="❖"/>
              <a:defRPr sz="2000"/>
            </a:pPr>
            <a:r>
              <a:t>BC forward biased</a:t>
            </a:r>
          </a:p>
        </p:txBody>
      </p:sp>
      <p:sp>
        <p:nvSpPr>
          <p:cNvPr id="178" name="Title 1"/>
          <p:cNvSpPr txBox="1"/>
          <p:nvPr/>
        </p:nvSpPr>
        <p:spPr>
          <a:xfrm>
            <a:off x="457200" y="609600"/>
            <a:ext cx="6096000" cy="1143000"/>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lvl1pPr>
              <a:defRPr sz="4400">
                <a:latin typeface="+mj-lt"/>
                <a:ea typeface="+mj-ea"/>
                <a:cs typeface="+mj-cs"/>
                <a:sym typeface="Calibri"/>
              </a:defRPr>
            </a:lvl1pPr>
          </a:lstStyle>
          <a:p>
            <a:pPr/>
            <a:r>
              <a:t>BJT schematic</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Title 1"/>
          <p:cNvSpPr txBox="1"/>
          <p:nvPr>
            <p:ph type="title"/>
          </p:nvPr>
        </p:nvSpPr>
        <p:spPr>
          <a:prstGeom prst="rect">
            <a:avLst/>
          </a:prstGeom>
        </p:spPr>
        <p:txBody>
          <a:bodyPr/>
          <a:lstStyle/>
          <a:p>
            <a:pPr/>
            <a:r>
              <a:t>BJT formulae</a:t>
            </a:r>
          </a:p>
        </p:txBody>
      </p:sp>
      <p:pic>
        <p:nvPicPr>
          <p:cNvPr id="181" name="Picture 8" descr="Picture 8"/>
          <p:cNvPicPr>
            <a:picLocks noChangeAspect="1"/>
          </p:cNvPicPr>
          <p:nvPr/>
        </p:nvPicPr>
        <p:blipFill>
          <a:blip r:embed="rId3">
            <a:extLst/>
          </a:blip>
          <a:stretch>
            <a:fillRect/>
          </a:stretch>
        </p:blipFill>
        <p:spPr>
          <a:xfrm>
            <a:off x="304800" y="2590800"/>
            <a:ext cx="4949589" cy="2438400"/>
          </a:xfrm>
          <a:prstGeom prst="rect">
            <a:avLst/>
          </a:prstGeom>
          <a:ln w="12700">
            <a:miter lim="400000"/>
          </a:ln>
        </p:spPr>
      </p:pic>
      <p:grpSp>
        <p:nvGrpSpPr>
          <p:cNvPr id="184" name="Object 6"/>
          <p:cNvGrpSpPr/>
          <p:nvPr/>
        </p:nvGrpSpPr>
        <p:grpSpPr>
          <a:xfrm>
            <a:off x="6096000" y="2667000"/>
            <a:ext cx="2643189" cy="2286000"/>
            <a:chOff x="0" y="0"/>
            <a:chExt cx="2643188" cy="2286000"/>
          </a:xfrm>
        </p:grpSpPr>
        <p:sp>
          <p:nvSpPr>
            <p:cNvPr id="182" name="Rectangle"/>
            <p:cNvSpPr/>
            <p:nvPr/>
          </p:nvSpPr>
          <p:spPr>
            <a:xfrm>
              <a:off x="0" y="0"/>
              <a:ext cx="2643189" cy="2286000"/>
            </a:xfrm>
            <a:prstGeom prst="rect">
              <a:avLst/>
            </a:prstGeom>
            <a:solidFill>
              <a:srgbClr val="FFFF99"/>
            </a:solidFill>
            <a:ln w="12700" cap="flat">
              <a:noFill/>
              <a:miter lim="400000"/>
            </a:ln>
            <a:effectLst/>
          </p:spPr>
          <p:txBody>
            <a:bodyPr wrap="square" lIns="45719" tIns="45719" rIns="45719" bIns="45719" numCol="1" anchor="ctr">
              <a:noAutofit/>
            </a:bodyPr>
            <a:lstStyle/>
            <a:p>
              <a:pPr/>
            </a:p>
          </p:txBody>
        </p:sp>
        <p:pic>
          <p:nvPicPr>
            <p:cNvPr id="183" name="image20.pdf" descr="image20.pdf"/>
            <p:cNvPicPr>
              <a:picLocks noChangeAspect="1"/>
            </p:cNvPicPr>
            <p:nvPr/>
          </p:nvPicPr>
          <p:blipFill>
            <a:blip r:embed="rId4">
              <a:extLst/>
            </a:blip>
            <a:stretch>
              <a:fillRect/>
            </a:stretch>
          </p:blipFill>
          <p:spPr>
            <a:xfrm>
              <a:off x="0" y="0"/>
              <a:ext cx="2643189" cy="2286000"/>
            </a:xfrm>
            <a:prstGeom prst="rect">
              <a:avLst/>
            </a:prstGeom>
            <a:ln w="9525" cap="flat">
              <a:solidFill>
                <a:srgbClr val="000000"/>
              </a:solidFill>
              <a:prstDash val="solid"/>
              <a:miter lim="800000"/>
            </a:ln>
            <a:effectLst/>
          </p:spPr>
        </p:pic>
      </p:grpSp>
      <p:sp>
        <p:nvSpPr>
          <p:cNvPr id="185" name="TextBox 13"/>
          <p:cNvSpPr txBox="1"/>
          <p:nvPr/>
        </p:nvSpPr>
        <p:spPr>
          <a:xfrm>
            <a:off x="1447799" y="2209800"/>
            <a:ext cx="1643065" cy="56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vl1pPr>
          </a:lstStyle>
          <a:p>
            <a:pPr/>
            <a:r>
              <a:t>NPN</a:t>
            </a:r>
          </a:p>
        </p:txBody>
      </p:sp>
      <p:sp>
        <p:nvSpPr>
          <p:cNvPr id="186" name="TextBox 8"/>
          <p:cNvSpPr txBox="1"/>
          <p:nvPr/>
        </p:nvSpPr>
        <p:spPr>
          <a:xfrm>
            <a:off x="7086600" y="1676400"/>
            <a:ext cx="1676400" cy="34842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chemeClr val="accent1"/>
                </a:solidFill>
                <a:latin typeface="Times New Roman"/>
                <a:ea typeface="Times New Roman"/>
                <a:cs typeface="Times New Roman"/>
                <a:sym typeface="Times New Roman"/>
              </a:defRPr>
            </a:lvl1pPr>
          </a:lstStyle>
          <a:p>
            <a:pPr/>
            <a:r>
              <a:t>Current control</a:t>
            </a:r>
          </a:p>
        </p:txBody>
      </p:sp>
      <p:sp>
        <p:nvSpPr>
          <p:cNvPr id="187" name="Straight Arrow Connector 12"/>
          <p:cNvSpPr/>
          <p:nvPr/>
        </p:nvSpPr>
        <p:spPr>
          <a:xfrm flipH="1">
            <a:off x="7848600" y="2322730"/>
            <a:ext cx="76201" cy="420470"/>
          </a:xfrm>
          <a:prstGeom prst="line">
            <a:avLst/>
          </a:prstGeom>
          <a:ln w="25400">
            <a:solidFill>
              <a:schemeClr val="accent1"/>
            </a:solidFill>
            <a:tailEnd type="triangle"/>
          </a:ln>
        </p:spPr>
        <p:txBody>
          <a:bodyPr lIns="45719" rIns="45719"/>
          <a:lstStyle/>
          <a:p>
            <a:pPr/>
          </a:p>
        </p:txBody>
      </p:sp>
      <p:sp>
        <p:nvSpPr>
          <p:cNvPr id="188" name="TextBox 13"/>
          <p:cNvSpPr txBox="1"/>
          <p:nvPr/>
        </p:nvSpPr>
        <p:spPr>
          <a:xfrm>
            <a:off x="1752600" y="5562599"/>
            <a:ext cx="5410200" cy="7040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sz="2500">
                <a:latin typeface="Times New Roman"/>
                <a:ea typeface="Times New Roman"/>
                <a:cs typeface="Times New Roman"/>
                <a:sym typeface="Times New Roman"/>
              </a:defRPr>
            </a:pPr>
            <a:r>
              <a:t>β</a:t>
            </a:r>
            <a:r>
              <a:t> </a:t>
            </a:r>
            <a:r>
              <a:rPr sz="1800"/>
              <a:t> </a:t>
            </a:r>
            <a:r>
              <a:rPr i="0" sz="1800"/>
              <a:t>is the amplification factor and ranges from 20 to 200</a:t>
            </a:r>
            <a:endParaRPr i="0" sz="1800"/>
          </a:p>
          <a:p>
            <a:pPr>
              <a:defRPr>
                <a:latin typeface="Times New Roman"/>
                <a:ea typeface="Times New Roman"/>
                <a:cs typeface="Times New Roman"/>
                <a:sym typeface="Times New Roman"/>
              </a:defRPr>
            </a:pPr>
            <a:r>
              <a:t>It is dependent on temperature and voltage</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Title 1"/>
          <p:cNvSpPr txBox="1"/>
          <p:nvPr>
            <p:ph type="title"/>
          </p:nvPr>
        </p:nvSpPr>
        <p:spPr>
          <a:prstGeom prst="rect">
            <a:avLst/>
          </a:prstGeom>
        </p:spPr>
        <p:txBody>
          <a:bodyPr/>
          <a:lstStyle/>
          <a:p>
            <a:pPr/>
            <a:r>
              <a:t>BJT formulae</a:t>
            </a:r>
          </a:p>
        </p:txBody>
      </p:sp>
      <p:pic>
        <p:nvPicPr>
          <p:cNvPr id="193" name="Picture 8" descr="Picture 8"/>
          <p:cNvPicPr>
            <a:picLocks noChangeAspect="1"/>
          </p:cNvPicPr>
          <p:nvPr/>
        </p:nvPicPr>
        <p:blipFill>
          <a:blip r:embed="rId3">
            <a:extLst/>
          </a:blip>
          <a:stretch>
            <a:fillRect/>
          </a:stretch>
        </p:blipFill>
        <p:spPr>
          <a:xfrm>
            <a:off x="304800" y="2590800"/>
            <a:ext cx="4949589" cy="2438400"/>
          </a:xfrm>
          <a:prstGeom prst="rect">
            <a:avLst/>
          </a:prstGeom>
          <a:ln w="12700">
            <a:miter lim="400000"/>
          </a:ln>
        </p:spPr>
      </p:pic>
      <p:sp>
        <p:nvSpPr>
          <p:cNvPr id="194" name="TextBox 13"/>
          <p:cNvSpPr txBox="1"/>
          <p:nvPr/>
        </p:nvSpPr>
        <p:spPr>
          <a:xfrm>
            <a:off x="1447799" y="2209800"/>
            <a:ext cx="1643065" cy="56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vl1pPr>
          </a:lstStyle>
          <a:p>
            <a:pPr/>
            <a:r>
              <a:t>NPN</a:t>
            </a:r>
          </a:p>
        </p:txBody>
      </p:sp>
      <p:sp>
        <p:nvSpPr>
          <p:cNvPr id="195" name="TextBox 8"/>
          <p:cNvSpPr txBox="1"/>
          <p:nvPr/>
        </p:nvSpPr>
        <p:spPr>
          <a:xfrm>
            <a:off x="5943600" y="2057400"/>
            <a:ext cx="2743200" cy="2801688"/>
          </a:xfrm>
          <a:prstGeom prst="rect">
            <a:avLst/>
          </a:prstGeom>
          <a:solidFill>
            <a:srgbClr val="FFFF99"/>
          </a:solidFill>
          <a:ln>
            <a:solidFill>
              <a:srgbClr val="000000"/>
            </a:solidFill>
          </a:ln>
          <a:extLst>
            <a:ext uri="{C572A759-6A51-4108-AA02-DFA0A04FC94B}">
              <ma14:wrappingTextBoxFlag xmlns:ma14="http://schemas.microsoft.com/office/mac/drawingml/2011/main" val="1"/>
            </a:ext>
          </a:extLst>
        </p:spPr>
        <p:txBody>
          <a:bodyPr lIns="45719" rIns="45719">
            <a:spAutoFit/>
          </a:bodyPr>
          <a:lstStyle/>
          <a:p>
            <a:pPr>
              <a:defRPr>
                <a:latin typeface="Times New Roman"/>
                <a:ea typeface="Times New Roman"/>
                <a:cs typeface="Times New Roman"/>
                <a:sym typeface="Times New Roman"/>
              </a:defRPr>
            </a:pPr>
            <a:r>
              <a:t>Emitter  is more heavily doped than the collector.</a:t>
            </a:r>
          </a:p>
          <a:p>
            <a:pPr>
              <a:defRPr>
                <a:latin typeface="Times New Roman"/>
                <a:ea typeface="Times New Roman"/>
                <a:cs typeface="Times New Roman"/>
                <a:sym typeface="Times New Roman"/>
              </a:defRPr>
            </a:pPr>
          </a:p>
          <a:p>
            <a:pPr>
              <a:defRPr>
                <a:latin typeface="Times New Roman"/>
                <a:ea typeface="Times New Roman"/>
                <a:cs typeface="Times New Roman"/>
                <a:sym typeface="Times New Roman"/>
              </a:defRPr>
            </a:pPr>
            <a:r>
              <a:t>Therefore, </a:t>
            </a:r>
          </a:p>
          <a:p>
            <a:pPr>
              <a:defRPr>
                <a:latin typeface="Times New Roman"/>
                <a:ea typeface="Times New Roman"/>
                <a:cs typeface="Times New Roman"/>
                <a:sym typeface="Times New Roman"/>
              </a:defRPr>
            </a:pPr>
          </a:p>
          <a:p>
            <a:pPr>
              <a:defRPr b="1">
                <a:latin typeface="Times New Roman"/>
                <a:ea typeface="Times New Roman"/>
                <a:cs typeface="Times New Roman"/>
                <a:sym typeface="Times New Roman"/>
              </a:defRPr>
            </a:pPr>
            <a:r>
              <a:t>V</a:t>
            </a:r>
            <a:r>
              <a:rPr baseline="-25000"/>
              <a:t>C </a:t>
            </a:r>
            <a:r>
              <a:t>&gt; V</a:t>
            </a:r>
            <a:r>
              <a:rPr baseline="-25000"/>
              <a:t>B </a:t>
            </a:r>
            <a:r>
              <a:t>&gt; V</a:t>
            </a:r>
            <a:r>
              <a:rPr baseline="-25000"/>
              <a:t>E</a:t>
            </a:r>
            <a:endParaRPr baseline="-25000"/>
          </a:p>
          <a:p>
            <a:pPr>
              <a:defRPr>
                <a:latin typeface="Times New Roman"/>
                <a:ea typeface="Times New Roman"/>
                <a:cs typeface="Times New Roman"/>
                <a:sym typeface="Times New Roman"/>
              </a:defRPr>
            </a:pPr>
          </a:p>
          <a:p>
            <a:pPr>
              <a:defRPr>
                <a:latin typeface="Times New Roman"/>
                <a:ea typeface="Times New Roman"/>
                <a:cs typeface="Times New Roman"/>
                <a:sym typeface="Times New Roman"/>
              </a:defRPr>
            </a:pPr>
            <a:r>
              <a:t>for NPN transistor</a:t>
            </a:r>
          </a:p>
          <a:p>
            <a:pPr>
              <a:defRPr>
                <a:solidFill>
                  <a:srgbClr val="FF0000"/>
                </a:solidFill>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9" name="Title 1"/>
          <p:cNvSpPr txBox="1"/>
          <p:nvPr>
            <p:ph type="title"/>
          </p:nvPr>
        </p:nvSpPr>
        <p:spPr>
          <a:prstGeom prst="rect">
            <a:avLst/>
          </a:prstGeom>
        </p:spPr>
        <p:txBody>
          <a:bodyPr/>
          <a:lstStyle/>
          <a:p>
            <a:pPr/>
            <a:r>
              <a:t>BJT formulae</a:t>
            </a:r>
          </a:p>
        </p:txBody>
      </p:sp>
      <p:pic>
        <p:nvPicPr>
          <p:cNvPr id="200" name="Picture 8" descr="Picture 8"/>
          <p:cNvPicPr>
            <a:picLocks noChangeAspect="1"/>
          </p:cNvPicPr>
          <p:nvPr/>
        </p:nvPicPr>
        <p:blipFill>
          <a:blip r:embed="rId2">
            <a:extLst/>
          </a:blip>
          <a:stretch>
            <a:fillRect/>
          </a:stretch>
        </p:blipFill>
        <p:spPr>
          <a:xfrm>
            <a:off x="304800" y="2590800"/>
            <a:ext cx="4949589" cy="2438400"/>
          </a:xfrm>
          <a:prstGeom prst="rect">
            <a:avLst/>
          </a:prstGeom>
          <a:ln w="12700">
            <a:miter lim="400000"/>
          </a:ln>
        </p:spPr>
      </p:pic>
      <p:sp>
        <p:nvSpPr>
          <p:cNvPr id="201" name="TextBox 13"/>
          <p:cNvSpPr txBox="1"/>
          <p:nvPr/>
        </p:nvSpPr>
        <p:spPr>
          <a:xfrm>
            <a:off x="1447799" y="2209800"/>
            <a:ext cx="1643065" cy="5613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vl1pPr>
          </a:lstStyle>
          <a:p>
            <a:pPr/>
            <a:r>
              <a:t>NPN</a:t>
            </a:r>
          </a:p>
        </p:txBody>
      </p:sp>
      <p:sp>
        <p:nvSpPr>
          <p:cNvPr id="202" name="TextBox 13"/>
          <p:cNvSpPr txBox="1"/>
          <p:nvPr/>
        </p:nvSpPr>
        <p:spPr>
          <a:xfrm>
            <a:off x="457200" y="5105400"/>
            <a:ext cx="8153400" cy="11612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i="1" sz="2800">
                <a:latin typeface="Times New Roman"/>
                <a:ea typeface="Times New Roman"/>
                <a:cs typeface="Times New Roman"/>
                <a:sym typeface="Times New Roman"/>
              </a:defRPr>
            </a:pPr>
            <a:r>
              <a:t>α</a:t>
            </a:r>
            <a:r>
              <a:rPr sz="1800"/>
              <a:t> </a:t>
            </a:r>
            <a:r>
              <a:rPr i="0" sz="1800"/>
              <a:t>is the fraction of </a:t>
            </a:r>
            <a:r>
              <a:rPr i="0" sz="1800" u="sng"/>
              <a:t>electrons</a:t>
            </a:r>
            <a:r>
              <a:rPr i="0" sz="1800"/>
              <a:t> that </a:t>
            </a:r>
            <a:r>
              <a:rPr i="0" sz="1800" u="sng"/>
              <a:t>diffuse across</a:t>
            </a:r>
            <a:r>
              <a:rPr i="0" sz="1800"/>
              <a:t> the narrow base region</a:t>
            </a:r>
            <a:endParaRPr i="0" sz="1800"/>
          </a:p>
          <a:p>
            <a:pPr>
              <a:defRPr sz="2000">
                <a:latin typeface="Times New Roman"/>
                <a:ea typeface="Times New Roman"/>
                <a:cs typeface="Times New Roman"/>
                <a:sym typeface="Times New Roman"/>
              </a:defRPr>
            </a:pPr>
            <a:r>
              <a:t>1</a:t>
            </a:r>
            <a:r>
              <a:rPr i="1" sz="2800"/>
              <a:t> </a:t>
            </a:r>
            <a:r>
              <a:rPr sz="2800"/>
              <a:t>– </a:t>
            </a:r>
            <a:r>
              <a:rPr i="1" sz="2800"/>
              <a:t>α</a:t>
            </a:r>
            <a:r>
              <a:rPr i="1" sz="2800"/>
              <a:t> </a:t>
            </a:r>
            <a:r>
              <a:rPr sz="1800"/>
              <a:t>is the fraction of </a:t>
            </a:r>
            <a:r>
              <a:rPr sz="1800" u="sng"/>
              <a:t>electrons</a:t>
            </a:r>
            <a:r>
              <a:rPr sz="1800"/>
              <a:t> that </a:t>
            </a:r>
            <a:r>
              <a:rPr sz="1800" u="sng"/>
              <a:t>recombine with holes</a:t>
            </a:r>
            <a:r>
              <a:rPr sz="1800"/>
              <a:t> in the base region to create base current</a:t>
            </a:r>
          </a:p>
        </p:txBody>
      </p:sp>
      <p:grpSp>
        <p:nvGrpSpPr>
          <p:cNvPr id="205" name="Object 3"/>
          <p:cNvGrpSpPr/>
          <p:nvPr/>
        </p:nvGrpSpPr>
        <p:grpSpPr>
          <a:xfrm>
            <a:off x="5745162" y="2514600"/>
            <a:ext cx="2217738" cy="2187575"/>
            <a:chOff x="0" y="0"/>
            <a:chExt cx="2217736" cy="2187575"/>
          </a:xfrm>
        </p:grpSpPr>
        <p:sp>
          <p:nvSpPr>
            <p:cNvPr id="203" name="Rectangle"/>
            <p:cNvSpPr/>
            <p:nvPr/>
          </p:nvSpPr>
          <p:spPr>
            <a:xfrm>
              <a:off x="0" y="0"/>
              <a:ext cx="2217737" cy="2187575"/>
            </a:xfrm>
            <a:prstGeom prst="rect">
              <a:avLst/>
            </a:prstGeom>
            <a:solidFill>
              <a:srgbClr val="FFFF99"/>
            </a:solidFill>
            <a:ln w="12700" cap="flat">
              <a:noFill/>
              <a:miter lim="400000"/>
            </a:ln>
            <a:effectLst/>
          </p:spPr>
          <p:txBody>
            <a:bodyPr wrap="square" lIns="45719" tIns="45719" rIns="45719" bIns="45719" numCol="1" anchor="ctr">
              <a:noAutofit/>
            </a:bodyPr>
            <a:lstStyle/>
            <a:p>
              <a:pPr/>
            </a:p>
          </p:txBody>
        </p:sp>
        <p:pic>
          <p:nvPicPr>
            <p:cNvPr id="204" name="image21.pdf" descr="image21.pdf"/>
            <p:cNvPicPr>
              <a:picLocks noChangeAspect="1"/>
            </p:cNvPicPr>
            <p:nvPr/>
          </p:nvPicPr>
          <p:blipFill>
            <a:blip r:embed="rId3">
              <a:extLst/>
            </a:blip>
            <a:stretch>
              <a:fillRect/>
            </a:stretch>
          </p:blipFill>
          <p:spPr>
            <a:xfrm>
              <a:off x="0" y="0"/>
              <a:ext cx="2217737" cy="2187575"/>
            </a:xfrm>
            <a:prstGeom prst="rect">
              <a:avLst/>
            </a:prstGeom>
            <a:ln w="9525" cap="flat">
              <a:solidFill>
                <a:srgbClr val="000000"/>
              </a:solidFill>
              <a:prstDash val="solid"/>
              <a:miter lim="800000"/>
            </a:ln>
            <a:effectLst/>
          </p:spPr>
        </p:pic>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Rectangle 3"/>
          <p:cNvSpPr txBox="1"/>
          <p:nvPr>
            <p:ph type="title"/>
          </p:nvPr>
        </p:nvSpPr>
        <p:spPr>
          <a:xfrm>
            <a:off x="838200" y="762000"/>
            <a:ext cx="7467600" cy="457200"/>
          </a:xfrm>
          <a:prstGeom prst="rect">
            <a:avLst/>
          </a:prstGeom>
        </p:spPr>
        <p:txBody>
          <a:bodyPr/>
          <a:lstStyle>
            <a:lvl1pPr>
              <a:defRPr sz="2800"/>
            </a:lvl1pPr>
          </a:lstStyle>
          <a:p>
            <a:pPr/>
            <a:r>
              <a:t>BJT Characteristic Curves</a:t>
            </a:r>
          </a:p>
        </p:txBody>
      </p:sp>
      <p:sp>
        <p:nvSpPr>
          <p:cNvPr id="208" name="Rectangle 4"/>
          <p:cNvSpPr txBox="1"/>
          <p:nvPr/>
        </p:nvSpPr>
        <p:spPr>
          <a:xfrm>
            <a:off x="756235" y="1371600"/>
            <a:ext cx="3244564"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vl1pPr>
          </a:lstStyle>
          <a:p>
            <a:pPr/>
            <a:r>
              <a:t>Transfer Characteristic</a:t>
            </a:r>
          </a:p>
        </p:txBody>
      </p:sp>
      <p:sp>
        <p:nvSpPr>
          <p:cNvPr id="209" name="Rectangle 5"/>
          <p:cNvSpPr txBox="1"/>
          <p:nvPr/>
        </p:nvSpPr>
        <p:spPr>
          <a:xfrm>
            <a:off x="781638" y="1904999"/>
            <a:ext cx="7447961" cy="196367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buSzPct val="100000"/>
              <a:buFont typeface="Arial"/>
              <a:buChar char="•"/>
            </a:pPr>
            <a:r>
              <a:t>The graph of I</a:t>
            </a:r>
            <a:r>
              <a:rPr baseline="-25000"/>
              <a:t>CE</a:t>
            </a:r>
            <a:r>
              <a:t> / I</a:t>
            </a:r>
            <a:r>
              <a:rPr baseline="-25000"/>
              <a:t>BE</a:t>
            </a:r>
            <a:r>
              <a:t> shown (right) is called the Transfer Characteristic  </a:t>
            </a:r>
            <a:endParaRPr cap="small"/>
          </a:p>
          <a:p>
            <a:pPr marL="228600" indent="-228600">
              <a:buSzPct val="100000"/>
              <a:buFont typeface="Arial"/>
              <a:buChar char="•"/>
            </a:pPr>
            <a:r>
              <a:t>The slope of the graph shows the </a:t>
            </a:r>
            <a:r>
              <a:t>β</a:t>
            </a:r>
            <a:r>
              <a:t> </a:t>
            </a:r>
          </a:p>
          <a:p>
            <a:pPr marL="219075" indent="-219075" algn="just">
              <a:buSzPct val="100000"/>
              <a:buFont typeface="Arial"/>
              <a:buChar char="•"/>
            </a:pPr>
            <a:r>
              <a:t>Characteristic curves (graphs) can be drawn to show other parameters of a transistor, and are used both to detail the performance of a particular device and as an aid to the design of amplifiers.</a:t>
            </a:r>
          </a:p>
        </p:txBody>
      </p:sp>
      <p:pic>
        <p:nvPicPr>
          <p:cNvPr id="210" name="Picture 6" descr="Picture 6"/>
          <p:cNvPicPr>
            <a:picLocks noChangeAspect="1"/>
          </p:cNvPicPr>
          <p:nvPr/>
        </p:nvPicPr>
        <p:blipFill>
          <a:blip r:embed="rId2">
            <a:extLst/>
          </a:blip>
          <a:stretch>
            <a:fillRect/>
          </a:stretch>
        </p:blipFill>
        <p:spPr>
          <a:xfrm>
            <a:off x="1676400" y="3657600"/>
            <a:ext cx="2819400" cy="2661515"/>
          </a:xfrm>
          <a:prstGeom prst="rect">
            <a:avLst/>
          </a:prstGeom>
          <a:ln w="12700">
            <a:miter lim="400000"/>
          </a:ln>
        </p:spPr>
      </p:pic>
      <p:pic>
        <p:nvPicPr>
          <p:cNvPr id="211" name="Picture 2" descr="Picture 2"/>
          <p:cNvPicPr>
            <a:picLocks noChangeAspect="1"/>
          </p:cNvPicPr>
          <p:nvPr/>
        </p:nvPicPr>
        <p:blipFill>
          <a:blip r:embed="rId3">
            <a:extLst/>
          </a:blip>
          <a:stretch>
            <a:fillRect/>
          </a:stretch>
        </p:blipFill>
        <p:spPr>
          <a:xfrm>
            <a:off x="5334000" y="3657600"/>
            <a:ext cx="2209800" cy="2370097"/>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3" name="Rectangle 3"/>
          <p:cNvSpPr txBox="1"/>
          <p:nvPr/>
        </p:nvSpPr>
        <p:spPr>
          <a:xfrm>
            <a:off x="761999" y="1367134"/>
            <a:ext cx="2871600"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vl1pPr>
          </a:lstStyle>
          <a:p>
            <a:pPr/>
            <a:r>
              <a:t>Input Characteristic</a:t>
            </a:r>
          </a:p>
        </p:txBody>
      </p:sp>
      <p:sp>
        <p:nvSpPr>
          <p:cNvPr id="214" name="Rectangle 3"/>
          <p:cNvSpPr txBox="1"/>
          <p:nvPr>
            <p:ph type="title"/>
          </p:nvPr>
        </p:nvSpPr>
        <p:spPr>
          <a:xfrm>
            <a:off x="838200" y="762000"/>
            <a:ext cx="7467600" cy="457200"/>
          </a:xfrm>
          <a:prstGeom prst="rect">
            <a:avLst/>
          </a:prstGeom>
        </p:spPr>
        <p:txBody>
          <a:bodyPr/>
          <a:lstStyle>
            <a:lvl1pPr>
              <a:defRPr sz="2800"/>
            </a:lvl1pPr>
          </a:lstStyle>
          <a:p>
            <a:pPr/>
            <a:r>
              <a:t>BJT Characteristic Curves</a:t>
            </a:r>
          </a:p>
        </p:txBody>
      </p:sp>
      <p:sp>
        <p:nvSpPr>
          <p:cNvPr id="215" name="Rectangle 5"/>
          <p:cNvSpPr txBox="1"/>
          <p:nvPr/>
        </p:nvSpPr>
        <p:spPr>
          <a:xfrm>
            <a:off x="762000" y="1904999"/>
            <a:ext cx="7620000" cy="2703577"/>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85750" indent="-228600" algn="just">
              <a:buSzPct val="100000"/>
              <a:buFont typeface="Arial"/>
              <a:buChar char="•"/>
            </a:pPr>
            <a:r>
              <a:t>The </a:t>
            </a:r>
            <a:r>
              <a:rPr b="1"/>
              <a:t>Input Characteristic </a:t>
            </a:r>
            <a:r>
              <a:t>is the base emitter current I</a:t>
            </a:r>
            <a:r>
              <a:rPr baseline="-25000"/>
              <a:t>BE</a:t>
            </a:r>
            <a:r>
              <a:t> against base emitter voltage V</a:t>
            </a:r>
            <a:r>
              <a:rPr baseline="-25000"/>
              <a:t>BE</a:t>
            </a:r>
            <a:r>
              <a:t>(I</a:t>
            </a:r>
            <a:r>
              <a:rPr baseline="-25000"/>
              <a:t>BE</a:t>
            </a:r>
            <a:r>
              <a:t>/V</a:t>
            </a:r>
            <a:r>
              <a:rPr baseline="-25000"/>
              <a:t>BE</a:t>
            </a:r>
            <a:r>
              <a:t>) shows the input </a:t>
            </a:r>
            <a:r>
              <a:rPr b="1"/>
              <a:t>Conductance</a:t>
            </a:r>
            <a:r>
              <a:t> of the transistor.</a:t>
            </a:r>
          </a:p>
          <a:p>
            <a:pPr marL="285750" indent="-228600" algn="just">
              <a:buSzPct val="100000"/>
              <a:buFont typeface="Arial"/>
              <a:buChar char="•"/>
            </a:pPr>
            <a:r>
              <a:t>The steepness of this particular curve when the V</a:t>
            </a:r>
            <a:r>
              <a:rPr baseline="-25000"/>
              <a:t>BE</a:t>
            </a:r>
            <a:r>
              <a:t> is above 1 volt shows that the input conductance is very high, and there is a large increase in current (in practice, usually enough to destroy the transistor!) for a very small increase in V</a:t>
            </a:r>
            <a:r>
              <a:rPr baseline="-25000"/>
              <a:t>BE</a:t>
            </a:r>
            <a:r>
              <a:t>.</a:t>
            </a:r>
          </a:p>
          <a:p>
            <a:pPr marL="285750" indent="-228600" algn="just">
              <a:buSzPct val="100000"/>
              <a:buFont typeface="Arial"/>
              <a:buChar char="•"/>
            </a:pPr>
            <a:r>
              <a:t>Therefore the input RESISTANCE must be low. </a:t>
            </a:r>
          </a:p>
        </p:txBody>
      </p:sp>
      <p:pic>
        <p:nvPicPr>
          <p:cNvPr id="216" name="Picture 6" descr="Picture 6"/>
          <p:cNvPicPr>
            <a:picLocks noChangeAspect="1"/>
          </p:cNvPicPr>
          <p:nvPr/>
        </p:nvPicPr>
        <p:blipFill>
          <a:blip r:embed="rId2">
            <a:extLst/>
          </a:blip>
          <a:stretch>
            <a:fillRect/>
          </a:stretch>
        </p:blipFill>
        <p:spPr>
          <a:xfrm>
            <a:off x="1828800" y="4267200"/>
            <a:ext cx="2667000" cy="2346961"/>
          </a:xfrm>
          <a:prstGeom prst="rect">
            <a:avLst/>
          </a:prstGeom>
          <a:ln w="12700">
            <a:miter lim="400000"/>
          </a:ln>
        </p:spPr>
      </p:pic>
      <p:pic>
        <p:nvPicPr>
          <p:cNvPr id="217" name="Picture 2" descr="Picture 2"/>
          <p:cNvPicPr>
            <a:picLocks noChangeAspect="1"/>
          </p:cNvPicPr>
          <p:nvPr/>
        </p:nvPicPr>
        <p:blipFill>
          <a:blip r:embed="rId3">
            <a:extLst/>
          </a:blip>
          <a:stretch>
            <a:fillRect/>
          </a:stretch>
        </p:blipFill>
        <p:spPr>
          <a:xfrm>
            <a:off x="5410200" y="4191000"/>
            <a:ext cx="2209800" cy="2370097"/>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Rectangle 3"/>
          <p:cNvSpPr txBox="1"/>
          <p:nvPr>
            <p:ph type="title"/>
          </p:nvPr>
        </p:nvSpPr>
        <p:spPr>
          <a:xfrm>
            <a:off x="838200" y="762000"/>
            <a:ext cx="7467600" cy="457200"/>
          </a:xfrm>
          <a:prstGeom prst="rect">
            <a:avLst/>
          </a:prstGeom>
        </p:spPr>
        <p:txBody>
          <a:bodyPr/>
          <a:lstStyle>
            <a:lvl1pPr>
              <a:defRPr sz="2800"/>
            </a:lvl1pPr>
          </a:lstStyle>
          <a:p>
            <a:pPr/>
            <a:r>
              <a:t>BJT Characteristic Curves</a:t>
            </a:r>
          </a:p>
        </p:txBody>
      </p:sp>
      <p:pic>
        <p:nvPicPr>
          <p:cNvPr id="220" name="Picture 5" descr="Picture 5"/>
          <p:cNvPicPr>
            <a:picLocks noChangeAspect="1"/>
          </p:cNvPicPr>
          <p:nvPr/>
        </p:nvPicPr>
        <p:blipFill>
          <a:blip r:embed="rId2">
            <a:extLst/>
          </a:blip>
          <a:stretch>
            <a:fillRect/>
          </a:stretch>
        </p:blipFill>
        <p:spPr>
          <a:xfrm>
            <a:off x="1676400" y="4038600"/>
            <a:ext cx="3886200" cy="2667716"/>
          </a:xfrm>
          <a:prstGeom prst="rect">
            <a:avLst/>
          </a:prstGeom>
          <a:ln w="12700">
            <a:miter lim="400000"/>
          </a:ln>
        </p:spPr>
      </p:pic>
      <p:sp>
        <p:nvSpPr>
          <p:cNvPr id="221" name="Rectangle 4"/>
          <p:cNvSpPr txBox="1"/>
          <p:nvPr/>
        </p:nvSpPr>
        <p:spPr>
          <a:xfrm>
            <a:off x="760676" y="1295400"/>
            <a:ext cx="3108386"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vl1pPr>
          </a:lstStyle>
          <a:p>
            <a:pPr/>
            <a:r>
              <a:t>Output Characteristic</a:t>
            </a:r>
          </a:p>
        </p:txBody>
      </p:sp>
      <p:sp>
        <p:nvSpPr>
          <p:cNvPr id="222" name="Rectangle 6"/>
          <p:cNvSpPr txBox="1"/>
          <p:nvPr/>
        </p:nvSpPr>
        <p:spPr>
          <a:xfrm>
            <a:off x="730197" y="1752599"/>
            <a:ext cx="7651802" cy="257327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gn="just">
              <a:buSzPct val="100000"/>
              <a:buFont typeface="Arial"/>
              <a:buChar char="•"/>
            </a:pPr>
            <a:r>
              <a:t>The slope gives the value of output conductance (and by implication output resistance). </a:t>
            </a:r>
          </a:p>
          <a:p>
            <a:pPr marL="228600" indent="-228600" algn="just">
              <a:buSzPct val="100000"/>
              <a:buFont typeface="Arial"/>
              <a:buChar char="•"/>
            </a:pPr>
            <a:r>
              <a:t>The near horizontal parts of the graph lines show that a change in collector emitter voltage V</a:t>
            </a:r>
            <a:r>
              <a:rPr baseline="-25000"/>
              <a:t>CE</a:t>
            </a:r>
            <a:r>
              <a:t> has almost no effect on collector current in this region, just the effect to be expected if the transistor  output had a large value resistor in series with it.</a:t>
            </a:r>
          </a:p>
          <a:p>
            <a:pPr marL="228600" indent="-228600" algn="just">
              <a:buSzPct val="100000"/>
              <a:buFont typeface="Arial"/>
              <a:buChar char="•"/>
            </a:pPr>
            <a:r>
              <a:t>Therefore the graph shows that the output resistance of the transistor is high.</a:t>
            </a:r>
          </a:p>
        </p:txBody>
      </p:sp>
      <p:pic>
        <p:nvPicPr>
          <p:cNvPr id="223" name="Picture 2" descr="Picture 2"/>
          <p:cNvPicPr>
            <a:picLocks noChangeAspect="1"/>
          </p:cNvPicPr>
          <p:nvPr/>
        </p:nvPicPr>
        <p:blipFill>
          <a:blip r:embed="rId3">
            <a:extLst/>
          </a:blip>
          <a:stretch>
            <a:fillRect/>
          </a:stretch>
        </p:blipFill>
        <p:spPr>
          <a:xfrm>
            <a:off x="5791200" y="3962400"/>
            <a:ext cx="2209800" cy="2370097"/>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5" name="Title 1"/>
          <p:cNvSpPr txBox="1"/>
          <p:nvPr>
            <p:ph type="title"/>
          </p:nvPr>
        </p:nvSpPr>
        <p:spPr>
          <a:xfrm>
            <a:off x="4038600" y="457200"/>
            <a:ext cx="5105400" cy="1143000"/>
          </a:xfrm>
          <a:prstGeom prst="rect">
            <a:avLst/>
          </a:prstGeom>
        </p:spPr>
        <p:txBody>
          <a:bodyPr/>
          <a:lstStyle>
            <a:lvl1pPr defTabSz="841247">
              <a:defRPr sz="4140"/>
            </a:lvl1pPr>
          </a:lstStyle>
          <a:p>
            <a:pPr/>
            <a:r>
              <a:t>BJT operating regions</a:t>
            </a:r>
          </a:p>
        </p:txBody>
      </p:sp>
      <p:graphicFrame>
        <p:nvGraphicFramePr>
          <p:cNvPr id="226" name="Group 32"/>
          <p:cNvGraphicFramePr/>
          <p:nvPr/>
        </p:nvGraphicFramePr>
        <p:xfrm>
          <a:off x="3505201" y="3026772"/>
          <a:ext cx="5410200" cy="348397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08484"/>
                <a:gridCol w="1993231"/>
                <a:gridCol w="1708484"/>
              </a:tblGrid>
              <a:tr h="600138">
                <a:tc>
                  <a:txBody>
                    <a:bodyPr/>
                    <a:lstStyle/>
                    <a:p>
                      <a:pPr algn="ctr">
                        <a:defRPr sz="1800"/>
                      </a:pPr>
                      <a:r>
                        <a:rPr b="1">
                          <a:latin typeface="Times New Roman"/>
                          <a:ea typeface="Times New Roman"/>
                          <a:cs typeface="Times New Roman"/>
                          <a:sym typeface="Times New Roman"/>
                        </a:rPr>
                        <a:t>Operating Region</a:t>
                      </a:r>
                    </a:p>
                  </a:txBody>
                  <a:tcPr marL="45720" marR="45720" marT="45720" marB="45720" anchor="t" anchorCtr="0" horzOverflow="overflow">
                    <a:lnL w="12700">
                      <a:solidFill>
                        <a:srgbClr val="000000"/>
                      </a:solidFill>
                    </a:lnL>
                    <a:lnR w="12700">
                      <a:solidFill>
                        <a:srgbClr val="000000"/>
                      </a:solidFill>
                    </a:lnR>
                    <a:lnT w="28575">
                      <a:solidFill>
                        <a:srgbClr val="000000"/>
                      </a:solidFill>
                    </a:lnT>
                    <a:lnB w="12700">
                      <a:solidFill>
                        <a:srgbClr val="000000"/>
                      </a:solidFill>
                    </a:lnB>
                    <a:noFill/>
                  </a:tcPr>
                </a:tc>
                <a:tc>
                  <a:txBody>
                    <a:bodyPr/>
                    <a:lstStyle/>
                    <a:p>
                      <a:pPr algn="ctr">
                        <a:defRPr sz="1800"/>
                      </a:pPr>
                      <a:r>
                        <a:rPr b="1">
                          <a:latin typeface="Times New Roman"/>
                          <a:ea typeface="Times New Roman"/>
                          <a:cs typeface="Times New Roman"/>
                          <a:sym typeface="Times New Roman"/>
                        </a:rPr>
                        <a:t>Parameters</a:t>
                      </a:r>
                    </a:p>
                  </a:txBody>
                  <a:tcPr marL="45720" marR="45720" marT="45720" marB="45720" anchor="t" anchorCtr="0" horzOverflow="overflow">
                    <a:lnL w="12700">
                      <a:solidFill>
                        <a:srgbClr val="000000"/>
                      </a:solidFill>
                    </a:lnL>
                    <a:lnR w="12700">
                      <a:solidFill>
                        <a:srgbClr val="000000"/>
                      </a:solidFill>
                    </a:lnR>
                    <a:lnT w="28575">
                      <a:solidFill>
                        <a:srgbClr val="000000"/>
                      </a:solidFill>
                    </a:lnT>
                    <a:lnB w="12700">
                      <a:solidFill>
                        <a:srgbClr val="000000"/>
                      </a:solidFill>
                    </a:lnB>
                    <a:noFill/>
                  </a:tcPr>
                </a:tc>
                <a:tc>
                  <a:txBody>
                    <a:bodyPr/>
                    <a:lstStyle/>
                    <a:p>
                      <a:pPr algn="ctr">
                        <a:defRPr sz="1800"/>
                      </a:pPr>
                      <a:r>
                        <a:rPr b="1">
                          <a:latin typeface="Times New Roman"/>
                          <a:ea typeface="Times New Roman"/>
                          <a:cs typeface="Times New Roman"/>
                          <a:sym typeface="Times New Roman"/>
                        </a:rPr>
                        <a:t>Mode</a:t>
                      </a:r>
                    </a:p>
                  </a:txBody>
                  <a:tcPr marL="45720" marR="45720" marT="45720" marB="45720" anchor="t" anchorCtr="0" horzOverflow="overflow">
                    <a:lnL w="12700">
                      <a:solidFill>
                        <a:srgbClr val="000000"/>
                      </a:solidFill>
                    </a:lnL>
                    <a:lnR w="28575">
                      <a:solidFill>
                        <a:srgbClr val="000000"/>
                      </a:solidFill>
                    </a:lnR>
                    <a:lnT w="28575">
                      <a:solidFill>
                        <a:srgbClr val="000000"/>
                      </a:solidFill>
                    </a:lnT>
                    <a:lnB w="12700">
                      <a:solidFill>
                        <a:srgbClr val="000000"/>
                      </a:solidFill>
                    </a:lnB>
                    <a:noFill/>
                  </a:tcPr>
                </a:tc>
              </a:tr>
              <a:tr h="857340">
                <a:tc>
                  <a:txBody>
                    <a:bodyPr/>
                    <a:lstStyle/>
                    <a:p>
                      <a:pPr algn="ctr">
                        <a:defRPr sz="1800"/>
                      </a:pPr>
                      <a:r>
                        <a:rPr>
                          <a:solidFill>
                            <a:schemeClr val="accent1"/>
                          </a:solidFill>
                          <a:latin typeface="Times New Roman"/>
                          <a:ea typeface="Times New Roman"/>
                          <a:cs typeface="Times New Roman"/>
                          <a:sym typeface="Times New Roman"/>
                        </a:rPr>
                        <a:t>Cut Off</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indent="119062" algn="l">
                        <a:defRPr i="1" sz="1800">
                          <a:latin typeface="Times New Roman"/>
                          <a:ea typeface="Times New Roman"/>
                          <a:cs typeface="Times New Roman"/>
                          <a:sym typeface="Times New Roman"/>
                        </a:defRPr>
                      </a:pPr>
                      <a:r>
                        <a:t>V</a:t>
                      </a:r>
                      <a:r>
                        <a:rPr baseline="-25000" i="0"/>
                        <a:t>BE</a:t>
                      </a:r>
                      <a:r>
                        <a:rPr i="0"/>
                        <a:t> &lt; </a:t>
                      </a:r>
                      <a:r>
                        <a:t>V</a:t>
                      </a:r>
                      <a:r>
                        <a:rPr baseline="-25000" i="0"/>
                        <a:t>cut-in</a:t>
                      </a:r>
                      <a:r>
                        <a:rPr i="0"/>
                        <a:t> </a:t>
                      </a:r>
                      <a:endParaRPr i="0"/>
                    </a:p>
                    <a:p>
                      <a:pPr indent="119062" algn="l">
                        <a:defRPr i="1" sz="1800">
                          <a:latin typeface="Times New Roman"/>
                          <a:ea typeface="Times New Roman"/>
                          <a:cs typeface="Times New Roman"/>
                          <a:sym typeface="Times New Roman"/>
                        </a:defRPr>
                      </a:pPr>
                      <a:r>
                        <a:t>V</a:t>
                      </a:r>
                      <a:r>
                        <a:rPr baseline="-25000" i="0"/>
                        <a:t>CE </a:t>
                      </a:r>
                      <a:r>
                        <a:rPr i="0"/>
                        <a:t>&gt; </a:t>
                      </a:r>
                      <a:r>
                        <a:t>V</a:t>
                      </a:r>
                      <a:r>
                        <a:rPr baseline="-25000" i="0"/>
                        <a:t>supply</a:t>
                      </a:r>
                    </a:p>
                    <a:p>
                      <a:pPr indent="119062" algn="l">
                        <a:defRPr i="1" sz="1800">
                          <a:latin typeface="Times New Roman"/>
                          <a:ea typeface="Times New Roman"/>
                          <a:cs typeface="Times New Roman"/>
                          <a:sym typeface="Times New Roman"/>
                        </a:defRPr>
                      </a:pPr>
                      <a:r>
                        <a:t>I</a:t>
                      </a:r>
                      <a:r>
                        <a:rPr baseline="-25000" i="0"/>
                        <a:t>B</a:t>
                      </a:r>
                      <a:r>
                        <a:rPr i="0"/>
                        <a:t> = </a:t>
                      </a:r>
                      <a:r>
                        <a:t>I</a:t>
                      </a:r>
                      <a:r>
                        <a:rPr baseline="-25000" i="0"/>
                        <a:t>C</a:t>
                      </a:r>
                      <a:r>
                        <a:rPr i="0"/>
                        <a:t> = 0</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ctr">
                        <a:defRPr sz="1800"/>
                      </a:pPr>
                      <a:r>
                        <a:rPr>
                          <a:solidFill>
                            <a:schemeClr val="accent1"/>
                          </a:solidFill>
                          <a:latin typeface="Times New Roman"/>
                          <a:ea typeface="Times New Roman"/>
                          <a:cs typeface="Times New Roman"/>
                          <a:sym typeface="Times New Roman"/>
                        </a:rPr>
                        <a:t>Switch OFF</a:t>
                      </a:r>
                    </a:p>
                  </a:txBody>
                  <a:tcPr marL="45720" marR="45720" marT="45720" marB="45720" anchor="ctr"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911951">
                <a:tc>
                  <a:txBody>
                    <a:bodyPr/>
                    <a:lstStyle/>
                    <a:p>
                      <a:pPr algn="l">
                        <a:defRPr sz="1800"/>
                      </a:pPr>
                      <a:r>
                        <a:rPr>
                          <a:solidFill>
                            <a:schemeClr val="accent1"/>
                          </a:solidFill>
                          <a:latin typeface="Times New Roman"/>
                          <a:ea typeface="Times New Roman"/>
                          <a:cs typeface="Times New Roman"/>
                          <a:sym typeface="Times New Roman"/>
                        </a:rPr>
                        <a:t>Linear</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indent="119062" algn="l">
                        <a:defRPr i="1" sz="1800">
                          <a:latin typeface="Times New Roman"/>
                          <a:ea typeface="Times New Roman"/>
                          <a:cs typeface="Times New Roman"/>
                          <a:sym typeface="Times New Roman"/>
                        </a:defRPr>
                      </a:pPr>
                      <a:r>
                        <a:t>V</a:t>
                      </a:r>
                      <a:r>
                        <a:rPr baseline="-25000" i="0"/>
                        <a:t>BE</a:t>
                      </a:r>
                      <a:r>
                        <a:rPr i="0"/>
                        <a:t> = </a:t>
                      </a:r>
                      <a:r>
                        <a:t>V</a:t>
                      </a:r>
                      <a:r>
                        <a:rPr baseline="-25000" i="0"/>
                        <a:t>cut-in</a:t>
                      </a:r>
                    </a:p>
                    <a:p>
                      <a:pPr indent="119062" algn="l">
                        <a:defRPr i="1" sz="1800">
                          <a:latin typeface="Times New Roman"/>
                          <a:ea typeface="Times New Roman"/>
                          <a:cs typeface="Times New Roman"/>
                          <a:sym typeface="Times New Roman"/>
                        </a:defRPr>
                      </a:pPr>
                      <a:r>
                        <a:t>V</a:t>
                      </a:r>
                      <a:r>
                        <a:rPr baseline="-25000" i="0"/>
                        <a:t>sat</a:t>
                      </a:r>
                      <a:r>
                        <a:rPr i="0"/>
                        <a:t> &lt; </a:t>
                      </a:r>
                      <a:r>
                        <a:t>V</a:t>
                      </a:r>
                      <a:r>
                        <a:rPr baseline="-25000" i="0"/>
                        <a:t>CE </a:t>
                      </a:r>
                      <a:r>
                        <a:rPr i="0"/>
                        <a:t>&lt; </a:t>
                      </a:r>
                      <a:r>
                        <a:t>V</a:t>
                      </a:r>
                      <a:r>
                        <a:rPr baseline="-25000" i="0"/>
                        <a:t>supply</a:t>
                      </a:r>
                    </a:p>
                    <a:p>
                      <a:pPr indent="119062" algn="l">
                        <a:defRPr i="1" sz="1800">
                          <a:latin typeface="Times New Roman"/>
                          <a:ea typeface="Times New Roman"/>
                          <a:cs typeface="Times New Roman"/>
                          <a:sym typeface="Times New Roman"/>
                        </a:defRPr>
                      </a:pPr>
                      <a:r>
                        <a:t>I</a:t>
                      </a:r>
                      <a:r>
                        <a:rPr baseline="-25000" i="0"/>
                        <a:t>C</a:t>
                      </a:r>
                      <a:r>
                        <a:rPr i="0"/>
                        <a:t> = </a:t>
                      </a:r>
                      <a:r>
                        <a:rPr i="0"/>
                        <a:t>β</a:t>
                      </a:r>
                      <a:r>
                        <a:rPr i="0"/>
                        <a:t>*</a:t>
                      </a:r>
                      <a:r>
                        <a:t>I</a:t>
                      </a:r>
                      <a:r>
                        <a:rPr baseline="-25000" i="0"/>
                        <a:t>B</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12700">
                      <a:solidFill>
                        <a:srgbClr val="000000"/>
                      </a:solidFill>
                    </a:lnB>
                    <a:noFill/>
                  </a:tcPr>
                </a:tc>
                <a:tc>
                  <a:txBody>
                    <a:bodyPr/>
                    <a:lstStyle/>
                    <a:p>
                      <a:pPr algn="l">
                        <a:defRPr sz="1800"/>
                      </a:pPr>
                      <a:r>
                        <a:rPr>
                          <a:solidFill>
                            <a:schemeClr val="accent1"/>
                          </a:solidFill>
                          <a:latin typeface="Times New Roman"/>
                          <a:ea typeface="Times New Roman"/>
                          <a:cs typeface="Times New Roman"/>
                          <a:sym typeface="Times New Roman"/>
                        </a:rPr>
                        <a:t>Amplification</a:t>
                      </a:r>
                    </a:p>
                  </a:txBody>
                  <a:tcPr marL="45720" marR="45720" marT="45720" marB="45720" anchor="ctr" anchorCtr="0" horzOverflow="overflow">
                    <a:lnL w="12700">
                      <a:solidFill>
                        <a:srgbClr val="000000"/>
                      </a:solidFill>
                    </a:lnL>
                    <a:lnR w="28575">
                      <a:solidFill>
                        <a:srgbClr val="000000"/>
                      </a:solidFill>
                    </a:lnR>
                    <a:lnT w="12700">
                      <a:solidFill>
                        <a:srgbClr val="000000"/>
                      </a:solidFill>
                    </a:lnT>
                    <a:lnB w="12700">
                      <a:solidFill>
                        <a:srgbClr val="000000"/>
                      </a:solidFill>
                    </a:lnB>
                    <a:noFill/>
                  </a:tcPr>
                </a:tc>
              </a:tr>
              <a:tr h="1114543">
                <a:tc>
                  <a:txBody>
                    <a:bodyPr/>
                    <a:lstStyle/>
                    <a:p>
                      <a:pPr algn="l">
                        <a:defRPr sz="1800"/>
                      </a:pPr>
                      <a:r>
                        <a:rPr>
                          <a:solidFill>
                            <a:schemeClr val="accent1"/>
                          </a:solidFill>
                          <a:latin typeface="Times New Roman"/>
                          <a:ea typeface="Times New Roman"/>
                          <a:cs typeface="Times New Roman"/>
                          <a:sym typeface="Times New Roman"/>
                        </a:rPr>
                        <a:t>Saturated</a:t>
                      </a:r>
                    </a:p>
                  </a:txBody>
                  <a:tcPr marL="45720" marR="45720" marT="45720" marB="45720" anchor="ctr" anchorCtr="0" horzOverflow="overflow">
                    <a:lnL w="12700">
                      <a:solidFill>
                        <a:srgbClr val="000000"/>
                      </a:solidFill>
                    </a:lnL>
                    <a:lnR w="12700">
                      <a:solidFill>
                        <a:srgbClr val="000000"/>
                      </a:solidFill>
                    </a:lnR>
                    <a:lnT w="12700">
                      <a:solidFill>
                        <a:srgbClr val="000000"/>
                      </a:solidFill>
                    </a:lnT>
                    <a:lnB w="28575">
                      <a:solidFill>
                        <a:srgbClr val="000000"/>
                      </a:solidFill>
                    </a:lnB>
                    <a:noFill/>
                  </a:tcPr>
                </a:tc>
                <a:tc>
                  <a:txBody>
                    <a:bodyPr/>
                    <a:lstStyle/>
                    <a:p>
                      <a:pPr indent="119062" algn="l">
                        <a:defRPr i="1" sz="1800">
                          <a:latin typeface="Times New Roman"/>
                          <a:ea typeface="Times New Roman"/>
                          <a:cs typeface="Times New Roman"/>
                          <a:sym typeface="Times New Roman"/>
                        </a:defRPr>
                      </a:pPr>
                      <a:r>
                        <a:t>V</a:t>
                      </a:r>
                      <a:r>
                        <a:rPr baseline="-25000" i="0"/>
                        <a:t>BE</a:t>
                      </a:r>
                      <a:r>
                        <a:rPr i="0"/>
                        <a:t> = </a:t>
                      </a:r>
                      <a:r>
                        <a:t>V</a:t>
                      </a:r>
                      <a:r>
                        <a:rPr baseline="-25000" i="0"/>
                        <a:t>cut-in</a:t>
                      </a:r>
                      <a:r>
                        <a:rPr i="0"/>
                        <a:t>,</a:t>
                      </a:r>
                      <a:endParaRPr i="0"/>
                    </a:p>
                    <a:p>
                      <a:pPr indent="119062" algn="l">
                        <a:defRPr i="1" sz="1800">
                          <a:latin typeface="Times New Roman"/>
                          <a:ea typeface="Times New Roman"/>
                          <a:cs typeface="Times New Roman"/>
                          <a:sym typeface="Times New Roman"/>
                        </a:defRPr>
                      </a:pPr>
                      <a:r>
                        <a:t>V</a:t>
                      </a:r>
                      <a:r>
                        <a:rPr baseline="-25000" i="0"/>
                        <a:t>CE</a:t>
                      </a:r>
                      <a:r>
                        <a:rPr i="0"/>
                        <a:t>  &lt; </a:t>
                      </a:r>
                      <a:r>
                        <a:t>V</a:t>
                      </a:r>
                      <a:r>
                        <a:rPr baseline="-25000" i="0"/>
                        <a:t>sat</a:t>
                      </a:r>
                    </a:p>
                    <a:p>
                      <a:pPr indent="119062" algn="l">
                        <a:defRPr i="1" sz="1800">
                          <a:latin typeface="Times New Roman"/>
                          <a:ea typeface="Times New Roman"/>
                          <a:cs typeface="Times New Roman"/>
                          <a:sym typeface="Times New Roman"/>
                        </a:defRPr>
                      </a:pPr>
                      <a:r>
                        <a:t>I</a:t>
                      </a:r>
                      <a:r>
                        <a:rPr baseline="-25000"/>
                        <a:t>B</a:t>
                      </a:r>
                      <a:r>
                        <a:t> </a:t>
                      </a:r>
                      <a:r>
                        <a:rPr i="0"/>
                        <a:t>&gt; </a:t>
                      </a:r>
                      <a:r>
                        <a:t>I</a:t>
                      </a:r>
                      <a:r>
                        <a:rPr baseline="-25000" i="0"/>
                        <a:t>C,max</a:t>
                      </a:r>
                      <a:r>
                        <a:rPr i="0"/>
                        <a:t>,  </a:t>
                      </a:r>
                      <a:r>
                        <a:t>I</a:t>
                      </a:r>
                      <a:r>
                        <a:rPr baseline="-25000" i="0"/>
                        <a:t>C,max</a:t>
                      </a:r>
                      <a:r>
                        <a:rPr i="0"/>
                        <a:t> &gt; 0</a:t>
                      </a:r>
                    </a:p>
                  </a:txBody>
                  <a:tcPr marL="45720" marR="45720" marT="45720" marB="45720" anchor="t" anchorCtr="0" horzOverflow="overflow">
                    <a:lnL w="12700">
                      <a:solidFill>
                        <a:srgbClr val="000000"/>
                      </a:solidFill>
                    </a:lnL>
                    <a:lnR w="12700">
                      <a:solidFill>
                        <a:srgbClr val="000000"/>
                      </a:solidFill>
                    </a:lnR>
                    <a:lnT w="12700">
                      <a:solidFill>
                        <a:srgbClr val="000000"/>
                      </a:solidFill>
                    </a:lnT>
                    <a:lnB w="28575">
                      <a:solidFill>
                        <a:srgbClr val="000000"/>
                      </a:solidFill>
                    </a:lnB>
                    <a:noFill/>
                  </a:tcPr>
                </a:tc>
                <a:tc>
                  <a:txBody>
                    <a:bodyPr/>
                    <a:lstStyle/>
                    <a:p>
                      <a:pPr algn="l">
                        <a:defRPr sz="1800"/>
                      </a:pPr>
                      <a:r>
                        <a:rPr>
                          <a:solidFill>
                            <a:schemeClr val="accent1"/>
                          </a:solidFill>
                          <a:latin typeface="Times New Roman"/>
                          <a:ea typeface="Times New Roman"/>
                          <a:cs typeface="Times New Roman"/>
                          <a:sym typeface="Times New Roman"/>
                        </a:rPr>
                        <a:t>Switch ON</a:t>
                      </a:r>
                    </a:p>
                  </a:txBody>
                  <a:tcPr marL="45720" marR="45720" marT="45720" marB="45720" anchor="ctr" anchorCtr="0" horzOverflow="overflow">
                    <a:lnL w="12700">
                      <a:solidFill>
                        <a:srgbClr val="000000"/>
                      </a:solidFill>
                    </a:lnL>
                    <a:lnR w="28575">
                      <a:solidFill>
                        <a:srgbClr val="000000"/>
                      </a:solidFill>
                    </a:lnR>
                    <a:lnT w="12700">
                      <a:solidFill>
                        <a:srgbClr val="000000"/>
                      </a:solidFill>
                    </a:lnT>
                    <a:lnB w="28575">
                      <a:solidFill>
                        <a:srgbClr val="000000"/>
                      </a:solidFill>
                    </a:lnB>
                    <a:noFill/>
                  </a:tcPr>
                </a:tc>
              </a:tr>
            </a:tbl>
          </a:graphicData>
        </a:graphic>
      </p:graphicFrame>
      <p:pic>
        <p:nvPicPr>
          <p:cNvPr id="227" name="Picture 2" descr="Picture 2"/>
          <p:cNvPicPr>
            <a:picLocks noChangeAspect="1"/>
          </p:cNvPicPr>
          <p:nvPr/>
        </p:nvPicPr>
        <p:blipFill>
          <a:blip r:embed="rId2">
            <a:extLst/>
          </a:blip>
          <a:stretch>
            <a:fillRect/>
          </a:stretch>
        </p:blipFill>
        <p:spPr>
          <a:xfrm>
            <a:off x="533400" y="762000"/>
            <a:ext cx="3470205" cy="2209800"/>
          </a:xfrm>
          <a:prstGeom prst="rect">
            <a:avLst/>
          </a:prstGeom>
          <a:ln w="12700">
            <a:miter lim="400000"/>
          </a:ln>
        </p:spPr>
      </p:pic>
      <p:pic>
        <p:nvPicPr>
          <p:cNvPr id="228" name="Picture 4" descr="Picture 4"/>
          <p:cNvPicPr>
            <a:picLocks noChangeAspect="1"/>
          </p:cNvPicPr>
          <p:nvPr/>
        </p:nvPicPr>
        <p:blipFill>
          <a:blip r:embed="rId3">
            <a:extLst/>
          </a:blip>
          <a:stretch>
            <a:fillRect/>
          </a:stretch>
        </p:blipFill>
        <p:spPr>
          <a:xfrm>
            <a:off x="304800" y="3352798"/>
            <a:ext cx="2743200" cy="3260994"/>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Title 1"/>
          <p:cNvSpPr txBox="1"/>
          <p:nvPr>
            <p:ph type="title"/>
          </p:nvPr>
        </p:nvSpPr>
        <p:spPr>
          <a:xfrm>
            <a:off x="533400" y="743712"/>
            <a:ext cx="8229600" cy="551688"/>
          </a:xfrm>
          <a:prstGeom prst="rect">
            <a:avLst/>
          </a:prstGeom>
        </p:spPr>
        <p:txBody>
          <a:bodyPr/>
          <a:lstStyle>
            <a:lvl1pPr>
              <a:defRPr sz="3200" u="sng"/>
            </a:lvl1pPr>
          </a:lstStyle>
          <a:p>
            <a:pPr/>
            <a:r>
              <a:t>The Transistor as A Switch</a:t>
            </a:r>
          </a:p>
        </p:txBody>
      </p:sp>
      <p:pic>
        <p:nvPicPr>
          <p:cNvPr id="231" name="Picture 4" descr="Picture 4"/>
          <p:cNvPicPr>
            <a:picLocks noChangeAspect="1"/>
          </p:cNvPicPr>
          <p:nvPr/>
        </p:nvPicPr>
        <p:blipFill>
          <a:blip r:embed="rId2">
            <a:extLst/>
          </a:blip>
          <a:stretch>
            <a:fillRect/>
          </a:stretch>
        </p:blipFill>
        <p:spPr>
          <a:xfrm>
            <a:off x="609600" y="3505200"/>
            <a:ext cx="7572964" cy="2133600"/>
          </a:xfrm>
          <a:prstGeom prst="rect">
            <a:avLst/>
          </a:prstGeom>
          <a:ln w="12700">
            <a:miter lim="400000"/>
          </a:ln>
        </p:spPr>
      </p:pic>
      <p:sp>
        <p:nvSpPr>
          <p:cNvPr id="232" name="Rectangle 5"/>
          <p:cNvSpPr txBox="1"/>
          <p:nvPr/>
        </p:nvSpPr>
        <p:spPr>
          <a:xfrm>
            <a:off x="533400" y="1523999"/>
            <a:ext cx="7696200" cy="252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While there are limitations as to what we can switch on and off, transistor switches offer lower cost and substantial reliability over conventional mechanical relays. </a:t>
            </a:r>
          </a:p>
          <a:p>
            <a:pPr/>
          </a:p>
          <a:p>
            <a:pPr/>
            <a:r>
              <a:t>The secret to making a transistor switch work properly is to get the transistor in a saturation state</a:t>
            </a:r>
          </a:p>
          <a:p>
            <a:p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4" name="Title 1"/>
          <p:cNvSpPr txBox="1"/>
          <p:nvPr>
            <p:ph type="title"/>
          </p:nvPr>
        </p:nvSpPr>
        <p:spPr>
          <a:xfrm>
            <a:off x="533400" y="743712"/>
            <a:ext cx="8229600" cy="551688"/>
          </a:xfrm>
          <a:prstGeom prst="rect">
            <a:avLst/>
          </a:prstGeom>
        </p:spPr>
        <p:txBody>
          <a:bodyPr/>
          <a:lstStyle>
            <a:lvl1pPr>
              <a:defRPr sz="3200" u="sng"/>
            </a:lvl1pPr>
          </a:lstStyle>
          <a:p>
            <a:pPr/>
            <a:r>
              <a:t>The Transistor as A Amplifier</a:t>
            </a:r>
          </a:p>
        </p:txBody>
      </p:sp>
      <p:sp>
        <p:nvSpPr>
          <p:cNvPr id="235" name="Rectangle 5"/>
          <p:cNvSpPr txBox="1"/>
          <p:nvPr/>
        </p:nvSpPr>
        <p:spPr>
          <a:xfrm>
            <a:off x="457199" y="1447800"/>
            <a:ext cx="3312429" cy="497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vl1pPr>
          </a:lstStyle>
          <a:p>
            <a:pPr/>
            <a:r>
              <a:t>Transistor Connections</a:t>
            </a:r>
          </a:p>
        </p:txBody>
      </p:sp>
      <p:sp>
        <p:nvSpPr>
          <p:cNvPr id="236" name="Rectangle 6"/>
          <p:cNvSpPr txBox="1"/>
          <p:nvPr/>
        </p:nvSpPr>
        <p:spPr>
          <a:xfrm>
            <a:off x="533400" y="1981200"/>
            <a:ext cx="5562600" cy="3444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just"/>
            <a:r>
              <a:t>Because an amplifier must have two input and two output terminals, a transistor used as an amplifier must have one of its three terminals common to both input and output as shown on the right. The choice of which terminal is used as the common connection has a marked effect on the performance of the amplifier.</a:t>
            </a:r>
          </a:p>
          <a:p>
            <a:pPr algn="just"/>
          </a:p>
          <a:p>
            <a:pPr algn="just"/>
            <a:r>
              <a:t>There are three connection modes:</a:t>
            </a:r>
          </a:p>
          <a:p>
            <a:pPr marL="461962" indent="-461962" algn="just">
              <a:buSzPct val="100000"/>
              <a:buFont typeface="Arial"/>
              <a:buChar char="•"/>
            </a:pPr>
            <a:r>
              <a:t>Comm0n Emitter Mode</a:t>
            </a:r>
          </a:p>
          <a:p>
            <a:pPr marL="461962" indent="-461962" algn="just">
              <a:buSzPct val="100000"/>
              <a:buFont typeface="Arial"/>
              <a:buChar char="•"/>
            </a:pPr>
            <a:r>
              <a:t>Common Collector Mode</a:t>
            </a:r>
          </a:p>
          <a:p>
            <a:pPr marL="461962" indent="-461962" algn="just">
              <a:buSzPct val="100000"/>
              <a:buFont typeface="Arial"/>
              <a:buChar char="•"/>
            </a:pPr>
            <a:r>
              <a:t>Common Base Mode</a:t>
            </a:r>
          </a:p>
        </p:txBody>
      </p:sp>
      <p:pic>
        <p:nvPicPr>
          <p:cNvPr id="237" name="Picture 7" descr="Picture 7"/>
          <p:cNvPicPr>
            <a:picLocks noChangeAspect="1"/>
          </p:cNvPicPr>
          <p:nvPr/>
        </p:nvPicPr>
        <p:blipFill>
          <a:blip r:embed="rId2">
            <a:extLst/>
          </a:blip>
          <a:stretch>
            <a:fillRect/>
          </a:stretch>
        </p:blipFill>
        <p:spPr>
          <a:xfrm>
            <a:off x="6085113" y="2133600"/>
            <a:ext cx="3058887" cy="1295400"/>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Title 1"/>
          <p:cNvSpPr txBox="1"/>
          <p:nvPr>
            <p:ph type="title"/>
          </p:nvPr>
        </p:nvSpPr>
        <p:spPr>
          <a:xfrm>
            <a:off x="533400" y="743712"/>
            <a:ext cx="8229600" cy="551688"/>
          </a:xfrm>
          <a:prstGeom prst="rect">
            <a:avLst/>
          </a:prstGeom>
        </p:spPr>
        <p:txBody>
          <a:bodyPr/>
          <a:lstStyle>
            <a:lvl1pPr>
              <a:defRPr sz="3200" u="sng"/>
            </a:lvl1pPr>
          </a:lstStyle>
          <a:p>
            <a:pPr/>
            <a:r>
              <a:t>The Transistor as A Amplifier</a:t>
            </a:r>
          </a:p>
        </p:txBody>
      </p:sp>
      <p:graphicFrame>
        <p:nvGraphicFramePr>
          <p:cNvPr id="240" name="Table 7"/>
          <p:cNvGraphicFramePr/>
          <p:nvPr/>
        </p:nvGraphicFramePr>
        <p:xfrm>
          <a:off x="533400" y="1905000"/>
          <a:ext cx="7315200" cy="2514602"/>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828800"/>
                <a:gridCol w="1828800"/>
                <a:gridCol w="1828800"/>
                <a:gridCol w="1828800"/>
              </a:tblGrid>
              <a:tr h="496932">
                <a:tc>
                  <a:txBody>
                    <a:bodyPr/>
                    <a:lstStyle/>
                    <a:p>
                      <a:pPr algn="l">
                        <a:defRPr sz="1800"/>
                      </a:pPr>
                      <a:r>
                        <a:rPr sz="1600"/>
                        <a:t>Parameter</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Common Emitter</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Common Collector</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Common Base</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r>
              <a:tr h="421565">
                <a:tc>
                  <a:txBody>
                    <a:bodyPr/>
                    <a:lstStyle/>
                    <a:p>
                      <a:pPr algn="l">
                        <a:defRPr sz="1800"/>
                      </a:pPr>
                      <a:r>
                        <a:rPr sz="1600"/>
                        <a:t>Voltage gain Av</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High (about 100)</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Unity (1)</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Medium (10-50)</a:t>
                      </a:r>
                    </a:p>
                  </a:txBody>
                  <a:tcPr marL="45720" marR="45720" marT="45720" marB="45720" anchor="ctr" anchorCtr="0" horzOverflow="overflow">
                    <a:lnL w="12700">
                      <a:miter lim="400000"/>
                    </a:lnL>
                    <a:lnR w="12700">
                      <a:miter lim="400000"/>
                    </a:lnR>
                    <a:lnT w="12700">
                      <a:miter lim="400000"/>
                    </a:lnT>
                    <a:lnB w="12700">
                      <a:miter lim="400000"/>
                    </a:lnB>
                    <a:noFill/>
                  </a:tcPr>
                </a:tc>
              </a:tr>
              <a:tr h="496932">
                <a:tc>
                  <a:txBody>
                    <a:bodyPr/>
                    <a:lstStyle/>
                    <a:p>
                      <a:pPr algn="l">
                        <a:defRPr sz="1800"/>
                      </a:pPr>
                      <a:r>
                        <a:rPr sz="1600"/>
                        <a:t>Current Gain</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High (50 - 800)</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High (50 -800)</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Less than unity (&lt;1)</a:t>
                      </a:r>
                    </a:p>
                  </a:txBody>
                  <a:tcPr marL="45720" marR="45720" marT="45720" marB="45720" anchor="ctr" anchorCtr="0" horzOverflow="overflow">
                    <a:lnL w="12700">
                      <a:miter lim="400000"/>
                    </a:lnL>
                    <a:lnR w="12700">
                      <a:miter lim="400000"/>
                    </a:lnR>
                    <a:lnT w="12700">
                      <a:miter lim="400000"/>
                    </a:lnT>
                    <a:lnB w="12700">
                      <a:miter lim="400000"/>
                    </a:lnB>
                    <a:noFill/>
                  </a:tcPr>
                </a:tc>
              </a:tr>
              <a:tr h="496932">
                <a:tc>
                  <a:txBody>
                    <a:bodyPr/>
                    <a:lstStyle/>
                    <a:p>
                      <a:pPr algn="l">
                        <a:defRPr sz="1800"/>
                      </a:pPr>
                      <a:r>
                        <a:rPr sz="1600"/>
                        <a:t>Input Impedance</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Medium (about 3 to 5k)</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High (several k)</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Low (about 50R)</a:t>
                      </a:r>
                    </a:p>
                  </a:txBody>
                  <a:tcPr marL="45720" marR="45720" marT="45720" marB="45720" anchor="ctr" anchorCtr="0" horzOverflow="overflow">
                    <a:lnL w="12700">
                      <a:miter lim="400000"/>
                    </a:lnL>
                    <a:lnR w="12700">
                      <a:miter lim="400000"/>
                    </a:lnR>
                    <a:lnT w="12700">
                      <a:miter lim="400000"/>
                    </a:lnT>
                    <a:lnB w="12700">
                      <a:miter lim="400000"/>
                    </a:lnB>
                    <a:noFill/>
                  </a:tcPr>
                </a:tc>
              </a:tr>
              <a:tr h="602238">
                <a:tc>
                  <a:txBody>
                    <a:bodyPr/>
                    <a:lstStyle/>
                    <a:p>
                      <a:pPr algn="l">
                        <a:defRPr sz="1800"/>
                      </a:pPr>
                      <a:r>
                        <a:rPr sz="1600"/>
                        <a:t>Output Impedance</a:t>
                      </a:r>
                    </a:p>
                  </a:txBody>
                  <a:tcPr marL="45720" marR="45720" marT="45720" marB="45720" anchor="ctr" anchorCtr="0" horzOverflow="overflow">
                    <a:lnL w="12700">
                      <a:miter lim="400000"/>
                    </a:lnL>
                    <a:lnR w="12700">
                      <a:miter lim="400000"/>
                    </a:lnR>
                    <a:lnT w="12700">
                      <a:miter lim="400000"/>
                    </a:lnT>
                    <a:lnB w="12700">
                      <a:miter lim="400000"/>
                    </a:lnB>
                    <a:solidFill>
                      <a:srgbClr val="99CCFF"/>
                    </a:solidFill>
                  </a:tcPr>
                </a:tc>
                <a:tc>
                  <a:txBody>
                    <a:bodyPr/>
                    <a:lstStyle/>
                    <a:p>
                      <a:pPr algn="l">
                        <a:defRPr sz="1800"/>
                      </a:pPr>
                      <a:r>
                        <a:rPr sz="1600"/>
                        <a:t>Medium, Approx = Load resistor value</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Low (a few ohms)</a:t>
                      </a:r>
                    </a:p>
                  </a:txBody>
                  <a:tcPr marL="45720" marR="45720" marT="45720" marB="45720" anchor="ctr" anchorCtr="0" horzOverflow="overflow">
                    <a:lnL w="12700">
                      <a:miter lim="400000"/>
                    </a:lnL>
                    <a:lnR w="12700">
                      <a:miter lim="400000"/>
                    </a:lnR>
                    <a:lnT w="12700">
                      <a:miter lim="400000"/>
                    </a:lnT>
                    <a:lnB w="12700">
                      <a:miter lim="400000"/>
                    </a:lnB>
                    <a:noFill/>
                  </a:tcPr>
                </a:tc>
                <a:tc>
                  <a:txBody>
                    <a:bodyPr/>
                    <a:lstStyle/>
                    <a:p>
                      <a:pPr algn="l">
                        <a:defRPr sz="1800"/>
                      </a:pPr>
                      <a:r>
                        <a:rPr sz="1600"/>
                        <a:t>High (about 1M)</a:t>
                      </a:r>
                    </a:p>
                  </a:txBody>
                  <a:tcPr marL="45720" marR="45720" marT="45720" marB="45720" anchor="ctr" anchorCtr="0" horzOverflow="overflow">
                    <a:lnL w="12700">
                      <a:miter lim="400000"/>
                    </a:lnL>
                    <a:lnR w="12700">
                      <a:miter lim="400000"/>
                    </a:lnR>
                    <a:lnT w="12700">
                      <a:miter lim="400000"/>
                    </a:lnT>
                    <a:lnB w="12700">
                      <a:miter lim="400000"/>
                    </a:lnB>
                    <a:noFill/>
                  </a:tcPr>
                </a:tc>
              </a:tr>
            </a:tbl>
          </a:graphicData>
        </a:graphic>
      </p:graphicFrame>
      <p:sp>
        <p:nvSpPr>
          <p:cNvPr id="241" name="TextBox 5"/>
          <p:cNvSpPr txBox="1"/>
          <p:nvPr/>
        </p:nvSpPr>
        <p:spPr>
          <a:xfrm>
            <a:off x="457200" y="1371600"/>
            <a:ext cx="8077200" cy="497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vl1pPr>
          </a:lstStyle>
          <a:p>
            <a:pPr/>
            <a:r>
              <a:t>Summary of the three types transistor connection</a:t>
            </a:r>
          </a:p>
        </p:txBody>
      </p:sp>
      <p:pic>
        <p:nvPicPr>
          <p:cNvPr id="242" name="Picture 3" descr="Picture 3"/>
          <p:cNvPicPr>
            <a:picLocks noChangeAspect="1"/>
          </p:cNvPicPr>
          <p:nvPr/>
        </p:nvPicPr>
        <p:blipFill>
          <a:blip r:embed="rId2">
            <a:extLst/>
          </a:blip>
          <a:stretch>
            <a:fillRect/>
          </a:stretch>
        </p:blipFill>
        <p:spPr>
          <a:xfrm>
            <a:off x="1841694" y="4900245"/>
            <a:ext cx="2009776" cy="1560078"/>
          </a:xfrm>
          <a:prstGeom prst="rect">
            <a:avLst/>
          </a:prstGeom>
          <a:ln w="12700">
            <a:miter lim="400000"/>
          </a:ln>
        </p:spPr>
      </p:pic>
      <p:pic>
        <p:nvPicPr>
          <p:cNvPr id="243" name="Picture 4" descr="Picture 4"/>
          <p:cNvPicPr>
            <a:picLocks noChangeAspect="1"/>
          </p:cNvPicPr>
          <p:nvPr/>
        </p:nvPicPr>
        <p:blipFill>
          <a:blip r:embed="rId2">
            <a:extLst/>
          </a:blip>
          <a:stretch>
            <a:fillRect/>
          </a:stretch>
        </p:blipFill>
        <p:spPr>
          <a:xfrm>
            <a:off x="4038600" y="4872109"/>
            <a:ext cx="1979296" cy="1536418"/>
          </a:xfrm>
          <a:prstGeom prst="rect">
            <a:avLst/>
          </a:prstGeom>
          <a:ln w="12700">
            <a:miter lim="400000"/>
          </a:ln>
        </p:spPr>
      </p:pic>
      <p:pic>
        <p:nvPicPr>
          <p:cNvPr id="244" name="Picture 5" descr="Picture 5"/>
          <p:cNvPicPr>
            <a:picLocks noChangeAspect="1"/>
          </p:cNvPicPr>
          <p:nvPr/>
        </p:nvPicPr>
        <p:blipFill>
          <a:blip r:embed="rId3">
            <a:extLst/>
          </a:blip>
          <a:stretch>
            <a:fillRect/>
          </a:stretch>
        </p:blipFill>
        <p:spPr>
          <a:xfrm>
            <a:off x="6096000" y="4796752"/>
            <a:ext cx="2067120" cy="1604048"/>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Title 1"/>
          <p:cNvSpPr txBox="1"/>
          <p:nvPr>
            <p:ph type="title"/>
          </p:nvPr>
        </p:nvSpPr>
        <p:spPr>
          <a:xfrm>
            <a:off x="533400" y="743712"/>
            <a:ext cx="8229600" cy="551688"/>
          </a:xfrm>
          <a:prstGeom prst="rect">
            <a:avLst/>
          </a:prstGeom>
        </p:spPr>
        <p:txBody>
          <a:bodyPr/>
          <a:lstStyle>
            <a:lvl1pPr>
              <a:defRPr sz="3200" u="sng"/>
            </a:lvl1pPr>
          </a:lstStyle>
          <a:p>
            <a:pPr/>
            <a:r>
              <a:t>Several Comments about Transistor</a:t>
            </a:r>
          </a:p>
        </p:txBody>
      </p:sp>
      <p:sp>
        <p:nvSpPr>
          <p:cNvPr id="247" name="TextBox 2"/>
          <p:cNvSpPr txBox="1"/>
          <p:nvPr/>
        </p:nvSpPr>
        <p:spPr>
          <a:xfrm>
            <a:off x="533400" y="1600199"/>
            <a:ext cx="6400800" cy="3749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buSzPct val="100000"/>
              <a:buFont typeface="Arial"/>
              <a:buChar char="•"/>
            </a:pPr>
            <a:r>
              <a:t>Bipolar transistor consists of two PN junctions, with two types: NPN and PNP</a:t>
            </a:r>
          </a:p>
          <a:p>
            <a:pPr marL="123825" indent="-123825">
              <a:buSzPct val="100000"/>
              <a:buFont typeface="Arial"/>
              <a:buChar char="•"/>
            </a:pPr>
            <a:r>
              <a:t> BJT is a current control device.</a:t>
            </a:r>
          </a:p>
          <a:p>
            <a:pPr marL="161925" indent="-161925">
              <a:buSzPct val="100000"/>
              <a:buFont typeface="Arial"/>
              <a:buChar char="•"/>
            </a:pPr>
            <a:r>
              <a:t>The ratio of currents leads to one of the most important parameters of a transistor, which is its “current gain”, often referred to as its “Beta”.</a:t>
            </a:r>
          </a:p>
          <a:p>
            <a:pPr marL="161925" indent="-161925"/>
            <a:r>
              <a:t>   </a:t>
            </a:r>
          </a:p>
          <a:p>
            <a:pPr marL="161925" indent="-161925"/>
          </a:p>
          <a:p>
            <a:pPr marL="161925" indent="-161925"/>
          </a:p>
          <a:p>
            <a:pPr marL="171450" indent="-171450">
              <a:buSzPct val="100000"/>
              <a:buFont typeface="Arial"/>
              <a:buChar char="•"/>
            </a:pPr>
            <a:r>
              <a:t>BJT itself does not generate extra energy for amplifying, it just uses small  current change to control big current change, which comes from the power supply.</a:t>
            </a:r>
          </a:p>
        </p:txBody>
      </p:sp>
      <p:pic>
        <p:nvPicPr>
          <p:cNvPr id="248" name="Object 2" descr="Object 2"/>
          <p:cNvPicPr>
            <a:picLocks noChangeAspect="1"/>
          </p:cNvPicPr>
          <p:nvPr/>
        </p:nvPicPr>
        <p:blipFill>
          <a:blip r:embed="rId2">
            <a:extLst/>
          </a:blip>
          <a:stretch>
            <a:fillRect/>
          </a:stretch>
        </p:blipFill>
        <p:spPr>
          <a:xfrm>
            <a:off x="762000" y="3276600"/>
            <a:ext cx="920750" cy="846095"/>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50" name="Title 1"/>
          <p:cNvSpPr txBox="1"/>
          <p:nvPr>
            <p:ph type="title"/>
          </p:nvPr>
        </p:nvSpPr>
        <p:spPr>
          <a:xfrm>
            <a:off x="533400" y="743712"/>
            <a:ext cx="8229600" cy="551688"/>
          </a:xfrm>
          <a:prstGeom prst="rect">
            <a:avLst/>
          </a:prstGeom>
        </p:spPr>
        <p:txBody>
          <a:bodyPr/>
          <a:lstStyle>
            <a:lvl1pPr>
              <a:defRPr sz="3200" u="sng"/>
            </a:lvl1pPr>
          </a:lstStyle>
          <a:p>
            <a:pPr/>
            <a:r>
              <a:t>The Common Emitter Amplifier </a:t>
            </a:r>
          </a:p>
        </p:txBody>
      </p:sp>
      <p:sp>
        <p:nvSpPr>
          <p:cNvPr id="251" name="Content Placeholder 4"/>
          <p:cNvSpPr txBox="1"/>
          <p:nvPr>
            <p:ph type="body" idx="1"/>
          </p:nvPr>
        </p:nvSpPr>
        <p:spPr>
          <a:xfrm>
            <a:off x="457200" y="1447800"/>
            <a:ext cx="8229600" cy="4876800"/>
          </a:xfrm>
          <a:prstGeom prst="rect">
            <a:avLst/>
          </a:prstGeom>
        </p:spPr>
        <p:txBody>
          <a:bodyPr/>
          <a:lstStyle/>
          <a:p>
            <a:pPr>
              <a:defRPr>
                <a:latin typeface="+mj-lt"/>
                <a:ea typeface="+mj-ea"/>
                <a:cs typeface="+mj-cs"/>
                <a:sym typeface="Calibri"/>
              </a:defRPr>
            </a:pPr>
            <a:r>
              <a:t>NPN Transistor</a:t>
            </a:r>
          </a:p>
          <a:p>
            <a:pPr marL="461962" indent="-461962">
              <a:buSzTx/>
              <a:buFont typeface="Wingdings 2"/>
              <a:buNone/>
              <a:defRPr>
                <a:latin typeface="+mj-lt"/>
                <a:ea typeface="+mj-ea"/>
                <a:cs typeface="+mj-cs"/>
                <a:sym typeface="Calibri"/>
              </a:defRPr>
            </a:pPr>
            <a:r>
              <a:t>    - </a:t>
            </a:r>
            <a:r>
              <a:rPr sz="2400">
                <a:latin typeface="Constantia"/>
                <a:ea typeface="Constantia"/>
                <a:cs typeface="Constantia"/>
                <a:sym typeface="Constantia"/>
              </a:rPr>
              <a:t>Both the signal source and the load share the emitter lead   as a common connection point </a:t>
            </a:r>
            <a:endParaRPr sz="2400"/>
          </a:p>
          <a:p>
            <a:pPr marL="461962" indent="-461962">
              <a:spcBef>
                <a:spcPts val="500"/>
              </a:spcBef>
              <a:buSzTx/>
              <a:buFont typeface="Wingdings 2"/>
              <a:buNone/>
              <a:defRPr sz="2400">
                <a:latin typeface="+mj-lt"/>
                <a:ea typeface="+mj-ea"/>
                <a:cs typeface="+mj-cs"/>
                <a:sym typeface="Calibri"/>
              </a:defRPr>
            </a:pPr>
            <a:r>
              <a:t>     - </a:t>
            </a:r>
            <a:r>
              <a:rPr>
                <a:latin typeface="Constantia"/>
                <a:ea typeface="Constantia"/>
                <a:cs typeface="Constantia"/>
                <a:sym typeface="Constantia"/>
              </a:rPr>
              <a:t>The common emitter configuration lends itself to voltage amplification and is the most common configuration for transistor amplifiers.</a:t>
            </a:r>
          </a:p>
          <a:p>
            <a:pPr>
              <a:buSzTx/>
              <a:buFont typeface="Wingdings 2"/>
              <a:buNone/>
              <a:defRPr>
                <a:latin typeface="+mj-lt"/>
                <a:ea typeface="+mj-ea"/>
                <a:cs typeface="+mj-cs"/>
                <a:sym typeface="Calibri"/>
              </a:defRPr>
            </a:pPr>
            <a:r>
              <a:t>    </a:t>
            </a:r>
          </a:p>
        </p:txBody>
      </p:sp>
      <p:pic>
        <p:nvPicPr>
          <p:cNvPr id="252" name="Picture 7" descr="Picture 7"/>
          <p:cNvPicPr>
            <a:picLocks noChangeAspect="1"/>
          </p:cNvPicPr>
          <p:nvPr/>
        </p:nvPicPr>
        <p:blipFill>
          <a:blip r:embed="rId2">
            <a:extLst/>
          </a:blip>
          <a:stretch>
            <a:fillRect/>
          </a:stretch>
        </p:blipFill>
        <p:spPr>
          <a:xfrm>
            <a:off x="1143000" y="4343400"/>
            <a:ext cx="2650415" cy="2057400"/>
          </a:xfrm>
          <a:prstGeom prst="rect">
            <a:avLst/>
          </a:prstGeom>
          <a:ln w="12700">
            <a:miter lim="400000"/>
          </a:ln>
        </p:spPr>
      </p:pic>
      <p:grpSp>
        <p:nvGrpSpPr>
          <p:cNvPr id="256" name="Group 10"/>
          <p:cNvGrpSpPr/>
          <p:nvPr/>
        </p:nvGrpSpPr>
        <p:grpSpPr>
          <a:xfrm>
            <a:off x="4086519" y="3943350"/>
            <a:ext cx="3990681" cy="2609850"/>
            <a:chOff x="0" y="0"/>
            <a:chExt cx="3990680" cy="2609850"/>
          </a:xfrm>
        </p:grpSpPr>
        <p:pic>
          <p:nvPicPr>
            <p:cNvPr id="253" name="Picture 6" descr="Picture 6"/>
            <p:cNvPicPr>
              <a:picLocks noChangeAspect="1"/>
            </p:cNvPicPr>
            <p:nvPr/>
          </p:nvPicPr>
          <p:blipFill>
            <a:blip r:embed="rId3">
              <a:extLst/>
            </a:blip>
            <a:stretch>
              <a:fillRect/>
            </a:stretch>
          </p:blipFill>
          <p:spPr>
            <a:xfrm>
              <a:off x="28281" y="0"/>
              <a:ext cx="3962400" cy="2609850"/>
            </a:xfrm>
            <a:prstGeom prst="rect">
              <a:avLst/>
            </a:prstGeom>
            <a:ln w="12700" cap="flat">
              <a:noFill/>
              <a:miter lim="400000"/>
            </a:ln>
            <a:effectLst/>
          </p:spPr>
        </p:pic>
        <p:sp>
          <p:nvSpPr>
            <p:cNvPr id="254" name="Rectangle 8"/>
            <p:cNvSpPr/>
            <p:nvPr/>
          </p:nvSpPr>
          <p:spPr>
            <a:xfrm>
              <a:off x="2847680" y="95837"/>
              <a:ext cx="1066800" cy="457201"/>
            </a:xfrm>
            <a:prstGeom prst="rect">
              <a:avLst/>
            </a:prstGeom>
            <a:solidFill>
              <a:srgbClr val="FFFFFF"/>
            </a:solid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255" name="Rounded Rectangle 9"/>
            <p:cNvSpPr/>
            <p:nvPr/>
          </p:nvSpPr>
          <p:spPr>
            <a:xfrm>
              <a:off x="0" y="1952135"/>
              <a:ext cx="1066800" cy="609601"/>
            </a:xfrm>
            <a:prstGeom prst="roundRect">
              <a:avLst>
                <a:gd name="adj" fmla="val 16667"/>
              </a:avLst>
            </a:prstGeom>
            <a:solidFill>
              <a:srgbClr val="FFFFFF"/>
            </a:solid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000FF"/>
      </a:accent1>
      <a:accent2>
        <a:srgbClr val="00008F"/>
      </a:accent2>
      <a:accent3>
        <a:srgbClr val="00006E"/>
      </a:accent3>
      <a:accent4>
        <a:srgbClr val="00004D"/>
      </a:accent4>
      <a:accent5>
        <a:srgbClr val="00002B"/>
      </a:accent5>
      <a:accent6>
        <a:srgbClr val="00000A"/>
      </a:accent6>
      <a:hlink>
        <a:srgbClr val="0000FF"/>
      </a:hlink>
      <a:folHlink>
        <a:srgbClr val="FF00FF"/>
      </a:folHlink>
    </a:clrScheme>
    <a:fontScheme name="Flow">
      <a:majorFont>
        <a:latin typeface="Calibri"/>
        <a:ea typeface="Calibri"/>
        <a:cs typeface="Calibri"/>
      </a:majorFont>
      <a:minorFont>
        <a:latin typeface="Helvetica"/>
        <a:ea typeface="Helvetica"/>
        <a:cs typeface="Helvetic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00055">
                <a:alpha val="48000"/>
              </a:srgbClr>
            </a:outerShdw>
          </a:effectLst>
        </a:effectStyle>
        <a:effectStyle>
          <a:effectLst>
            <a:outerShdw sx="100000" sy="100000" kx="0" ky="0" algn="b" rotWithShape="0" blurRad="63500" dist="38100" dir="5400000">
              <a:srgbClr val="000055">
                <a:alpha val="48000"/>
              </a:srgbClr>
            </a:outerShdw>
          </a:effectLst>
        </a:effectStyle>
        <a:effectStyle>
          <a:effectLst>
            <a:outerShdw sx="100000" sy="100000" kx="0" ky="0" algn="b" rotWithShape="0" blurRad="63500" dist="38100" dir="5400000">
              <a:srgbClr val="000055">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00055">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00055">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A7A7A7"/>
      </a:dk2>
      <a:lt2>
        <a:srgbClr val="535353"/>
      </a:lt2>
      <a:accent1>
        <a:srgbClr val="0000FF"/>
      </a:accent1>
      <a:accent2>
        <a:srgbClr val="00008F"/>
      </a:accent2>
      <a:accent3>
        <a:srgbClr val="00006E"/>
      </a:accent3>
      <a:accent4>
        <a:srgbClr val="00004D"/>
      </a:accent4>
      <a:accent5>
        <a:srgbClr val="00002B"/>
      </a:accent5>
      <a:accent6>
        <a:srgbClr val="00000A"/>
      </a:accent6>
      <a:hlink>
        <a:srgbClr val="0000FF"/>
      </a:hlink>
      <a:folHlink>
        <a:srgbClr val="FF00FF"/>
      </a:folHlink>
    </a:clrScheme>
    <a:fontScheme name="Flow">
      <a:majorFont>
        <a:latin typeface="Calibri"/>
        <a:ea typeface="Calibri"/>
        <a:cs typeface="Calibri"/>
      </a:majorFont>
      <a:minorFont>
        <a:latin typeface="Helvetica"/>
        <a:ea typeface="Helvetica"/>
        <a:cs typeface="Helvetica"/>
      </a:minorFont>
    </a:fontScheme>
    <a:fmtScheme name="Flow">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63500" dist="38100" dir="5400000">
              <a:srgbClr val="000055">
                <a:alpha val="48000"/>
              </a:srgbClr>
            </a:outerShdw>
          </a:effectLst>
        </a:effectStyle>
        <a:effectStyle>
          <a:effectLst>
            <a:outerShdw sx="100000" sy="100000" kx="0" ky="0" algn="b" rotWithShape="0" blurRad="63500" dist="38100" dir="5400000">
              <a:srgbClr val="000055">
                <a:alpha val="48000"/>
              </a:srgbClr>
            </a:outerShdw>
          </a:effectLst>
        </a:effectStyle>
        <a:effectStyle>
          <a:effectLst>
            <a:outerShdw sx="100000" sy="100000" kx="0" ky="0" algn="b" rotWithShape="0" blurRad="63500" dist="38100" dir="5400000">
              <a:srgbClr val="000055">
                <a:alpha val="4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63500" dist="38100" dir="5400000">
            <a:srgbClr val="000055">
              <a:alpha val="48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63500" dist="38100" dir="5400000">
            <a:srgbClr val="000055">
              <a:alpha val="4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onstantia"/>
            <a:ea typeface="Constantia"/>
            <a:cs typeface="Constantia"/>
            <a:sym typeface="Constant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