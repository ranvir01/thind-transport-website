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 b="def" i="def"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7" name="Shape 11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270000" y="50419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"/>
          <p:cNvSpPr/>
          <p:nvPr>
            <p:ph type="pic" idx="13"/>
          </p:nvPr>
        </p:nvSpPr>
        <p:spPr>
          <a:xfrm>
            <a:off x="1625600" y="673100"/>
            <a:ext cx="9753600" cy="5905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1" name="Title Text"/>
          <p:cNvSpPr txBox="1"/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22" name="Body Level One…"/>
          <p:cNvSpPr txBox="1"/>
          <p:nvPr>
            <p:ph type="body" sz="quarter" idx="1"/>
          </p:nvPr>
        </p:nvSpPr>
        <p:spPr>
          <a:xfrm>
            <a:off x="1270000" y="81534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/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/>
          <p:nvPr>
            <p:ph type="pic" sz="half" idx="13"/>
          </p:nvPr>
        </p:nvSpPr>
        <p:spPr>
          <a:xfrm>
            <a:off x="6718300" y="635000"/>
            <a:ext cx="5334000" cy="8216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39" name="Title Text"/>
          <p:cNvSpPr txBox="1"/>
          <p:nvPr>
            <p:ph type="title"/>
          </p:nvPr>
        </p:nvSpPr>
        <p:spPr>
          <a:xfrm>
            <a:off x="952500" y="635000"/>
            <a:ext cx="5334000" cy="39878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40" name="Body Level One…"/>
          <p:cNvSpPr txBox="1"/>
          <p:nvPr>
            <p:ph type="body" sz="quarter" idx="1"/>
          </p:nvPr>
        </p:nvSpPr>
        <p:spPr>
          <a:xfrm>
            <a:off x="952500" y="4724400"/>
            <a:ext cx="5334000" cy="41148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7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/>
          <p:nvPr>
            <p:ph type="pic" sz="half" idx="13"/>
          </p:nvPr>
        </p:nvSpPr>
        <p:spPr>
          <a:xfrm>
            <a:off x="6718300" y="2590800"/>
            <a:ext cx="5334000" cy="6286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6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7" name="Body Level One…"/>
          <p:cNvSpPr txBox="1"/>
          <p:nvPr>
            <p:ph type="body" sz="half" idx="1"/>
          </p:nvPr>
        </p:nvSpPr>
        <p:spPr>
          <a:xfrm>
            <a:off x="952500" y="25908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defRPr sz="2800"/>
            </a:lvl1pPr>
            <a:lvl2pPr marL="685800" indent="-342900">
              <a:spcBef>
                <a:spcPts val="3200"/>
              </a:spcBef>
              <a:defRPr sz="2800"/>
            </a:lvl2pPr>
            <a:lvl3pPr marL="1028700" indent="-342900">
              <a:spcBef>
                <a:spcPts val="3200"/>
              </a:spcBef>
              <a:defRPr sz="2800"/>
            </a:lvl3pPr>
            <a:lvl4pPr marL="1371600" indent="-342900">
              <a:spcBef>
                <a:spcPts val="3200"/>
              </a:spcBef>
              <a:defRPr sz="2800"/>
            </a:lvl4pPr>
            <a:lvl5pPr marL="1714500" indent="-342900">
              <a:spcBef>
                <a:spcPts val="32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/>
          <p:nvPr>
            <p:ph type="sldNum" sz="quarter" idx="2"/>
          </p:nvPr>
        </p:nvSpPr>
        <p:spPr>
          <a:xfrm>
            <a:off x="6328884" y="9296400"/>
            <a:ext cx="340259" cy="3429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/>
          <p:nvPr>
            <p:ph type="body" idx="1"/>
          </p:nvPr>
        </p:nvSpPr>
        <p:spPr>
          <a:xfrm>
            <a:off x="952500" y="1270000"/>
            <a:ext cx="11099800" cy="7213600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/>
          <p:nvPr>
            <p:ph type="pic" sz="quarter" idx="13"/>
          </p:nvPr>
        </p:nvSpPr>
        <p:spPr>
          <a:xfrm>
            <a:off x="6718300" y="5092700"/>
            <a:ext cx="5334000" cy="3771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4" name="Image"/>
          <p:cNvSpPr/>
          <p:nvPr>
            <p:ph type="pic" sz="quarter" idx="14"/>
          </p:nvPr>
        </p:nvSpPr>
        <p:spPr>
          <a:xfrm>
            <a:off x="6718300" y="889000"/>
            <a:ext cx="5334000" cy="3771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5" name="Image"/>
          <p:cNvSpPr/>
          <p:nvPr>
            <p:ph type="pic" sz="half" idx="15"/>
          </p:nvPr>
        </p:nvSpPr>
        <p:spPr>
          <a:xfrm>
            <a:off x="952500" y="889000"/>
            <a:ext cx="5334000" cy="7975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/>
          <p:nvPr>
            <p:ph type="body" sz="quarter" idx="13"/>
          </p:nvPr>
        </p:nvSpPr>
        <p:spPr>
          <a:xfrm>
            <a:off x="1270000" y="6362700"/>
            <a:ext cx="10464800" cy="461366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i="1" sz="2400"/>
            </a:lvl1pPr>
          </a:lstStyle>
          <a:p>
            <a:pPr/>
            <a:r>
              <a:t>–Johnny Appleseed</a:t>
            </a:r>
          </a:p>
        </p:txBody>
      </p:sp>
      <p:sp>
        <p:nvSpPr>
          <p:cNvPr id="94" name="“Type a quote here.”"/>
          <p:cNvSpPr txBox="1"/>
          <p:nvPr>
            <p:ph type="body" sz="quarter" idx="14"/>
          </p:nvPr>
        </p:nvSpPr>
        <p:spPr>
          <a:xfrm>
            <a:off x="1270000" y="4267112"/>
            <a:ext cx="10464800" cy="609776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4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pPr/>
            <a:r>
              <a:t>“Type a quote here.” </a:t>
            </a:r>
          </a:p>
        </p:txBody>
      </p:sp>
      <p:sp>
        <p:nvSpPr>
          <p:cNvPr id="9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/>
          <p:nvPr>
            <p:ph type="pic" idx="13"/>
          </p:nvPr>
        </p:nvSpPr>
        <p:spPr>
          <a:xfrm>
            <a:off x="0" y="0"/>
            <a:ext cx="13004800" cy="9753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952500" y="25908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ransition xmlns:p14="http://schemas.microsoft.com/office/powerpoint/2010/main" spd="med" advClick="1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444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889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333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778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222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2667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3111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3556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4000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e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e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e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e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eg"/><Relationship Id="rId3" Type="http://schemas.openxmlformats.org/officeDocument/2006/relationships/image" Target="../media/image7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e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png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Week 4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Week 4</a:t>
            </a:r>
          </a:p>
        </p:txBody>
      </p:sp>
      <p:sp>
        <p:nvSpPr>
          <p:cNvPr id="120" name="Introduction to Electric Circuits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Introduction to Electric Circuits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Agenda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Agenda</a:t>
            </a:r>
          </a:p>
        </p:txBody>
      </p:sp>
      <p:sp>
        <p:nvSpPr>
          <p:cNvPr id="123" name="Node Analysis (Text 4.1 - 4.4)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11150" indent="-311150" defTabSz="408940">
              <a:spcBef>
                <a:spcPts val="2900"/>
              </a:spcBef>
              <a:defRPr sz="2240"/>
            </a:pPr>
            <a:r>
              <a:t>Node Analysis (Text 4.1 - 4.4)</a:t>
            </a:r>
          </a:p>
          <a:p>
            <a:pPr lvl="1" marL="622300" indent="-311150" defTabSz="408940">
              <a:spcBef>
                <a:spcPts val="2900"/>
              </a:spcBef>
              <a:defRPr sz="1890"/>
            </a:pPr>
            <a:r>
              <a:t>Node Analysis with voltage sources</a:t>
            </a:r>
          </a:p>
          <a:p>
            <a:pPr lvl="1" marL="622300" indent="-311150" defTabSz="408940">
              <a:spcBef>
                <a:spcPts val="2900"/>
              </a:spcBef>
              <a:defRPr sz="1890"/>
            </a:pPr>
            <a:r>
              <a:t>Node Analysis with current sources and voltage sources (independent and dependent sources)</a:t>
            </a:r>
          </a:p>
          <a:p>
            <a:pPr marL="311150" indent="-311150" defTabSz="408940">
              <a:spcBef>
                <a:spcPts val="2900"/>
              </a:spcBef>
              <a:defRPr sz="2240"/>
            </a:pPr>
            <a:r>
              <a:t>Mesh Analysis</a:t>
            </a:r>
          </a:p>
          <a:p>
            <a:pPr lvl="1" marL="622300" indent="-311150" defTabSz="408940">
              <a:spcBef>
                <a:spcPts val="2900"/>
              </a:spcBef>
              <a:defRPr sz="1890"/>
            </a:pPr>
            <a:r>
              <a:t>Mesh Analysis with voltage sources</a:t>
            </a:r>
          </a:p>
          <a:p>
            <a:pPr lvl="1" marL="622300" indent="-311150" defTabSz="408940">
              <a:spcBef>
                <a:spcPts val="2900"/>
              </a:spcBef>
              <a:defRPr sz="1890"/>
            </a:pPr>
            <a:r>
              <a:t>Mesh Analysis with current sources and voltage sources (independent and dependent sources)</a:t>
            </a:r>
          </a:p>
          <a:p>
            <a:pPr marL="262532" indent="-262532" defTabSz="408940">
              <a:spcBef>
                <a:spcPts val="2900"/>
              </a:spcBef>
              <a:defRPr sz="1890"/>
            </a:pPr>
            <a:r>
              <a:t>LTSpice verifications</a:t>
            </a:r>
          </a:p>
          <a:p>
            <a:pPr marL="0" indent="0" defTabSz="408940">
              <a:spcBef>
                <a:spcPts val="2900"/>
              </a:spcBef>
              <a:buSzTx/>
              <a:buNone/>
              <a:defRPr sz="1890"/>
            </a:pPr>
            <a:r>
              <a:t>(DESIGN PROBLEM CONCEPT TO RECALL: BOUNDARY CONDITIONS)</a:t>
            </a:r>
          </a:p>
          <a:p>
            <a:pPr marL="0" indent="0" defTabSz="408940">
              <a:spcBef>
                <a:spcPts val="2900"/>
              </a:spcBef>
              <a:buSzTx/>
              <a:buNone/>
              <a:defRPr sz="1890"/>
            </a:pPr>
            <a:r>
              <a:t>Reference: UW, UH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23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Node Analysis Application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96570">
              <a:defRPr sz="6800"/>
            </a:lvl1pPr>
          </a:lstStyle>
          <a:p>
            <a:pPr/>
            <a:r>
              <a:t>Node Analysis Applications</a:t>
            </a:r>
          </a:p>
        </p:txBody>
      </p:sp>
      <p:pic>
        <p:nvPicPr>
          <p:cNvPr id="126" name="Transporting Wind Electricity-L.jpg" descr="Transporting Wind Electricity-L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23614" y="2432050"/>
            <a:ext cx="11357572" cy="546583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round wor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Ground work</a:t>
            </a:r>
          </a:p>
        </p:txBody>
      </p:sp>
      <p:sp>
        <p:nvSpPr>
          <p:cNvPr id="129" name="Node: a place where two or more components meet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Node: a place where two or more components meet</a:t>
            </a:r>
          </a:p>
          <a:p>
            <a:pPr/>
            <a:r>
              <a:t>Essential Node: a place where three or more components meet</a:t>
            </a:r>
          </a:p>
          <a:p>
            <a:pPr/>
            <a:r>
              <a:t>Reference Node: A special essential node that we choose as a reference point for voltages</a:t>
            </a:r>
          </a:p>
          <a:p>
            <a:pPr/>
            <a:r>
              <a:t>Super node: A combination of two or more nodes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Node Analysis: Basic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Node Analysis: Basics</a:t>
            </a:r>
          </a:p>
        </p:txBody>
      </p:sp>
      <p:sp>
        <p:nvSpPr>
          <p:cNvPr id="132" name="Main point to remember: A Node is where two or more components meet. No matter how many wires are connected."/>
          <p:cNvSpPr txBox="1"/>
          <p:nvPr>
            <p:ph type="body" sz="quarter" idx="1"/>
          </p:nvPr>
        </p:nvSpPr>
        <p:spPr>
          <a:xfrm>
            <a:off x="952500" y="2590800"/>
            <a:ext cx="4822627" cy="2448223"/>
          </a:xfrm>
          <a:prstGeom prst="rect">
            <a:avLst/>
          </a:prstGeom>
        </p:spPr>
        <p:txBody>
          <a:bodyPr/>
          <a:lstStyle>
            <a:lvl1pPr marL="0" indent="0" defTabSz="560831">
              <a:spcBef>
                <a:spcPts val="4000"/>
              </a:spcBef>
              <a:buSzTx/>
              <a:buNone/>
              <a:defRPr sz="3072"/>
            </a:lvl1pPr>
          </a:lstStyle>
          <a:p>
            <a:pPr/>
            <a:r>
              <a:t>Main point to remember: A Node is where two or more components meet. No matter how many wires are connected. </a:t>
            </a:r>
          </a:p>
        </p:txBody>
      </p:sp>
      <p:pic>
        <p:nvPicPr>
          <p:cNvPr id="133" name="image3.pdf" descr="image3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858000" y="2933700"/>
            <a:ext cx="5909270" cy="6150465"/>
          </a:xfrm>
          <a:prstGeom prst="rect">
            <a:avLst/>
          </a:prstGeom>
          <a:ln>
            <a:solidFill>
              <a:srgbClr val="FFFFCC"/>
            </a:solidFill>
            <a:miter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Node Analysis: Basic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Node Analysis: Basics</a:t>
            </a:r>
          </a:p>
        </p:txBody>
      </p:sp>
      <p:sp>
        <p:nvSpPr>
          <p:cNvPr id="136" name="Main point to remember: A Node is where two or more components meet. No matter how many wires are connected.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438150">
              <a:spcBef>
                <a:spcPts val="3100"/>
              </a:spcBef>
              <a:buSzTx/>
              <a:buNone/>
              <a:defRPr sz="2400"/>
            </a:pPr>
            <a:r>
              <a:t>Main point to remember: A Node is where two or more components meet. No matter how many wires are connected. </a:t>
            </a:r>
          </a:p>
          <a:p>
            <a:pPr marL="0" indent="0" defTabSz="438150">
              <a:spcBef>
                <a:spcPts val="3100"/>
              </a:spcBef>
              <a:buSzTx/>
              <a:buNone/>
              <a:defRPr sz="2400"/>
            </a:pPr>
            <a:r>
              <a:t>In the example circuit schematic given here, there are three nodes. These nodes are shown in dark blue here.</a:t>
            </a:r>
          </a:p>
          <a:p>
            <a:pPr marL="0" indent="0" defTabSz="438150">
              <a:spcBef>
                <a:spcPts val="3100"/>
              </a:spcBef>
              <a:buSzTx/>
              <a:buNone/>
              <a:defRPr sz="2400"/>
            </a:pPr>
            <a:r>
              <a:t>Some students count more than three nodes in a circuit like this.  When they do, it is usually because they have considered two points connected by a wire to be two nodes. </a:t>
            </a:r>
          </a:p>
        </p:txBody>
      </p:sp>
      <p:pic>
        <p:nvPicPr>
          <p:cNvPr id="137" name="image4.pdf" descr="image4.pdf"/>
          <p:cNvPicPr>
            <a:picLocks noChangeAspect="1"/>
          </p:cNvPicPr>
          <p:nvPr/>
        </p:nvPicPr>
        <p:blipFill>
          <a:blip r:embed="rId2">
            <a:extLst/>
          </a:blip>
          <a:srcRect l="8401" t="0" r="8401" b="0"/>
          <a:stretch>
            <a:fillRect/>
          </a:stretch>
        </p:blipFill>
        <p:spPr>
          <a:xfrm>
            <a:off x="6718300" y="2590800"/>
            <a:ext cx="5334001" cy="62865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image5.pdf" descr="image5.pdf"/>
          <p:cNvPicPr>
            <a:picLocks noChangeAspect="1"/>
          </p:cNvPicPr>
          <p:nvPr>
            <p:ph type="pic" idx="13"/>
          </p:nvPr>
        </p:nvPicPr>
        <p:blipFill>
          <a:blip r:embed="rId2">
            <a:extLst/>
          </a:blip>
          <a:srcRect l="8401" t="0" r="8401" b="0"/>
          <a:stretch>
            <a:fillRect/>
          </a:stretch>
        </p:blipFill>
        <p:spPr>
          <a:xfrm>
            <a:off x="6718300" y="2590800"/>
            <a:ext cx="5334001" cy="6286500"/>
          </a:xfrm>
          <a:prstGeom prst="rect">
            <a:avLst/>
          </a:prstGeom>
        </p:spPr>
      </p:pic>
      <p:sp>
        <p:nvSpPr>
          <p:cNvPr id="140" name="Node Analysis: Basic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Node Analysis: Basics</a:t>
            </a:r>
          </a:p>
        </p:txBody>
      </p:sp>
      <p:sp>
        <p:nvSpPr>
          <p:cNvPr id="141" name="Main point to remember: A Node is where two or more components meet. No matter how many wires are connected.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438150">
              <a:spcBef>
                <a:spcPts val="3100"/>
              </a:spcBef>
              <a:buSzTx/>
              <a:buNone/>
              <a:defRPr sz="2400"/>
            </a:pPr>
            <a:r>
              <a:t>Main point to remember: A Node is where two or more components meet. No matter how many wires are connected. </a:t>
            </a:r>
          </a:p>
          <a:p>
            <a:pPr marL="0" indent="0" defTabSz="438150">
              <a:spcBef>
                <a:spcPts val="3100"/>
              </a:spcBef>
              <a:buSzTx/>
              <a:buNone/>
              <a:defRPr sz="2400"/>
            </a:pPr>
            <a:r>
              <a:t>In the example circuit schematic given here, there are three nodes. These nodes are shown in dark blue here.</a:t>
            </a:r>
          </a:p>
          <a:p>
            <a:pPr marL="0" indent="0" defTabSz="438150">
              <a:spcBef>
                <a:spcPts val="3100"/>
              </a:spcBef>
              <a:buSzTx/>
              <a:buNone/>
              <a:defRPr sz="2400"/>
            </a:pPr>
            <a:r>
              <a:t>Some students count more than three nodes in a circuit like this.  When they do, it is usually because they have considered two points connected by a wire to be two nodes. </a:t>
            </a:r>
          </a:p>
          <a:p>
            <a:pPr marL="293914" indent="-293914" defTabSz="438150">
              <a:spcBef>
                <a:spcPts val="3100"/>
              </a:spcBef>
              <a:defRPr sz="2400"/>
            </a:pPr>
            <a:r>
              <a:t>So this would be wrong</a:t>
            </a:r>
          </a:p>
        </p:txBody>
      </p:sp>
      <p:sp>
        <p:nvSpPr>
          <p:cNvPr id="142" name="Arrow"/>
          <p:cNvSpPr/>
          <p:nvPr/>
        </p:nvSpPr>
        <p:spPr>
          <a:xfrm>
            <a:off x="6319341" y="2635250"/>
            <a:ext cx="932359" cy="599431"/>
          </a:xfrm>
          <a:prstGeom prst="rightArrow">
            <a:avLst>
              <a:gd name="adj1" fmla="val 32000"/>
              <a:gd name="adj2" fmla="val 135595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b="0" sz="2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43" name="Arrow"/>
          <p:cNvSpPr/>
          <p:nvPr/>
        </p:nvSpPr>
        <p:spPr>
          <a:xfrm>
            <a:off x="7983041" y="4794250"/>
            <a:ext cx="932359" cy="599431"/>
          </a:xfrm>
          <a:prstGeom prst="rightArrow">
            <a:avLst>
              <a:gd name="adj1" fmla="val 32000"/>
              <a:gd name="adj2" fmla="val 135595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b="0" sz="2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43" grpId="2"/>
      <p:bldP build="whole" bldLvl="1" animBg="1" rev="0" advAuto="0" spid="142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Node Analysis: Step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Node Analysis: Step 1</a:t>
            </a:r>
          </a:p>
        </p:txBody>
      </p:sp>
      <p:sp>
        <p:nvSpPr>
          <p:cNvPr id="146" name="Pick one node as reference node…"/>
          <p:cNvSpPr txBox="1"/>
          <p:nvPr>
            <p:ph type="body" sz="quarter" idx="1"/>
          </p:nvPr>
        </p:nvSpPr>
        <p:spPr>
          <a:xfrm>
            <a:off x="952500" y="2590800"/>
            <a:ext cx="11099800" cy="1844676"/>
          </a:xfrm>
          <a:prstGeom prst="rect">
            <a:avLst/>
          </a:prstGeom>
        </p:spPr>
        <p:txBody>
          <a:bodyPr/>
          <a:lstStyle/>
          <a:p>
            <a:pPr/>
            <a:r>
              <a:t>Pick one node as reference node</a:t>
            </a:r>
          </a:p>
          <a:p>
            <a:pPr/>
            <a:r>
              <a:t>It’s voltage will be defined/assumed to be zero</a:t>
            </a:r>
          </a:p>
        </p:txBody>
      </p:sp>
      <p:pic>
        <p:nvPicPr>
          <p:cNvPr id="147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660227" y="4475445"/>
            <a:ext cx="7054851" cy="4587310"/>
          </a:xfrm>
          <a:prstGeom prst="rect">
            <a:avLst/>
          </a:prstGeom>
          <a:ln w="12700">
            <a:miter lim="400000"/>
          </a:ln>
        </p:spPr>
      </p:pic>
      <p:sp>
        <p:nvSpPr>
          <p:cNvPr id="148" name="Rounded Rectangle 5"/>
          <p:cNvSpPr/>
          <p:nvPr/>
        </p:nvSpPr>
        <p:spPr>
          <a:xfrm>
            <a:off x="3642404" y="8546455"/>
            <a:ext cx="4735380" cy="573931"/>
          </a:xfrm>
          <a:prstGeom prst="roundRect">
            <a:avLst>
              <a:gd name="adj" fmla="val 7103"/>
            </a:avLst>
          </a:prstGeom>
          <a:ln w="25400">
            <a:solidFill>
              <a:srgbClr val="FF0000"/>
            </a:solidFill>
            <a:prstDash val="dash"/>
          </a:ln>
        </p:spPr>
        <p:txBody>
          <a:bodyPr lIns="45719" rIns="45719" anchor="ctr"/>
          <a:lstStyle/>
          <a:p>
            <a:pPr defTabSz="914400">
              <a:defRPr b="0" sz="1800">
                <a:solidFill>
                  <a:srgbClr val="FFFFFF"/>
                </a:solidFill>
                <a:latin typeface="Constantia"/>
                <a:ea typeface="Constantia"/>
                <a:cs typeface="Constantia"/>
                <a:sym typeface="Constantia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Node Analysis: Step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Node Analysis: Step 2</a:t>
            </a:r>
          </a:p>
        </p:txBody>
      </p:sp>
      <p:sp>
        <p:nvSpPr>
          <p:cNvPr id="151" name="Label the other nodes (Place where two or more components meet)"/>
          <p:cNvSpPr txBox="1"/>
          <p:nvPr>
            <p:ph type="body" sz="quarter" idx="1"/>
          </p:nvPr>
        </p:nvSpPr>
        <p:spPr>
          <a:xfrm>
            <a:off x="952500" y="2590800"/>
            <a:ext cx="11099800" cy="1638945"/>
          </a:xfrm>
          <a:prstGeom prst="rect">
            <a:avLst/>
          </a:prstGeom>
        </p:spPr>
        <p:txBody>
          <a:bodyPr/>
          <a:lstStyle/>
          <a:p>
            <a:pPr/>
            <a:r>
              <a:t>Label the other nodes (Place where two or more components meet)</a:t>
            </a:r>
          </a:p>
        </p:txBody>
      </p:sp>
      <p:pic>
        <p:nvPicPr>
          <p:cNvPr id="152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387600" y="4128662"/>
            <a:ext cx="7810521" cy="539405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Node Analysis: Step 3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Node Analysis: Step 3</a:t>
            </a:r>
          </a:p>
        </p:txBody>
      </p:sp>
      <p:sp>
        <p:nvSpPr>
          <p:cNvPr id="155" name="Label the current through each node and use Ohm’s law and KCL for current equations at the nodes"/>
          <p:cNvSpPr txBox="1"/>
          <p:nvPr>
            <p:ph type="body" sz="quarter" idx="1"/>
          </p:nvPr>
        </p:nvSpPr>
        <p:spPr>
          <a:xfrm>
            <a:off x="952500" y="2590800"/>
            <a:ext cx="11099800" cy="1166367"/>
          </a:xfrm>
          <a:prstGeom prst="rect">
            <a:avLst/>
          </a:prstGeom>
        </p:spPr>
        <p:txBody>
          <a:bodyPr/>
          <a:lstStyle/>
          <a:p>
            <a:pPr/>
            <a:r>
              <a:t>Label the current through each node and use Ohm’s law and KCL for current equations at the nodes</a:t>
            </a:r>
          </a:p>
        </p:txBody>
      </p:sp>
      <p:pic>
        <p:nvPicPr>
          <p:cNvPr id="156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51025" y="3934966"/>
            <a:ext cx="7189986" cy="4675948"/>
          </a:xfrm>
          <a:prstGeom prst="rect">
            <a:avLst/>
          </a:prstGeom>
          <a:ln w="12700">
            <a:miter lim="400000"/>
          </a:ln>
        </p:spPr>
      </p:pic>
      <p:pic>
        <p:nvPicPr>
          <p:cNvPr id="157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880600" y="7188200"/>
            <a:ext cx="2796989" cy="1828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58" name="Picture 2" descr="Pictur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9309100" y="4483100"/>
            <a:ext cx="3420475" cy="1495425"/>
          </a:xfrm>
          <a:prstGeom prst="rect">
            <a:avLst/>
          </a:prstGeom>
          <a:ln w="12700">
            <a:miter lim="400000"/>
          </a:ln>
        </p:spPr>
      </p:pic>
      <p:pic>
        <p:nvPicPr>
          <p:cNvPr id="159" name="Object 6" descr="Object 6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9749337" y="5618162"/>
            <a:ext cx="2540001" cy="6096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Node Analysis: Step 4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Node Analysis: Step 4</a:t>
            </a:r>
          </a:p>
        </p:txBody>
      </p:sp>
      <p:sp>
        <p:nvSpPr>
          <p:cNvPr id="162" name="No equation for i7 as it is same as i1, net source current and solve for Node voltages."/>
          <p:cNvSpPr txBox="1"/>
          <p:nvPr>
            <p:ph type="body" sz="quarter" idx="1"/>
          </p:nvPr>
        </p:nvSpPr>
        <p:spPr>
          <a:xfrm>
            <a:off x="952500" y="2590800"/>
            <a:ext cx="11099800" cy="921892"/>
          </a:xfrm>
          <a:prstGeom prst="rect">
            <a:avLst/>
          </a:prstGeom>
        </p:spPr>
        <p:txBody>
          <a:bodyPr/>
          <a:lstStyle>
            <a:lvl1pPr marL="368934" indent="-368934" defTabSz="484886">
              <a:spcBef>
                <a:spcPts val="3400"/>
              </a:spcBef>
              <a:defRPr sz="2656"/>
            </a:lvl1pPr>
          </a:lstStyle>
          <a:p>
            <a:pPr/>
            <a:r>
              <a:t>No equation for i7 as it is same as i1, net source current and solve for Node voltages.</a:t>
            </a:r>
          </a:p>
        </p:txBody>
      </p:sp>
      <p:pic>
        <p:nvPicPr>
          <p:cNvPr id="163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08025" y="3898900"/>
            <a:ext cx="6417247" cy="4173404"/>
          </a:xfrm>
          <a:prstGeom prst="rect">
            <a:avLst/>
          </a:prstGeom>
          <a:ln w="12700">
            <a:miter lim="400000"/>
          </a:ln>
        </p:spPr>
      </p:pic>
      <p:pic>
        <p:nvPicPr>
          <p:cNvPr id="164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632700" y="3690491"/>
            <a:ext cx="4025773" cy="499751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Example: from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Example: from text</a:t>
            </a:r>
          </a:p>
        </p:txBody>
      </p:sp>
      <p:sp>
        <p:nvSpPr>
          <p:cNvPr id="167" name="Find Va and Vb…"/>
          <p:cNvSpPr txBox="1"/>
          <p:nvPr>
            <p:ph type="body" sz="quarter" idx="1"/>
          </p:nvPr>
        </p:nvSpPr>
        <p:spPr>
          <a:xfrm>
            <a:off x="952500" y="7225208"/>
            <a:ext cx="11099800" cy="1652092"/>
          </a:xfrm>
          <a:prstGeom prst="rect">
            <a:avLst/>
          </a:prstGeom>
        </p:spPr>
        <p:txBody>
          <a:bodyPr/>
          <a:lstStyle/>
          <a:p>
            <a:pPr marL="266700" indent="-266700" defTabSz="350520">
              <a:spcBef>
                <a:spcPts val="2500"/>
              </a:spcBef>
              <a:defRPr sz="1920"/>
            </a:pPr>
            <a:r>
              <a:t>Find Va and Vb </a:t>
            </a:r>
          </a:p>
          <a:p>
            <a:pPr marL="266700" indent="-266700" defTabSz="350520">
              <a:spcBef>
                <a:spcPts val="2500"/>
              </a:spcBef>
              <a:defRPr sz="1920"/>
            </a:pPr>
            <a:r>
              <a:t>We will solve as in the book</a:t>
            </a:r>
          </a:p>
          <a:p>
            <a:pPr marL="266700" indent="-266700" defTabSz="350520">
              <a:spcBef>
                <a:spcPts val="2500"/>
              </a:spcBef>
              <a:defRPr sz="1920"/>
            </a:pPr>
            <a:r>
              <a:t>Two nodes based analysis using a and b, then super node ab. </a:t>
            </a:r>
          </a:p>
        </p:txBody>
      </p:sp>
      <p:pic>
        <p:nvPicPr>
          <p:cNvPr id="168" name="Screen Shot 2019-04-26 at 7.34.39 AM.png" descr="Screen Shot 2019-04-26 at 7.34.39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52414" y="2813496"/>
            <a:ext cx="9299972" cy="3896319"/>
          </a:xfrm>
          <a:prstGeom prst="rect">
            <a:avLst/>
          </a:prstGeom>
          <a:ln w="12700">
            <a:miter lim="400000"/>
          </a:ln>
        </p:spPr>
      </p:pic>
      <p:sp>
        <p:nvSpPr>
          <p:cNvPr id="169" name="Rectangle"/>
          <p:cNvSpPr/>
          <p:nvPr/>
        </p:nvSpPr>
        <p:spPr>
          <a:xfrm>
            <a:off x="5313362" y="3149699"/>
            <a:ext cx="1185665" cy="742851"/>
          </a:xfrm>
          <a:prstGeom prst="rect">
            <a:avLst/>
          </a:prstGeom>
          <a:solidFill>
            <a:srgbClr val="D6E8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b="0" sz="2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Example: from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Example: from text</a:t>
            </a:r>
          </a:p>
        </p:txBody>
      </p:sp>
      <p:sp>
        <p:nvSpPr>
          <p:cNvPr id="172" name="Find Va and Vb…"/>
          <p:cNvSpPr txBox="1"/>
          <p:nvPr>
            <p:ph type="body" sz="quarter" idx="1"/>
          </p:nvPr>
        </p:nvSpPr>
        <p:spPr>
          <a:xfrm>
            <a:off x="952500" y="7225208"/>
            <a:ext cx="11099800" cy="1652092"/>
          </a:xfrm>
          <a:prstGeom prst="rect">
            <a:avLst/>
          </a:prstGeom>
        </p:spPr>
        <p:txBody>
          <a:bodyPr/>
          <a:lstStyle/>
          <a:p>
            <a:pPr marL="266700" indent="-266700" defTabSz="350520">
              <a:spcBef>
                <a:spcPts val="2500"/>
              </a:spcBef>
              <a:defRPr sz="1920"/>
            </a:pPr>
            <a:r>
              <a:t>Find Va and Vb </a:t>
            </a:r>
          </a:p>
          <a:p>
            <a:pPr marL="266700" indent="-266700" defTabSz="350520">
              <a:spcBef>
                <a:spcPts val="2500"/>
              </a:spcBef>
              <a:defRPr sz="1920"/>
            </a:pPr>
            <a:r>
              <a:t>We will solve as in the book</a:t>
            </a:r>
          </a:p>
          <a:p>
            <a:pPr marL="266700" indent="-266700" defTabSz="350520">
              <a:spcBef>
                <a:spcPts val="2500"/>
              </a:spcBef>
              <a:defRPr sz="1920"/>
            </a:pPr>
            <a:r>
              <a:t>Two nodes based analysis using a and b, then super node ab. </a:t>
            </a:r>
          </a:p>
        </p:txBody>
      </p:sp>
      <p:pic>
        <p:nvPicPr>
          <p:cNvPr id="173" name="Screen Shot 2019-04-26 at 7.34.39 AM.png" descr="Screen Shot 2019-04-26 at 7.34.39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52414" y="2813496"/>
            <a:ext cx="9299972" cy="3896319"/>
          </a:xfrm>
          <a:prstGeom prst="rect">
            <a:avLst/>
          </a:prstGeom>
          <a:ln w="12700">
            <a:miter lim="400000"/>
          </a:ln>
        </p:spPr>
      </p:pic>
      <p:sp>
        <p:nvSpPr>
          <p:cNvPr id="174" name="Rectangle"/>
          <p:cNvSpPr/>
          <p:nvPr/>
        </p:nvSpPr>
        <p:spPr>
          <a:xfrm>
            <a:off x="5313362" y="3149699"/>
            <a:ext cx="1185665" cy="742851"/>
          </a:xfrm>
          <a:prstGeom prst="rect">
            <a:avLst/>
          </a:prstGeom>
          <a:solidFill>
            <a:srgbClr val="D6E8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b="0" sz="2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75" name="Line"/>
          <p:cNvSpPr/>
          <p:nvPr/>
        </p:nvSpPr>
        <p:spPr>
          <a:xfrm>
            <a:off x="5596284" y="3106241"/>
            <a:ext cx="227380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b="0" sz="2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76" name="Line"/>
          <p:cNvSpPr/>
          <p:nvPr/>
        </p:nvSpPr>
        <p:spPr>
          <a:xfrm>
            <a:off x="10458651" y="4298546"/>
            <a:ext cx="1" cy="1417354"/>
          </a:xfrm>
          <a:prstGeom prst="line">
            <a:avLst/>
          </a:prstGeom>
          <a:ln w="38100">
            <a:solidFill>
              <a:schemeClr val="accent5">
                <a:lumOff val="-29866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b="0" sz="2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77" name="Line"/>
          <p:cNvSpPr/>
          <p:nvPr/>
        </p:nvSpPr>
        <p:spPr>
          <a:xfrm>
            <a:off x="4299151" y="4298546"/>
            <a:ext cx="1" cy="1417354"/>
          </a:xfrm>
          <a:prstGeom prst="line">
            <a:avLst/>
          </a:prstGeom>
          <a:ln w="38100">
            <a:solidFill>
              <a:schemeClr val="accent5">
                <a:lumOff val="-29866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b="0" sz="2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78" name="ib"/>
          <p:cNvSpPr txBox="1"/>
          <p:nvPr/>
        </p:nvSpPr>
        <p:spPr>
          <a:xfrm>
            <a:off x="10753020" y="4745680"/>
            <a:ext cx="337960" cy="5230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rPr sz="2800"/>
              <a:t>i</a:t>
            </a:r>
            <a:r>
              <a:rPr sz="1700"/>
              <a:t>b</a:t>
            </a:r>
          </a:p>
        </p:txBody>
      </p:sp>
      <p:sp>
        <p:nvSpPr>
          <p:cNvPr id="179" name="ia"/>
          <p:cNvSpPr txBox="1"/>
          <p:nvPr/>
        </p:nvSpPr>
        <p:spPr>
          <a:xfrm>
            <a:off x="4311965" y="4898080"/>
            <a:ext cx="329973" cy="5230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rPr sz="2800"/>
              <a:t>i</a:t>
            </a:r>
            <a:r>
              <a:rPr sz="1700"/>
              <a:t>a</a:t>
            </a:r>
          </a:p>
        </p:txBody>
      </p:sp>
      <p:sp>
        <p:nvSpPr>
          <p:cNvPr id="180" name="is"/>
          <p:cNvSpPr txBox="1"/>
          <p:nvPr/>
        </p:nvSpPr>
        <p:spPr>
          <a:xfrm>
            <a:off x="6341408" y="2519807"/>
            <a:ext cx="321984" cy="5230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rPr sz="2800"/>
              <a:t>i</a:t>
            </a:r>
            <a:r>
              <a:rPr sz="1700"/>
              <a:t>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Verifying Answ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Verifying Answer</a:t>
            </a:r>
          </a:p>
        </p:txBody>
      </p:sp>
      <p:sp>
        <p:nvSpPr>
          <p:cNvPr id="183" name="LT spice circuit"/>
          <p:cNvSpPr txBox="1"/>
          <p:nvPr>
            <p:ph type="body" sz="quarter" idx="1"/>
          </p:nvPr>
        </p:nvSpPr>
        <p:spPr>
          <a:xfrm>
            <a:off x="952500" y="2590800"/>
            <a:ext cx="11099800" cy="1121172"/>
          </a:xfrm>
          <a:prstGeom prst="rect">
            <a:avLst/>
          </a:prstGeom>
        </p:spPr>
        <p:txBody>
          <a:bodyPr/>
          <a:lstStyle/>
          <a:p>
            <a:pPr/>
            <a:r>
              <a:t>LT spice circuit</a:t>
            </a:r>
          </a:p>
        </p:txBody>
      </p:sp>
      <p:pic>
        <p:nvPicPr>
          <p:cNvPr id="184" name="Screen Shot 2019-04-26 at 7.30.16 AM.png" descr="Screen Shot 2019-04-26 at 7.30.16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774851" y="3889771"/>
            <a:ext cx="8104633" cy="549088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elf Readi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Self Reading</a:t>
            </a:r>
          </a:p>
        </p:txBody>
      </p:sp>
      <p:sp>
        <p:nvSpPr>
          <p:cNvPr id="187" name="Node voltage analysis using dependent voltage sources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Node voltage analysis using dependent voltage sources. </a:t>
            </a:r>
          </a:p>
          <a:p>
            <a:pPr/>
            <a:r>
              <a:t>We will discuss it in class on need basis (Section 4.4 from book)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Mesh Current Analysi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Mesh Current Analysis</a:t>
            </a:r>
          </a:p>
        </p:txBody>
      </p:sp>
      <p:sp>
        <p:nvSpPr>
          <p:cNvPr id="190" name="Provide step-by-step instructions for mesh analysis, which is a method to calculate voltage drops and mesh currents that flow around loops in a circuit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Provide step-by-step instructions for mesh analysis, which is a method to calculate voltage drops and mesh currents that flow around loops in a circuit.</a:t>
            </a:r>
          </a:p>
          <a:p>
            <a:pPr/>
            <a:r>
              <a:t>Text Chapter sections 4.4 to Chapter 4.7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What is Mesh Analysis Methodology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84886">
              <a:defRPr sz="6640"/>
            </a:lvl1pPr>
          </a:lstStyle>
          <a:p>
            <a:pPr/>
            <a:r>
              <a:t>What is Mesh Analysis Methodology</a:t>
            </a:r>
          </a:p>
        </p:txBody>
      </p:sp>
      <p:sp>
        <p:nvSpPr>
          <p:cNvPr id="193" name="Technique to find voltage drops around a loop using the currents that flow within the loop, Kirchoff’s Voltage Law, and Ohm’s Law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426719" indent="-426719" defTabSz="560831">
              <a:spcBef>
                <a:spcPts val="4000"/>
              </a:spcBef>
              <a:defRPr sz="3072"/>
            </a:pPr>
            <a:r>
              <a:t>Technique to find voltage drops around a loop using the currents that flow within the loop, Kirchoff’s Voltage Law, and Ohm’s Law</a:t>
            </a:r>
          </a:p>
          <a:p>
            <a:pPr lvl="1" marL="853439" indent="-426719" defTabSz="560831">
              <a:spcBef>
                <a:spcPts val="4000"/>
              </a:spcBef>
              <a:defRPr sz="3072"/>
            </a:pPr>
            <a:r>
              <a:t>First result is the calculation of the mesh currents</a:t>
            </a:r>
          </a:p>
          <a:p>
            <a:pPr lvl="2" marL="1280159" indent="-426719" defTabSz="560831">
              <a:spcBef>
                <a:spcPts val="4000"/>
              </a:spcBef>
              <a:defRPr sz="2688"/>
            </a:pPr>
            <a:r>
              <a:t>Which can be used to calculate the current flowing through each component</a:t>
            </a:r>
          </a:p>
          <a:p>
            <a:pPr lvl="1" marL="853439" indent="-426719" defTabSz="560831">
              <a:spcBef>
                <a:spcPts val="4000"/>
              </a:spcBef>
              <a:defRPr sz="3072"/>
            </a:pPr>
            <a:r>
              <a:t>Second result is a calculation of the voltages across the components</a:t>
            </a:r>
          </a:p>
          <a:p>
            <a:pPr lvl="2" marL="1280159" indent="-426719" defTabSz="560831">
              <a:spcBef>
                <a:spcPts val="4000"/>
              </a:spcBef>
              <a:defRPr sz="2688"/>
            </a:pPr>
            <a:r>
              <a:t>Which can be used to calculate the voltage at the nodes.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What is a Mesh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What is a Mesh</a:t>
            </a:r>
          </a:p>
        </p:txBody>
      </p:sp>
      <p:sp>
        <p:nvSpPr>
          <p:cNvPr id="196" name="Mesh – the smallest loop around a subset of components in a circuit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Mesh – the smallest loop around a subset of components in a circuit</a:t>
            </a:r>
          </a:p>
          <a:p>
            <a:pPr/>
            <a:r>
              <a:t>Multiple meshes are defined so that every component in the circuit belongs to one or more meshes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Step 1: Identify All Mesh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514095">
              <a:defRPr sz="7040"/>
            </a:lvl1pPr>
          </a:lstStyle>
          <a:p>
            <a:pPr/>
            <a:r>
              <a:t>Step 1: Identify All Meshes</a:t>
            </a:r>
          </a:p>
        </p:txBody>
      </p:sp>
      <p:pic>
        <p:nvPicPr>
          <p:cNvPr id="199" name="image2.png" descr="image2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76387" y="2882900"/>
            <a:ext cx="8659389" cy="563047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tep 2: Label all curren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549148">
              <a:defRPr sz="7519"/>
            </a:lvl1pPr>
          </a:lstStyle>
          <a:p>
            <a:pPr/>
            <a:r>
              <a:t>Step 2: Label all currents</a:t>
            </a:r>
          </a:p>
        </p:txBody>
      </p:sp>
      <p:pic>
        <p:nvPicPr>
          <p:cNvPr id="202" name="Screen Shot 2019-04-29 at 10.39.22 AM.png" descr="Screen Shot 2019-04-29 at 10.39.22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27209" y="2448322"/>
            <a:ext cx="9059222" cy="591006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Step 3: Label all voltag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543305">
              <a:defRPr sz="7440"/>
            </a:lvl1pPr>
          </a:lstStyle>
          <a:p>
            <a:pPr/>
            <a:r>
              <a:t>Step 3: Label all voltages</a:t>
            </a:r>
          </a:p>
        </p:txBody>
      </p:sp>
      <p:pic>
        <p:nvPicPr>
          <p:cNvPr id="205" name="Screen Shot 2019-04-29 at 10.46.50 AM.png" descr="Screen Shot 2019-04-29 at 10.46.50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9933" y="2087045"/>
            <a:ext cx="9565186" cy="64431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06" name="image.pdf" descr="image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478837" y="7302500"/>
            <a:ext cx="3763963" cy="16002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tep 4: Start solving for curren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84886">
              <a:defRPr sz="6640"/>
            </a:lvl1pPr>
          </a:lstStyle>
          <a:p>
            <a:pPr/>
            <a:r>
              <a:t>Step 4: Start solving for currents</a:t>
            </a:r>
          </a:p>
        </p:txBody>
      </p:sp>
      <p:pic>
        <p:nvPicPr>
          <p:cNvPr id="209" name="image.pdf" descr="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575800" y="3060700"/>
            <a:ext cx="2806700" cy="43307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10" name="Screen Shot 2019-04-29 at 12.42.37 PM.png" descr="Screen Shot 2019-04-29 at 12.42.37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27608" y="2597150"/>
            <a:ext cx="8153401" cy="52578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tep 5: Solve for Mesh Curren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84886">
              <a:defRPr sz="6640"/>
            </a:lvl1pPr>
          </a:lstStyle>
          <a:p>
            <a:pPr/>
            <a:r>
              <a:t>Step 5: Solve for Mesh Currents</a:t>
            </a:r>
          </a:p>
        </p:txBody>
      </p:sp>
      <p:sp>
        <p:nvSpPr>
          <p:cNvPr id="213" name="Write mesh currents as individual components currents…"/>
          <p:cNvSpPr txBox="1"/>
          <p:nvPr>
            <p:ph type="body" sz="half" idx="1"/>
          </p:nvPr>
        </p:nvSpPr>
        <p:spPr>
          <a:xfrm>
            <a:off x="850900" y="2597150"/>
            <a:ext cx="5334000" cy="6286500"/>
          </a:xfrm>
          <a:prstGeom prst="rect">
            <a:avLst/>
          </a:prstGeom>
        </p:spPr>
        <p:txBody>
          <a:bodyPr/>
          <a:lstStyle/>
          <a:p>
            <a:pPr/>
            <a:r>
              <a:t>Write mesh currents as individual components currents</a:t>
            </a:r>
          </a:p>
          <a:p>
            <a:pPr/>
            <a:r>
              <a:t>Once mesh currents are known we can find voltage across components. </a:t>
            </a:r>
          </a:p>
        </p:txBody>
      </p:sp>
      <p:pic>
        <p:nvPicPr>
          <p:cNvPr id="214" name="image.pdf" descr="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286724" y="3200400"/>
            <a:ext cx="4197152" cy="393482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Example furth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Example further</a:t>
            </a:r>
          </a:p>
        </p:txBody>
      </p:sp>
      <p:pic>
        <p:nvPicPr>
          <p:cNvPr id="217" name="image.png" descr="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9587" y="2248693"/>
            <a:ext cx="10274958" cy="640868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From previous analysi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From previous analysis</a:t>
            </a:r>
          </a:p>
        </p:txBody>
      </p:sp>
      <p:pic>
        <p:nvPicPr>
          <p:cNvPr id="220" name="image.pdf" descr="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87400" y="2844800"/>
            <a:ext cx="4678363" cy="1989138"/>
          </a:xfrm>
          <a:prstGeom prst="rect">
            <a:avLst/>
          </a:prstGeom>
          <a:ln w="12700">
            <a:miter lim="400000"/>
          </a:ln>
        </p:spPr>
      </p:pic>
      <p:pic>
        <p:nvPicPr>
          <p:cNvPr id="221" name="image.pdf" descr="image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934200" y="2711450"/>
            <a:ext cx="2806700" cy="43307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2" name="image.pdf" descr="image.pdf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9313862" y="5003800"/>
            <a:ext cx="3408363" cy="43307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3" name="image.pdf" descr="image.pdf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944562" y="6174581"/>
            <a:ext cx="4899026" cy="198913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23" grpId="2"/>
      <p:bldP build="whole" bldLvl="1" animBg="1" rev="0" advAuto="0" spid="222" grpId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Rearrangi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Rearranging</a:t>
            </a:r>
          </a:p>
        </p:txBody>
      </p:sp>
      <p:pic>
        <p:nvPicPr>
          <p:cNvPr id="226" name="image.pdf" descr="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17600" y="3416300"/>
            <a:ext cx="10545803" cy="2127662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227" name="Table"/>
          <p:cNvGraphicFramePr/>
          <p:nvPr/>
        </p:nvGraphicFramePr>
        <p:xfrm>
          <a:off x="3683000" y="6642100"/>
          <a:ext cx="5942459" cy="1982093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{C7B018BB-80A7-4F77-B60F-C8B233D01FF8}</a:tableStyleId>
              </a:tblPr>
              <a:tblGrid>
                <a:gridCol w="2964879"/>
                <a:gridCol w="2964879"/>
              </a:tblGrid>
              <a:tr h="560516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b="1" sz="2200">
                          <a:solidFill>
                            <a:srgbClr val="FFFFFF"/>
                          </a:solidFill>
                          <a:latin typeface="Palatino"/>
                          <a:ea typeface="Palatino"/>
                          <a:cs typeface="Palatino"/>
                          <a:sym typeface="Palatino"/>
                        </a:rPr>
                        <a:t>Mesh Currents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72A37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b="1" sz="2200">
                          <a:solidFill>
                            <a:srgbClr val="FFFFFF"/>
                          </a:solidFill>
                          <a:latin typeface="Palatino"/>
                          <a:ea typeface="Palatino"/>
                          <a:cs typeface="Palatino"/>
                          <a:sym typeface="Palatino"/>
                        </a:defRPr>
                      </a:pPr>
                      <a:r>
                        <a:t>(</a:t>
                      </a:r>
                      <a:r>
                        <a:rPr b="0">
                          <a:latin typeface="Symbol"/>
                          <a:ea typeface="Symbol"/>
                          <a:cs typeface="Symbol"/>
                          <a:sym typeface="Symbol"/>
                        </a:rPr>
                        <a:t>m</a:t>
                      </a:r>
                      <a:r>
                        <a:t>A)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72A376"/>
                    </a:solidFill>
                  </a:tcPr>
                </a:tc>
              </a:tr>
              <a:tr h="719883">
                <a:tc>
                  <a:txBody>
                    <a:bodyPr/>
                    <a:lstStyle/>
                    <a:p>
                      <a:pPr defTabSz="914400">
                        <a:defRPr b="1" sz="2400">
                          <a:latin typeface="Palatino"/>
                          <a:ea typeface="Palatino"/>
                          <a:cs typeface="Palatino"/>
                          <a:sym typeface="Palatino"/>
                        </a:defRPr>
                      </a:pPr>
                      <a:r>
                        <a:t>i</a:t>
                      </a:r>
                      <a:r>
                        <a:rPr baseline="-25000"/>
                        <a:t>1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5E0D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b="1" sz="2400">
                          <a:latin typeface="Palatino"/>
                          <a:ea typeface="Palatino"/>
                          <a:cs typeface="Palatino"/>
                          <a:sym typeface="Palatino"/>
                        </a:rPr>
                        <a:t>740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5E0D6"/>
                    </a:solidFill>
                  </a:tcPr>
                </a:tc>
              </a:tr>
              <a:tr h="704151">
                <a:tc>
                  <a:txBody>
                    <a:bodyPr/>
                    <a:lstStyle/>
                    <a:p>
                      <a:pPr defTabSz="914400">
                        <a:defRPr b="1" sz="2400">
                          <a:latin typeface="Palatino"/>
                          <a:ea typeface="Palatino"/>
                          <a:cs typeface="Palatino"/>
                          <a:sym typeface="Palatino"/>
                        </a:defRPr>
                      </a:pPr>
                      <a:r>
                        <a:t>i</a:t>
                      </a:r>
                      <a:r>
                        <a:rPr baseline="-25000"/>
                        <a:t>2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0E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b="1" sz="2400">
                          <a:latin typeface="Palatino"/>
                          <a:ea typeface="Palatino"/>
                          <a:cs typeface="Palatino"/>
                          <a:sym typeface="Palatino"/>
                        </a:rPr>
                        <a:t>264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0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Final Valu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Final Values</a:t>
            </a:r>
          </a:p>
        </p:txBody>
      </p:sp>
      <p:graphicFrame>
        <p:nvGraphicFramePr>
          <p:cNvPr id="230" name="Table"/>
          <p:cNvGraphicFramePr/>
          <p:nvPr/>
        </p:nvGraphicFramePr>
        <p:xfrm>
          <a:off x="1219200" y="3343275"/>
          <a:ext cx="4191000" cy="3444875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590800"/>
                <a:gridCol w="1600200"/>
              </a:tblGrid>
              <a:tr h="701675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b="1" sz="2000">
                          <a:solidFill>
                            <a:srgbClr val="FFFFFF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Voltage across resistors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72A37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b="1" sz="2000">
                          <a:solidFill>
                            <a:srgbClr val="FFFFFF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(V)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72A37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defTabSz="914400">
                        <a:defRPr sz="2400">
                          <a:latin typeface="Constantia"/>
                          <a:ea typeface="Constantia"/>
                          <a:cs typeface="Constantia"/>
                          <a:sym typeface="Constantia"/>
                        </a:defRPr>
                      </a:pPr>
                      <a:r>
                        <a:t>V</a:t>
                      </a:r>
                      <a:r>
                        <a:rPr baseline="-25000"/>
                        <a:t>R1</a:t>
                      </a:r>
                      <a:r>
                        <a:t> = -i</a:t>
                      </a:r>
                      <a:r>
                        <a:rPr baseline="-25000"/>
                        <a:t>1</a:t>
                      </a:r>
                      <a:r>
                        <a:t>R</a:t>
                      </a:r>
                      <a:r>
                        <a:rPr baseline="-25000"/>
                        <a:t>2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5E0D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2400"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-2.96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5E0D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defTabSz="914400">
                        <a:defRPr sz="2400">
                          <a:latin typeface="Constantia"/>
                          <a:ea typeface="Constantia"/>
                          <a:cs typeface="Constantia"/>
                          <a:sym typeface="Constantia"/>
                        </a:defRPr>
                      </a:pPr>
                      <a:r>
                        <a:t>V</a:t>
                      </a:r>
                      <a:r>
                        <a:rPr baseline="-25000"/>
                        <a:t>R2</a:t>
                      </a:r>
                      <a:r>
                        <a:t> = i</a:t>
                      </a:r>
                      <a:r>
                        <a:rPr baseline="-25000"/>
                        <a:t>2</a:t>
                      </a:r>
                      <a:r>
                        <a:t> R</a:t>
                      </a:r>
                      <a:r>
                        <a:rPr baseline="-25000"/>
                        <a:t>2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0E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2400"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5.92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0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defTabSz="914400">
                        <a:defRPr sz="2400">
                          <a:latin typeface="Constantia"/>
                          <a:ea typeface="Constantia"/>
                          <a:cs typeface="Constantia"/>
                          <a:sym typeface="Constantia"/>
                        </a:defRPr>
                      </a:pPr>
                      <a:r>
                        <a:t>V</a:t>
                      </a:r>
                      <a:r>
                        <a:rPr baseline="-25000"/>
                        <a:t>R3</a:t>
                      </a:r>
                      <a:r>
                        <a:t> =(i</a:t>
                      </a:r>
                      <a:r>
                        <a:rPr baseline="-25000"/>
                        <a:t>1</a:t>
                      </a:r>
                      <a:r>
                        <a:t> – i</a:t>
                      </a:r>
                      <a:r>
                        <a:rPr baseline="-25000"/>
                        <a:t>2</a:t>
                      </a:r>
                      <a:r>
                        <a:t>) R</a:t>
                      </a:r>
                      <a:r>
                        <a:rPr baseline="-25000"/>
                        <a:t>3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5E0D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2400"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2.39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5E0D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defTabSz="914400">
                        <a:defRPr sz="2400">
                          <a:latin typeface="Constantia"/>
                          <a:ea typeface="Constantia"/>
                          <a:cs typeface="Constantia"/>
                          <a:sym typeface="Constantia"/>
                        </a:defRPr>
                      </a:pPr>
                      <a:r>
                        <a:t>V</a:t>
                      </a:r>
                      <a:r>
                        <a:rPr baseline="-25000"/>
                        <a:t>R4</a:t>
                      </a:r>
                      <a:r>
                        <a:t> = i</a:t>
                      </a:r>
                      <a:r>
                        <a:rPr baseline="-25000"/>
                        <a:t>2</a:t>
                      </a:r>
                      <a:r>
                        <a:t> R</a:t>
                      </a:r>
                      <a:r>
                        <a:rPr baseline="-25000"/>
                        <a:t>4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0E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2400"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1.59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0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defTabSz="914400">
                        <a:defRPr sz="2400">
                          <a:latin typeface="Constantia"/>
                          <a:ea typeface="Constantia"/>
                          <a:cs typeface="Constantia"/>
                          <a:sym typeface="Constantia"/>
                        </a:defRPr>
                      </a:pPr>
                      <a:r>
                        <a:t>V</a:t>
                      </a:r>
                      <a:r>
                        <a:rPr baseline="-25000"/>
                        <a:t>R5</a:t>
                      </a:r>
                      <a:r>
                        <a:t> = (V</a:t>
                      </a:r>
                      <a:r>
                        <a:rPr baseline="-25000"/>
                        <a:t>4</a:t>
                      </a:r>
                      <a:r>
                        <a:t> – V</a:t>
                      </a:r>
                      <a:r>
                        <a:rPr baseline="-25000"/>
                        <a:t>5</a:t>
                      </a:r>
                      <a:r>
                        <a:t>)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5E0D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2400"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0.804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5E0D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defTabSz="914400">
                        <a:defRPr sz="2400">
                          <a:latin typeface="Constantia"/>
                          <a:ea typeface="Constantia"/>
                          <a:cs typeface="Constantia"/>
                          <a:sym typeface="Constantia"/>
                        </a:defRPr>
                      </a:pPr>
                      <a:r>
                        <a:t>V</a:t>
                      </a:r>
                      <a:r>
                        <a:rPr baseline="-25000"/>
                        <a:t>R6</a:t>
                      </a:r>
                      <a:r>
                        <a:t> = (V</a:t>
                      </a:r>
                      <a:r>
                        <a:rPr baseline="-25000"/>
                        <a:t>5</a:t>
                      </a:r>
                      <a:r>
                        <a:t> – </a:t>
                      </a:r>
                      <a:r>
                        <a:rPr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r>
                        <a:t>V)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0E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2400"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0.740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0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1" name="Table"/>
          <p:cNvGraphicFramePr/>
          <p:nvPr/>
        </p:nvGraphicFramePr>
        <p:xfrm>
          <a:off x="7302500" y="3221420"/>
          <a:ext cx="4038600" cy="3597276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019300"/>
                <a:gridCol w="2019300"/>
              </a:tblGrid>
              <a:tr h="396875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b="1" sz="2000">
                          <a:solidFill>
                            <a:srgbClr val="FFFFFF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Currents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72A37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b="1" sz="2000">
                          <a:solidFill>
                            <a:srgbClr val="FFFFFF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defRPr>
                      </a:pPr>
                      <a:r>
                        <a:t>(</a:t>
                      </a:r>
                      <a:r>
                        <a:rPr b="0">
                          <a:latin typeface="Symbol"/>
                          <a:ea typeface="Symbol"/>
                          <a:cs typeface="Symbol"/>
                          <a:sym typeface="Symbol"/>
                        </a:rPr>
                        <a:t>m</a:t>
                      </a:r>
                      <a:r>
                        <a:t>A)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72A37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defTabSz="914400">
                        <a:defRPr sz="2400">
                          <a:latin typeface="Constantia"/>
                          <a:ea typeface="Constantia"/>
                          <a:cs typeface="Constantia"/>
                          <a:sym typeface="Constantia"/>
                        </a:defRPr>
                      </a:pPr>
                      <a:r>
                        <a:t>I</a:t>
                      </a:r>
                      <a:r>
                        <a:rPr baseline="-25000"/>
                        <a:t>R1 </a:t>
                      </a:r>
                      <a:r>
                        <a:t>= i</a:t>
                      </a:r>
                      <a:r>
                        <a:rPr baseline="-25000"/>
                        <a:t>1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5E0D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2400"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740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5E0D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defTabSz="914400">
                        <a:defRPr sz="2400">
                          <a:latin typeface="Constantia"/>
                          <a:ea typeface="Constantia"/>
                          <a:cs typeface="Constantia"/>
                          <a:sym typeface="Constantia"/>
                        </a:defRPr>
                      </a:pPr>
                      <a:r>
                        <a:t>I</a:t>
                      </a:r>
                      <a:r>
                        <a:rPr baseline="-25000"/>
                        <a:t>R2 </a:t>
                      </a:r>
                      <a:r>
                        <a:t>= i</a:t>
                      </a:r>
                      <a:r>
                        <a:rPr baseline="-25000"/>
                        <a:t>1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0E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2400"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740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0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defTabSz="914400">
                        <a:defRPr sz="2400">
                          <a:latin typeface="Constantia"/>
                          <a:ea typeface="Constantia"/>
                          <a:cs typeface="Constantia"/>
                          <a:sym typeface="Constantia"/>
                        </a:defRPr>
                      </a:pPr>
                      <a:r>
                        <a:t>I</a:t>
                      </a:r>
                      <a:r>
                        <a:rPr baseline="-25000"/>
                        <a:t>R3 </a:t>
                      </a:r>
                      <a:r>
                        <a:t>= i</a:t>
                      </a:r>
                      <a:r>
                        <a:rPr baseline="-25000"/>
                        <a:t>1</a:t>
                      </a:r>
                      <a:r>
                        <a:t>- i</a:t>
                      </a:r>
                      <a:r>
                        <a:rPr baseline="-25000"/>
                        <a:t>2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5E0D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2400"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476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5E0D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defTabSz="914400">
                        <a:defRPr sz="2400">
                          <a:latin typeface="Constantia"/>
                          <a:ea typeface="Constantia"/>
                          <a:cs typeface="Constantia"/>
                          <a:sym typeface="Constantia"/>
                        </a:defRPr>
                      </a:pPr>
                      <a:r>
                        <a:t>I</a:t>
                      </a:r>
                      <a:r>
                        <a:rPr baseline="-25000"/>
                        <a:t>R4 </a:t>
                      </a:r>
                      <a:r>
                        <a:t>= i</a:t>
                      </a:r>
                      <a:r>
                        <a:rPr baseline="-25000"/>
                        <a:t>2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0E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2400"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264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0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defTabSz="914400">
                        <a:defRPr sz="2400">
                          <a:latin typeface="Constantia"/>
                          <a:ea typeface="Constantia"/>
                          <a:cs typeface="Constantia"/>
                          <a:sym typeface="Constantia"/>
                        </a:defRPr>
                      </a:pPr>
                      <a:r>
                        <a:t>I</a:t>
                      </a:r>
                      <a:r>
                        <a:rPr baseline="-25000"/>
                        <a:t>R5 </a:t>
                      </a:r>
                      <a:r>
                        <a:t>= i</a:t>
                      </a:r>
                      <a:r>
                        <a:rPr baseline="-25000"/>
                        <a:t>2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5E0D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2400"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264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5E0D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defTabSz="914400">
                        <a:defRPr sz="2400">
                          <a:latin typeface="Constantia"/>
                          <a:ea typeface="Constantia"/>
                          <a:cs typeface="Constantia"/>
                          <a:sym typeface="Constantia"/>
                        </a:defRPr>
                      </a:pPr>
                      <a:r>
                        <a:t>I</a:t>
                      </a:r>
                      <a:r>
                        <a:rPr baseline="-25000"/>
                        <a:t>R6 </a:t>
                      </a:r>
                      <a:r>
                        <a:t>= i</a:t>
                      </a:r>
                      <a:r>
                        <a:rPr baseline="-25000"/>
                        <a:t>1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0E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2400"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740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BF0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defTabSz="914400">
                        <a:defRPr sz="2400">
                          <a:latin typeface="Constantia"/>
                          <a:ea typeface="Constantia"/>
                          <a:cs typeface="Constantia"/>
                          <a:sym typeface="Constantia"/>
                        </a:defRPr>
                      </a:pPr>
                      <a:r>
                        <a:t>I</a:t>
                      </a:r>
                      <a:r>
                        <a:rPr baseline="-25000"/>
                        <a:t> Vin </a:t>
                      </a:r>
                      <a:r>
                        <a:t>= i</a:t>
                      </a:r>
                      <a:r>
                        <a:rPr baseline="-25000"/>
                        <a:t>1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5E0D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2400"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740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5E0D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Verifica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Verification</a:t>
            </a:r>
          </a:p>
        </p:txBody>
      </p:sp>
      <p:pic>
        <p:nvPicPr>
          <p:cNvPr id="234" name="image.pdf" descr="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85800" y="3559175"/>
            <a:ext cx="5943600" cy="2689225"/>
          </a:xfrm>
          <a:prstGeom prst="rect">
            <a:avLst/>
          </a:prstGeom>
          <a:ln w="12700">
            <a:miter lim="400000"/>
          </a:ln>
        </p:spPr>
      </p:pic>
      <p:pic>
        <p:nvPicPr>
          <p:cNvPr id="235" name="image.png" descr="imag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734050" y="4410075"/>
            <a:ext cx="5943600" cy="426677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1" baseline="0" cap="none" i="0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1" baseline="0" cap="none" i="0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