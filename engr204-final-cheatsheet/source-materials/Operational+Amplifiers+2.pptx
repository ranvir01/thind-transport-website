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" name="Shape 1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"/>
          <p:cNvSpPr/>
          <p:nvPr/>
        </p:nvSpPr>
        <p:spPr>
          <a:xfrm>
            <a:off x="1514475" y="-7938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54998"/>
                </a:schemeClr>
              </a:gs>
              <a:gs pos="100000">
                <a:srgbClr val="BC0057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3" name="Shape"/>
          <p:cNvSpPr/>
          <p:nvPr/>
        </p:nvSpPr>
        <p:spPr>
          <a:xfrm>
            <a:off x="5905500" y="-7938"/>
            <a:ext cx="4762500" cy="607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40069">
                  <a:alpha val="29998"/>
                </a:srgbClr>
              </a:gs>
              <a:gs pos="19999">
                <a:srgbClr val="F40069">
                  <a:alpha val="32998"/>
                </a:srgbClr>
              </a:gs>
              <a:gs pos="100000">
                <a:srgbClr val="D69200">
                  <a:alpha val="44999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96" name="Group"/>
          <p:cNvGrpSpPr/>
          <p:nvPr/>
        </p:nvGrpSpPr>
        <p:grpSpPr>
          <a:xfrm>
            <a:off x="1517903" y="-24384"/>
            <a:ext cx="9156193" cy="1048513"/>
            <a:chOff x="0" y="0"/>
            <a:chExt cx="9156191" cy="1048511"/>
          </a:xfrm>
        </p:grpSpPr>
        <p:pic>
          <p:nvPicPr>
            <p:cNvPr id="94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9137904" cy="1048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73151"/>
              <a:ext cx="9156192" cy="9083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7" name="Slide Number"/>
          <p:cNvSpPr txBox="1"/>
          <p:nvPr>
            <p:ph type="sldNum" sz="quarter" idx="2"/>
          </p:nvPr>
        </p:nvSpPr>
        <p:spPr>
          <a:xfrm>
            <a:off x="10045700" y="6518275"/>
            <a:ext cx="165101" cy="2032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4A566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6"/>
          <p:cNvSpPr/>
          <p:nvPr/>
        </p:nvSpPr>
        <p:spPr>
          <a:xfrm>
            <a:off x="1514475" y="-7144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BA0058">
                  <a:alpha val="45000"/>
                </a:srgbClr>
              </a:gs>
              <a:gs pos="100000">
                <a:srgbClr val="EFAA00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05" name="Freeform 7"/>
          <p:cNvSpPr/>
          <p:nvPr/>
        </p:nvSpPr>
        <p:spPr>
          <a:xfrm>
            <a:off x="5905500" y="-7145"/>
            <a:ext cx="4762500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18900">
                  <a:alpha val="30000"/>
                </a:srgbClr>
              </a:gs>
              <a:gs pos="80000">
                <a:srgbClr val="E0006A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grpSp>
        <p:nvGrpSpPr>
          <p:cNvPr id="108" name="Group 1"/>
          <p:cNvGrpSpPr/>
          <p:nvPr/>
        </p:nvGrpSpPr>
        <p:grpSpPr>
          <a:xfrm>
            <a:off x="1494706" y="-16113"/>
            <a:ext cx="9197178" cy="1058653"/>
            <a:chOff x="0" y="0"/>
            <a:chExt cx="9197177" cy="1058652"/>
          </a:xfrm>
        </p:grpSpPr>
        <p:sp>
          <p:nvSpPr>
            <p:cNvPr id="106" name="Freeform 11"/>
            <p:cNvSpPr/>
            <p:nvPr/>
          </p:nvSpPr>
          <p:spPr>
            <a:xfrm rot="21435692">
              <a:off x="9616" y="218536"/>
              <a:ext cx="9163051" cy="621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fill="norm" stroke="1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D65A3A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  <p:sp>
          <p:nvSpPr>
            <p:cNvPr id="107" name="Freeform 12"/>
            <p:cNvSpPr/>
            <p:nvPr/>
          </p:nvSpPr>
          <p:spPr>
            <a:xfrm rot="21435692">
              <a:off x="14474" y="291986"/>
              <a:ext cx="9175813" cy="507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fill="norm" stroke="1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7561AB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</p:grpSp>
      <p:sp>
        <p:nvSpPr>
          <p:cNvPr id="109" name="Title Text"/>
          <p:cNvSpPr txBox="1"/>
          <p:nvPr>
            <p:ph type="title"/>
          </p:nvPr>
        </p:nvSpPr>
        <p:spPr>
          <a:xfrm>
            <a:off x="1981200" y="704087"/>
            <a:ext cx="8229600" cy="114300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5000">
                <a:solidFill>
                  <a:srgbClr val="4E5B6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idx="1"/>
          </p:nvPr>
        </p:nvSpPr>
        <p:spPr>
          <a:xfrm>
            <a:off x="1981200" y="1935479"/>
            <a:ext cx="8229600" cy="4389121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1pPr>
            <a:lvl2pPr marL="660654" indent="-267461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8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2pPr>
            <a:lvl3pPr marL="973182" indent="-30567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70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3pPr>
            <a:lvl4pPr marL="1251813" indent="-273405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6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4pPr>
            <a:lvl5pPr marL="1526133" indent="-273405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6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0045700" y="6518275"/>
            <a:ext cx="165101" cy="2032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4A576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6"/>
          <p:cNvSpPr/>
          <p:nvPr/>
        </p:nvSpPr>
        <p:spPr>
          <a:xfrm>
            <a:off x="1514475" y="-7144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BA0058">
                  <a:alpha val="45000"/>
                </a:srgbClr>
              </a:gs>
              <a:gs pos="100000">
                <a:srgbClr val="EFAA00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19" name="Freeform 7"/>
          <p:cNvSpPr/>
          <p:nvPr/>
        </p:nvSpPr>
        <p:spPr>
          <a:xfrm>
            <a:off x="5905500" y="-7145"/>
            <a:ext cx="4762500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18900">
                  <a:alpha val="30000"/>
                </a:srgbClr>
              </a:gs>
              <a:gs pos="80000">
                <a:srgbClr val="E0006A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grpSp>
        <p:nvGrpSpPr>
          <p:cNvPr id="122" name="Group 1"/>
          <p:cNvGrpSpPr/>
          <p:nvPr/>
        </p:nvGrpSpPr>
        <p:grpSpPr>
          <a:xfrm>
            <a:off x="1494706" y="-16113"/>
            <a:ext cx="9197178" cy="1058653"/>
            <a:chOff x="0" y="0"/>
            <a:chExt cx="9197177" cy="1058652"/>
          </a:xfrm>
        </p:grpSpPr>
        <p:sp>
          <p:nvSpPr>
            <p:cNvPr id="120" name="Freeform 11"/>
            <p:cNvSpPr/>
            <p:nvPr/>
          </p:nvSpPr>
          <p:spPr>
            <a:xfrm rot="21435692">
              <a:off x="9616" y="218536"/>
              <a:ext cx="9163051" cy="621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fill="norm" stroke="1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D65A3A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  <p:sp>
          <p:nvSpPr>
            <p:cNvPr id="121" name="Freeform 12"/>
            <p:cNvSpPr/>
            <p:nvPr/>
          </p:nvSpPr>
          <p:spPr>
            <a:xfrm rot="21435692">
              <a:off x="14474" y="291986"/>
              <a:ext cx="9175813" cy="507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fill="norm" stroke="1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7561AB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</p:grpSp>
      <p:sp>
        <p:nvSpPr>
          <p:cNvPr id="123" name="Title Text"/>
          <p:cNvSpPr txBox="1"/>
          <p:nvPr>
            <p:ph type="title"/>
          </p:nvPr>
        </p:nvSpPr>
        <p:spPr>
          <a:xfrm>
            <a:off x="1981200" y="704087"/>
            <a:ext cx="8229600" cy="114300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5000">
                <a:solidFill>
                  <a:srgbClr val="4E5B6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half" idx="1"/>
          </p:nvPr>
        </p:nvSpPr>
        <p:spPr>
          <a:xfrm>
            <a:off x="1981200" y="1920084"/>
            <a:ext cx="4038600" cy="4434842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1pPr>
            <a:lvl2pPr marL="660654" indent="-267461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8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2pPr>
            <a:lvl3pPr marL="988466" indent="-320954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70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3pPr>
            <a:lvl4pPr marL="1282191" indent="-303783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6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4pPr>
            <a:lvl5pPr marL="1556511" indent="-303783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6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10045700" y="6518275"/>
            <a:ext cx="165101" cy="2032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4A576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6"/>
          <p:cNvSpPr/>
          <p:nvPr/>
        </p:nvSpPr>
        <p:spPr>
          <a:xfrm>
            <a:off x="1514475" y="-7144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BA0058">
                  <a:alpha val="45000"/>
                </a:srgbClr>
              </a:gs>
              <a:gs pos="100000">
                <a:srgbClr val="EFAA00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33" name="Freeform 7"/>
          <p:cNvSpPr/>
          <p:nvPr/>
        </p:nvSpPr>
        <p:spPr>
          <a:xfrm>
            <a:off x="5905500" y="-7145"/>
            <a:ext cx="4762500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18900">
                  <a:alpha val="30000"/>
                </a:srgbClr>
              </a:gs>
              <a:gs pos="80000">
                <a:srgbClr val="E0006A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grpSp>
        <p:nvGrpSpPr>
          <p:cNvPr id="136" name="Group 1"/>
          <p:cNvGrpSpPr/>
          <p:nvPr/>
        </p:nvGrpSpPr>
        <p:grpSpPr>
          <a:xfrm>
            <a:off x="1494706" y="-16113"/>
            <a:ext cx="9197178" cy="1058653"/>
            <a:chOff x="0" y="0"/>
            <a:chExt cx="9197177" cy="1058652"/>
          </a:xfrm>
        </p:grpSpPr>
        <p:sp>
          <p:nvSpPr>
            <p:cNvPr id="134" name="Freeform 11"/>
            <p:cNvSpPr/>
            <p:nvPr/>
          </p:nvSpPr>
          <p:spPr>
            <a:xfrm rot="21435692">
              <a:off x="9616" y="218536"/>
              <a:ext cx="9163051" cy="621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fill="norm" stroke="1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D65A3A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  <p:sp>
          <p:nvSpPr>
            <p:cNvPr id="135" name="Freeform 12"/>
            <p:cNvSpPr/>
            <p:nvPr/>
          </p:nvSpPr>
          <p:spPr>
            <a:xfrm rot="21435692">
              <a:off x="14474" y="291986"/>
              <a:ext cx="9175813" cy="507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fill="norm" stroke="1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3175" cap="flat">
              <a:solidFill>
                <a:srgbClr val="7561AB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Constantia"/>
                  <a:ea typeface="Constantia"/>
                  <a:cs typeface="Constantia"/>
                  <a:sym typeface="Constantia"/>
                </a:defRPr>
              </a:pPr>
            </a:p>
          </p:txBody>
        </p:sp>
      </p:grpSp>
      <p:sp>
        <p:nvSpPr>
          <p:cNvPr id="137" name="Title Text"/>
          <p:cNvSpPr txBox="1"/>
          <p:nvPr>
            <p:ph type="title"/>
          </p:nvPr>
        </p:nvSpPr>
        <p:spPr>
          <a:xfrm>
            <a:off x="1981200" y="704087"/>
            <a:ext cx="8229600" cy="114300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5000">
                <a:solidFill>
                  <a:srgbClr val="4E5B6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8" name="Body Level One…"/>
          <p:cNvSpPr txBox="1"/>
          <p:nvPr>
            <p:ph type="body" sz="quarter" idx="1"/>
          </p:nvPr>
        </p:nvSpPr>
        <p:spPr>
          <a:xfrm>
            <a:off x="1981200" y="1855247"/>
            <a:ext cx="4040188" cy="65935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indent="393192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indent="667511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indent="978408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indent="1252727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Text Placeholder 3"/>
          <p:cNvSpPr/>
          <p:nvPr>
            <p:ph type="body" sz="quarter" idx="13"/>
          </p:nvPr>
        </p:nvSpPr>
        <p:spPr>
          <a:xfrm>
            <a:off x="6169025" y="1859757"/>
            <a:ext cx="4041775" cy="65484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 b="1" sz="2400">
                <a:solidFill>
                  <a:srgbClr val="4E5B6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xfrm>
            <a:off x="10045700" y="6518275"/>
            <a:ext cx="165101" cy="2032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4A576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gif"/><Relationship Id="rId4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hyperlink" Target="http://www.national.com/ds/LM/LM124.pdf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0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38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Operational Amplifiers</a:t>
            </a:r>
          </a:p>
        </p:txBody>
      </p:sp>
      <p:sp>
        <p:nvSpPr>
          <p:cNvPr id="150" name="Subtitle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  <a:r>
              <a:t>EE 204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/>
          <p:nvPr>
            <p:ph type="title"/>
          </p:nvPr>
        </p:nvSpPr>
        <p:spPr>
          <a:xfrm>
            <a:off x="1981200" y="609600"/>
            <a:ext cx="8229600" cy="1066800"/>
          </a:xfrm>
          <a:prstGeom prst="rect">
            <a:avLst/>
          </a:prstGeom>
        </p:spPr>
        <p:txBody>
          <a:bodyPr/>
          <a:lstStyle/>
          <a:p>
            <a:pPr/>
            <a:r>
              <a:t>BJT Applications</a:t>
            </a:r>
          </a:p>
        </p:txBody>
      </p:sp>
      <p:sp>
        <p:nvSpPr>
          <p:cNvPr id="153" name="Content Placeholder 2"/>
          <p:cNvSpPr txBox="1"/>
          <p:nvPr>
            <p:ph type="body" idx="1"/>
          </p:nvPr>
        </p:nvSpPr>
        <p:spPr>
          <a:xfrm>
            <a:off x="1981200" y="1551009"/>
            <a:ext cx="8229600" cy="465135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 sz="2400"/>
            </a:lvl1pPr>
          </a:lstStyle>
          <a:p>
            <a:pPr/>
            <a:r>
              <a:t>BJT Amplifier</a:t>
            </a:r>
          </a:p>
        </p:txBody>
      </p:sp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3268" y="2118167"/>
            <a:ext cx="4067638" cy="2406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4000" y="4524716"/>
            <a:ext cx="4848226" cy="2257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40596" y="2118167"/>
            <a:ext cx="3470205" cy="2209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6" grpId="1"/>
      <p:bldP build="whole" bldLvl="1" animBg="1" rev="0" advAuto="0" spid="155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xfrm>
            <a:off x="1981200" y="609600"/>
            <a:ext cx="8229600" cy="1066800"/>
          </a:xfrm>
          <a:prstGeom prst="rect">
            <a:avLst/>
          </a:prstGeom>
        </p:spPr>
        <p:txBody>
          <a:bodyPr/>
          <a:lstStyle/>
          <a:p>
            <a:pPr/>
            <a:r>
              <a:t>BJT Applications</a:t>
            </a:r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08174" y="2203780"/>
            <a:ext cx="6937235" cy="4269696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Content Placeholder 2"/>
          <p:cNvSpPr txBox="1"/>
          <p:nvPr>
            <p:ph type="body" idx="1"/>
          </p:nvPr>
        </p:nvSpPr>
        <p:spPr>
          <a:xfrm>
            <a:off x="569842" y="1722436"/>
            <a:ext cx="9733724" cy="45259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2400"/>
            </a:pPr>
            <a:r>
              <a:t>Transistor is a switch (most common application)</a:t>
            </a:r>
          </a:p>
          <a:p>
            <a:pPr marL="0" indent="0">
              <a:buSzTx/>
              <a:buNone/>
              <a:defRPr b="1" sz="2400"/>
            </a:pPr>
            <a:r>
              <a:t>BJT Amplifier (second most common…)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an Op-Amp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Op-Amp or operational amplifier a modular circuit that is designed to work with other circuit elements (in boom boxes, speakers, cell phones, biomedical apps, sensors, heart rate monitors, power circuits, computers)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The simplest model of the operational amplifier is the ideal operational amplifier. (there are several models to define a “realistic op-amp)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Circuits that contain ideal operational amplifiers are analyzed by writing and solving node equations.</a:t>
            </a:r>
          </a:p>
          <a:p>
            <a:pPr marL="217170" indent="-217170" defTabSz="868680">
              <a:lnSpc>
                <a:spcPct val="81000"/>
              </a:lnSpc>
              <a:spcBef>
                <a:spcPts val="900"/>
              </a:spcBef>
              <a:defRPr sz="2375"/>
            </a:pPr>
            <a:r>
              <a:t>Operational amplifiers can be used to build circuits that perform mathematical operations. </a:t>
            </a:r>
          </a:p>
          <a:p>
            <a:pPr lvl="1" marL="651509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Summing Amplifier</a:t>
            </a:r>
          </a:p>
          <a:p>
            <a:pPr lvl="1" marL="651509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Difference Amplifier</a:t>
            </a:r>
          </a:p>
          <a:p>
            <a:pPr lvl="1" marL="651509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Current to voltage converter</a:t>
            </a:r>
          </a:p>
          <a:p>
            <a:pPr lvl="1" marL="651509" indent="-217170" defTabSz="868680">
              <a:lnSpc>
                <a:spcPct val="81000"/>
              </a:lnSpc>
              <a:spcBef>
                <a:spcPts val="400"/>
              </a:spcBef>
              <a:defRPr sz="2090"/>
            </a:pPr>
            <a:r>
              <a:t>Voltage controlled Current Source</a:t>
            </a:r>
          </a:p>
        </p:txBody>
      </p:sp>
      <p:pic>
        <p:nvPicPr>
          <p:cNvPr id="1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77962" y="4585556"/>
            <a:ext cx="4538248" cy="20117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/>
          <p:nvPr>
            <p:ph type="title"/>
          </p:nvPr>
        </p:nvSpPr>
        <p:spPr>
          <a:xfrm>
            <a:off x="838200" y="325368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Symbol and Equivalent Circuit</a:t>
            </a:r>
          </a:p>
        </p:txBody>
      </p:sp>
      <p:pic>
        <p:nvPicPr>
          <p:cNvPr id="16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9055" y="5448081"/>
            <a:ext cx="2928456" cy="4645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9160" y="3426345"/>
            <a:ext cx="3999291" cy="2733156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vd = v2 – v1…"/>
          <p:cNvSpPr txBox="1"/>
          <p:nvPr/>
        </p:nvSpPr>
        <p:spPr>
          <a:xfrm>
            <a:off x="7595205" y="2047875"/>
            <a:ext cx="4267201" cy="1546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d</a:t>
            </a:r>
            <a:r>
              <a:t> = v</a:t>
            </a:r>
            <a:r>
              <a:rPr baseline="-25000"/>
              <a:t>2</a:t>
            </a:r>
            <a:r>
              <a:t> – v</a:t>
            </a:r>
            <a:r>
              <a:rPr baseline="-25000"/>
              <a:t>1</a:t>
            </a:r>
            <a:endParaRPr baseline="-25000"/>
          </a:p>
          <a:p>
            <a:pPr>
              <a:defRPr sz="11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A is the open-loop voltage gain</a:t>
            </a:r>
          </a:p>
        </p:txBody>
      </p:sp>
      <p:pic>
        <p:nvPicPr>
          <p:cNvPr id="170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52600" y="1962150"/>
            <a:ext cx="2257425" cy="1771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8058" y="1407491"/>
            <a:ext cx="6844850" cy="36045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9" grpId="3"/>
      <p:bldP build="whole" bldLvl="1" animBg="1" rev="0" advAuto="0" spid="168" grpId="4"/>
      <p:bldP build="whole" bldLvl="1" animBg="1" rev="0" advAuto="0" spid="167" grpId="2"/>
      <p:bldP build="whole" bldLvl="1" animBg="1" rev="0" advAuto="0" spid="17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Ideal vs Real Op-Amp</a:t>
            </a:r>
          </a:p>
        </p:txBody>
      </p:sp>
      <p:sp>
        <p:nvSpPr>
          <p:cNvPr id="174" name="Content Placeholder 2"/>
          <p:cNvSpPr txBox="1"/>
          <p:nvPr>
            <p:ph type="body" sz="quarter" idx="1"/>
          </p:nvPr>
        </p:nvSpPr>
        <p:spPr>
          <a:xfrm>
            <a:off x="787400" y="1470025"/>
            <a:ext cx="10242451" cy="712392"/>
          </a:xfrm>
          <a:prstGeom prst="rect">
            <a:avLst/>
          </a:prstGeom>
        </p:spPr>
        <p:txBody>
          <a:bodyPr/>
          <a:lstStyle/>
          <a:p>
            <a:pPr marL="160019" indent="-160019" defTabSz="640079">
              <a:spcBef>
                <a:spcPts val="700"/>
              </a:spcBef>
              <a:defRPr sz="1960"/>
            </a:pPr>
            <a:r>
              <a:t>Real Op-Amps have limits. Since they are made of transistors they can be saturated. </a:t>
            </a:r>
          </a:p>
          <a:p>
            <a:pPr marL="160019" indent="-160019" defTabSz="640079">
              <a:spcBef>
                <a:spcPts val="700"/>
              </a:spcBef>
              <a:defRPr sz="1960"/>
            </a:pPr>
            <a:r>
              <a:t>For an ideal Op-Amp we assume a three basic things (no saturation)</a:t>
            </a:r>
          </a:p>
        </p:txBody>
      </p:sp>
      <p:pic>
        <p:nvPicPr>
          <p:cNvPr id="1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74180" y="3429000"/>
            <a:ext cx="3134662" cy="195510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76" name="Table"/>
          <p:cNvGraphicFramePr/>
          <p:nvPr/>
        </p:nvGraphicFramePr>
        <p:xfrm>
          <a:off x="1155700" y="2953543"/>
          <a:ext cx="6902450" cy="3606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1716087"/>
                <a:gridCol w="1716087"/>
                <a:gridCol w="1716087"/>
                <a:gridCol w="1716087"/>
              </a:tblGrid>
              <a:tr h="77020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900"/>
                        <a:t>Parameter</a:t>
                      </a:r>
                    </a:p>
                  </a:txBody>
                  <a:tcPr marL="45720" marR="45720" marT="45720" marB="45720" anchor="t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900"/>
                        <a:t>Variable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900"/>
                        <a:t>Typical Ranges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900"/>
                        <a:t>Ideal Values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7062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Open-Loop Voltage Gain</a:t>
                      </a:r>
                    </a:p>
                  </a:txBody>
                  <a:tcPr marL="45720" marR="45720" marT="45720" marB="45720" anchor="t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</a:t>
                      </a:r>
                      <a:r>
                        <a:rPr baseline="29473"/>
                        <a:t>5</a:t>
                      </a:r>
                      <a:r>
                        <a:t> to 10</a:t>
                      </a:r>
                      <a:r>
                        <a:rPr baseline="29473"/>
                        <a:t>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900"/>
                        <a:t>∞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667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Input Resistance</a:t>
                      </a:r>
                    </a:p>
                  </a:txBody>
                  <a:tcPr marL="45720" marR="45720" marT="45720" marB="45720" anchor="t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Ri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</a:t>
                      </a:r>
                      <a:r>
                        <a:rPr baseline="29473"/>
                        <a:t>5</a:t>
                      </a:r>
                      <a:r>
                        <a:t> to 10</a:t>
                      </a:r>
                      <a:r>
                        <a:rPr baseline="29473"/>
                        <a:t>13</a:t>
                      </a:r>
                      <a:r>
                        <a:t>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3600"/>
                        <a:t>∞</a:t>
                      </a:r>
                      <a:r>
                        <a:t>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667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Output Resistance</a:t>
                      </a:r>
                    </a:p>
                  </a:txBody>
                  <a:tcPr marL="45720" marR="45720" marT="45720" marB="45720" anchor="t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Ro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10 to 100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0 </a:t>
                      </a:r>
                      <a:r>
                        <a:rPr>
                          <a:latin typeface="Symbol"/>
                          <a:ea typeface="Symbol"/>
                          <a:cs typeface="Symbol"/>
                          <a:sym typeface="Symbol"/>
                        </a:rPr>
                        <a:t>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75740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Supply Voltage</a:t>
                      </a:r>
                    </a:p>
                  </a:txBody>
                  <a:tcPr marL="45720" marR="45720" marT="45720" marB="45720" anchor="t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t>Vcc/V</a:t>
                      </a:r>
                      <a:r>
                        <a:rPr b="1" baseline="29473"/>
                        <a:t>+ </a:t>
                      </a:r>
                      <a:endParaRPr b="1" baseline="29473"/>
                    </a:p>
                    <a:p>
                      <a:pPr algn="ctr">
                        <a:defRPr sz="1900"/>
                      </a:pPr>
                      <a:r>
                        <a:t>-Vcc/V</a:t>
                      </a:r>
                      <a:r>
                        <a:rPr b="1" baseline="29473"/>
                        <a:t>- 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5 to 30 V
-30V to 0V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/>
                        <a:t>N/A
N/A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7" name="Content Placeholder 2"/>
          <p:cNvSpPr txBox="1"/>
          <p:nvPr/>
        </p:nvSpPr>
        <p:spPr>
          <a:xfrm>
            <a:off x="787400" y="2316559"/>
            <a:ext cx="10617200" cy="71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187452" indent="-187452" defTabSz="749808">
              <a:lnSpc>
                <a:spcPct val="90000"/>
              </a:lnSpc>
              <a:spcBef>
                <a:spcPts val="800"/>
              </a:spcBef>
              <a:buSzPct val="100000"/>
              <a:buFont typeface="Arial"/>
              <a:buChar char="•"/>
              <a:defRPr sz="2296"/>
            </a:lvl1pPr>
          </a:lstStyle>
          <a:p>
            <a:pPr/>
            <a:r>
              <a:t>In real life you can find out the operating (linearity values from manufacturer)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Rectangle"/>
          <p:cNvSpPr/>
          <p:nvPr/>
        </p:nvSpPr>
        <p:spPr>
          <a:xfrm>
            <a:off x="6172200" y="4953000"/>
            <a:ext cx="2133600" cy="228600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aution – A is Frequency Depend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Caution – A is Frequency Dependent</a:t>
            </a:r>
          </a:p>
        </p:txBody>
      </p:sp>
      <p:pic>
        <p:nvPicPr>
          <p:cNvPr id="18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59200" y="1935162"/>
            <a:ext cx="467360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http://www.national.com/ds/LM/LM124.pdf"/>
          <p:cNvSpPr txBox="1"/>
          <p:nvPr/>
        </p:nvSpPr>
        <p:spPr>
          <a:xfrm>
            <a:off x="3886200" y="6172200"/>
            <a:ext cx="4952514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rPr u="sng">
                <a:solidFill>
                  <a:srgbClr val="EB8803"/>
                </a:solidFill>
                <a:uFill>
                  <a:solidFill>
                    <a:srgbClr val="EB8803"/>
                  </a:solidFill>
                </a:uFill>
                <a:hlinkClick r:id="rId3" invalidUrl="" action="" tgtFrame="" tooltip="" history="1" highlightClick="0" endSnd="0"/>
              </a:rPr>
              <a:t>http://www.national.com/ds/LM/LM124.pdf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Ideal Op-Amp</a:t>
            </a:r>
          </a:p>
        </p:txBody>
      </p:sp>
      <p:sp>
        <p:nvSpPr>
          <p:cNvPr id="18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7452" indent="-187452" defTabSz="749808">
              <a:spcBef>
                <a:spcPts val="800"/>
              </a:spcBef>
              <a:defRPr sz="2296"/>
            </a:pPr>
            <a:r>
              <a:t>Ri = ∞ Ω</a:t>
            </a:r>
          </a:p>
          <a:p>
            <a:pPr lvl="1" marL="562355" indent="-187452" defTabSz="749808">
              <a:spcBef>
                <a:spcPts val="800"/>
              </a:spcBef>
              <a:defRPr sz="2296"/>
            </a:pPr>
            <a:r>
              <a:t>Therefore, i</a:t>
            </a:r>
            <a:r>
              <a:rPr baseline="-24205"/>
              <a:t>1</a:t>
            </a:r>
            <a:r>
              <a:t> = i</a:t>
            </a:r>
            <a:r>
              <a:rPr baseline="-24205"/>
              <a:t>2</a:t>
            </a:r>
            <a:r>
              <a:t> = 0A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Ro = 0 Ω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Usually, v</a:t>
            </a:r>
            <a:r>
              <a:rPr baseline="-27515"/>
              <a:t>d</a:t>
            </a:r>
            <a:r>
              <a:t> = 0V so v</a:t>
            </a:r>
            <a:r>
              <a:rPr baseline="-27515"/>
              <a:t>1</a:t>
            </a:r>
            <a:r>
              <a:t> = v</a:t>
            </a:r>
            <a:r>
              <a:rPr baseline="-27515"/>
              <a:t>2 </a:t>
            </a:r>
            <a:endParaRPr baseline="-27515"/>
          </a:p>
          <a:p>
            <a:pPr lvl="1" marL="562355" indent="-187452" defTabSz="749808">
              <a:spcBef>
                <a:spcPts val="800"/>
              </a:spcBef>
              <a:defRPr sz="2296"/>
            </a:pPr>
            <a:r>
              <a:t>The op amp forces the voltage at the inverting input terminal to be equal to the voltage at the non-inverting input terminal if there is some component connecting the output terminal to the inverting input terminal.</a:t>
            </a:r>
          </a:p>
          <a:p>
            <a:pPr marL="187452" indent="-187452" defTabSz="749808">
              <a:spcBef>
                <a:spcPts val="800"/>
              </a:spcBef>
              <a:defRPr sz="2296"/>
            </a:pPr>
            <a:r>
              <a:t>Rarely is the op amp limited to V</a:t>
            </a:r>
            <a:r>
              <a:rPr baseline="29735"/>
              <a:t>-</a:t>
            </a:r>
            <a:r>
              <a:t> &lt; v</a:t>
            </a:r>
            <a:r>
              <a:rPr baseline="-27515"/>
              <a:t>o</a:t>
            </a:r>
            <a:r>
              <a:t> &lt; V</a:t>
            </a:r>
            <a:r>
              <a:rPr baseline="29735"/>
              <a:t>+</a:t>
            </a:r>
            <a:r>
              <a:t>.</a:t>
            </a:r>
          </a:p>
          <a:p>
            <a:pPr lvl="1" marL="562355" indent="-187452" defTabSz="749808">
              <a:spcBef>
                <a:spcPts val="800"/>
              </a:spcBef>
              <a:defRPr sz="2296"/>
            </a:pPr>
            <a:r>
              <a:t>The output voltage is allowed to be as positive or as negative as needed to force v</a:t>
            </a:r>
            <a:r>
              <a:rPr baseline="-24205"/>
              <a:t>d</a:t>
            </a:r>
            <a:r>
              <a:t> = 0V..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#1:  Inverting Amplifier</a:t>
            </a:r>
          </a:p>
        </p:txBody>
      </p:sp>
      <p:pic>
        <p:nvPicPr>
          <p:cNvPr id="19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6586" y="1935163"/>
            <a:ext cx="7178828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traight Arrow Connector 5"/>
          <p:cNvSpPr/>
          <p:nvPr/>
        </p:nvSpPr>
        <p:spPr>
          <a:xfrm>
            <a:off x="2971800" y="37338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92" name="Straight Arrow Connector 6"/>
          <p:cNvSpPr/>
          <p:nvPr/>
        </p:nvSpPr>
        <p:spPr>
          <a:xfrm>
            <a:off x="5181599" y="2285999"/>
            <a:ext cx="914401" cy="1590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93" name="Straight Arrow Connector 7"/>
          <p:cNvSpPr/>
          <p:nvPr/>
        </p:nvSpPr>
        <p:spPr>
          <a:xfrm>
            <a:off x="5105399" y="51054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94" name="Straight Arrow Connector 8"/>
          <p:cNvSpPr/>
          <p:nvPr/>
        </p:nvSpPr>
        <p:spPr>
          <a:xfrm>
            <a:off x="4952999" y="3733800"/>
            <a:ext cx="6096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195" name="TextBox 11"/>
          <p:cNvSpPr txBox="1"/>
          <p:nvPr/>
        </p:nvSpPr>
        <p:spPr>
          <a:xfrm>
            <a:off x="4953000" y="4678362"/>
            <a:ext cx="9906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196" name="TextBox 12"/>
          <p:cNvSpPr txBox="1"/>
          <p:nvPr/>
        </p:nvSpPr>
        <p:spPr>
          <a:xfrm>
            <a:off x="4953000" y="3152775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197" name="TextBox 13"/>
          <p:cNvSpPr txBox="1"/>
          <p:nvPr/>
        </p:nvSpPr>
        <p:spPr>
          <a:xfrm>
            <a:off x="2971800" y="3200400"/>
            <a:ext cx="381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198" name="TextBox 14"/>
          <p:cNvSpPr txBox="1"/>
          <p:nvPr/>
        </p:nvSpPr>
        <p:spPr>
          <a:xfrm>
            <a:off x="5334000" y="18288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199" name="TextBox 18"/>
          <p:cNvSpPr txBox="1"/>
          <p:nvPr/>
        </p:nvSpPr>
        <p:spPr>
          <a:xfrm>
            <a:off x="5791200" y="4267200"/>
            <a:ext cx="11430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V+ = 15V</a:t>
            </a:r>
          </a:p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V- = -10V</a:t>
            </a:r>
          </a:p>
        </p:txBody>
      </p:sp>
      <p:sp>
        <p:nvSpPr>
          <p:cNvPr id="200" name="Straight Arrow Connector 31"/>
          <p:cNvSpPr/>
          <p:nvPr/>
        </p:nvSpPr>
        <p:spPr>
          <a:xfrm flipH="1">
            <a:off x="7620001" y="44196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01" name="TextBox 32"/>
          <p:cNvSpPr txBox="1"/>
          <p:nvPr/>
        </p:nvSpPr>
        <p:spPr>
          <a:xfrm>
            <a:off x="7620000" y="3886200"/>
            <a:ext cx="38100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r>
              <a:t>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#1 (con’t)</a:t>
            </a:r>
          </a:p>
        </p:txBody>
      </p:sp>
      <p:pic>
        <p:nvPicPr>
          <p:cNvPr id="2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23315" y="2405063"/>
            <a:ext cx="716437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traight Arrow Connector 4"/>
          <p:cNvSpPr/>
          <p:nvPr/>
        </p:nvSpPr>
        <p:spPr>
          <a:xfrm>
            <a:off x="2705100" y="4278312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06" name="Straight Arrow Connector 5"/>
          <p:cNvSpPr/>
          <p:nvPr/>
        </p:nvSpPr>
        <p:spPr>
          <a:xfrm>
            <a:off x="4914899" y="2754311"/>
            <a:ext cx="914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07" name="Straight Arrow Connector 6"/>
          <p:cNvSpPr/>
          <p:nvPr/>
        </p:nvSpPr>
        <p:spPr>
          <a:xfrm>
            <a:off x="4838699" y="5545137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08" name="Straight Arrow Connector 7"/>
          <p:cNvSpPr/>
          <p:nvPr/>
        </p:nvSpPr>
        <p:spPr>
          <a:xfrm>
            <a:off x="4686299" y="4278312"/>
            <a:ext cx="6096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09" name="TextBox 8"/>
          <p:cNvSpPr txBox="1"/>
          <p:nvPr/>
        </p:nvSpPr>
        <p:spPr>
          <a:xfrm>
            <a:off x="4686300" y="5118100"/>
            <a:ext cx="9906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210" name="TextBox 9"/>
          <p:cNvSpPr txBox="1"/>
          <p:nvPr/>
        </p:nvSpPr>
        <p:spPr>
          <a:xfrm>
            <a:off x="4686300" y="3697286"/>
            <a:ext cx="7620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211" name="TextBox 10"/>
          <p:cNvSpPr txBox="1"/>
          <p:nvPr/>
        </p:nvSpPr>
        <p:spPr>
          <a:xfrm>
            <a:off x="2705100" y="3744912"/>
            <a:ext cx="3810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212" name="TextBox 11"/>
          <p:cNvSpPr txBox="1"/>
          <p:nvPr/>
        </p:nvSpPr>
        <p:spPr>
          <a:xfrm>
            <a:off x="5067300" y="2297111"/>
            <a:ext cx="4572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213" name="TextBox 12"/>
          <p:cNvSpPr txBox="1"/>
          <p:nvPr/>
        </p:nvSpPr>
        <p:spPr>
          <a:xfrm>
            <a:off x="8953500" y="5346700"/>
            <a:ext cx="11430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V+ = 15V</a:t>
            </a:r>
          </a:p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  <a:r>
              <a:t>V- = -10V</a:t>
            </a:r>
          </a:p>
        </p:txBody>
      </p:sp>
      <p:sp>
        <p:nvSpPr>
          <p:cNvPr id="214" name="Straight Arrow Connector 13"/>
          <p:cNvSpPr/>
          <p:nvPr/>
        </p:nvSpPr>
        <p:spPr>
          <a:xfrm flipH="1">
            <a:off x="7429501" y="48895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15" name="TextBox 14"/>
          <p:cNvSpPr txBox="1"/>
          <p:nvPr/>
        </p:nvSpPr>
        <p:spPr>
          <a:xfrm>
            <a:off x="7429500" y="4356100"/>
            <a:ext cx="38100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16" name="Closed loop gains are dependent on the values of R1 and Rf.…"/>
          <p:cNvSpPr txBox="1"/>
          <p:nvPr>
            <p:ph type="body" sz="quarter" idx="4294967295"/>
          </p:nvPr>
        </p:nvSpPr>
        <p:spPr>
          <a:xfrm>
            <a:off x="902072" y="1533525"/>
            <a:ext cx="10006857" cy="701041"/>
          </a:xfrm>
          <a:prstGeom prst="rect">
            <a:avLst/>
          </a:prstGeom>
        </p:spPr>
        <p:txBody>
          <a:bodyPr/>
          <a:lstStyle>
            <a:lvl1pPr marL="176021" indent="-176021" defTabSz="704087">
              <a:spcBef>
                <a:spcPts val="700"/>
              </a:spcBef>
              <a:defRPr sz="2156"/>
            </a:lvl1pPr>
            <a:lvl2pPr marL="528065" indent="-176021" defTabSz="704087">
              <a:spcBef>
                <a:spcPts val="400"/>
              </a:spcBef>
              <a:buClr>
                <a:srgbClr val="7FD13B"/>
              </a:buClr>
              <a:defRPr sz="1848"/>
            </a:lvl2pPr>
          </a:lstStyle>
          <a:p>
            <a:pPr/>
            <a:r>
              <a:t>Closed loop gains are dependent on the values of R1 and Rf.</a:t>
            </a:r>
          </a:p>
          <a:p>
            <a:pPr lvl="1"/>
            <a:r>
              <a:t>Therefore, you have to calculate the closed loop gain for each new problem.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#1 (con’t)</a:t>
            </a:r>
          </a:p>
        </p:txBody>
      </p:sp>
      <p:pic>
        <p:nvPicPr>
          <p:cNvPr id="2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6400" y="2819400"/>
            <a:ext cx="5721130" cy="3505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Straight Arrow Connector 4"/>
          <p:cNvSpPr/>
          <p:nvPr/>
        </p:nvSpPr>
        <p:spPr>
          <a:xfrm>
            <a:off x="2021290" y="4343389"/>
            <a:ext cx="255682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21" name="Straight Arrow Connector 5"/>
          <p:cNvSpPr/>
          <p:nvPr/>
        </p:nvSpPr>
        <p:spPr>
          <a:xfrm>
            <a:off x="3679637" y="3047999"/>
            <a:ext cx="511364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22" name="Straight Arrow Connector 6"/>
          <p:cNvSpPr/>
          <p:nvPr/>
        </p:nvSpPr>
        <p:spPr>
          <a:xfrm>
            <a:off x="3657600" y="5257799"/>
            <a:ext cx="484282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23" name="Straight Arrow Connector 7"/>
          <p:cNvSpPr/>
          <p:nvPr/>
        </p:nvSpPr>
        <p:spPr>
          <a:xfrm>
            <a:off x="4002490" y="4343389"/>
            <a:ext cx="340910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24" name="TextBox 8"/>
          <p:cNvSpPr txBox="1"/>
          <p:nvPr/>
        </p:nvSpPr>
        <p:spPr>
          <a:xfrm>
            <a:off x="3581400" y="4724400"/>
            <a:ext cx="837418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225" name="TextBox 9"/>
          <p:cNvSpPr txBox="1"/>
          <p:nvPr/>
        </p:nvSpPr>
        <p:spPr>
          <a:xfrm>
            <a:off x="3810000" y="3793625"/>
            <a:ext cx="83741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226" name="TextBox 10"/>
          <p:cNvSpPr txBox="1"/>
          <p:nvPr/>
        </p:nvSpPr>
        <p:spPr>
          <a:xfrm>
            <a:off x="1828800" y="3828424"/>
            <a:ext cx="60881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s</a:t>
            </a:r>
          </a:p>
        </p:txBody>
      </p:sp>
      <p:sp>
        <p:nvSpPr>
          <p:cNvPr id="227" name="TextBox 11"/>
          <p:cNvSpPr txBox="1"/>
          <p:nvPr/>
        </p:nvSpPr>
        <p:spPr>
          <a:xfrm>
            <a:off x="3734582" y="2592377"/>
            <a:ext cx="5326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  <p:sp>
        <p:nvSpPr>
          <p:cNvPr id="228" name="Straight Arrow Connector 13"/>
          <p:cNvSpPr/>
          <p:nvPr/>
        </p:nvSpPr>
        <p:spPr>
          <a:xfrm flipH="1">
            <a:off x="5791200" y="4800599"/>
            <a:ext cx="549010" cy="1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29" name="TextBox 14"/>
          <p:cNvSpPr txBox="1"/>
          <p:nvPr/>
        </p:nvSpPr>
        <p:spPr>
          <a:xfrm>
            <a:off x="5791200" y="4343400"/>
            <a:ext cx="213069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30" name="TextBox 28"/>
          <p:cNvSpPr txBox="1"/>
          <p:nvPr/>
        </p:nvSpPr>
        <p:spPr>
          <a:xfrm>
            <a:off x="6400800" y="5257800"/>
            <a:ext cx="533400" cy="4597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sz="1800"/>
              <a:t>o</a:t>
            </a:r>
          </a:p>
        </p:txBody>
      </p:sp>
      <p:pic>
        <p:nvPicPr>
          <p:cNvPr id="231" name="Object 29" descr="Object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43800" y="1752600"/>
            <a:ext cx="2959100" cy="36849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#1 (con’t)</a:t>
            </a:r>
          </a:p>
        </p:txBody>
      </p:sp>
      <p:sp>
        <p:nvSpPr>
          <p:cNvPr id="234" name="Content Placeholder 2"/>
          <p:cNvSpPr txBox="1"/>
          <p:nvPr>
            <p:ph type="body" idx="1"/>
          </p:nvPr>
        </p:nvSpPr>
        <p:spPr>
          <a:xfrm>
            <a:off x="838200" y="1825625"/>
            <a:ext cx="10124629" cy="4351338"/>
          </a:xfrm>
          <a:prstGeom prst="rect">
            <a:avLst/>
          </a:prstGeom>
        </p:spPr>
        <p:txBody>
          <a:bodyPr/>
          <a:lstStyle/>
          <a:p>
            <a:pPr/>
            <a:r>
              <a:t>Since A</a:t>
            </a:r>
            <a:r>
              <a:rPr baseline="-23642"/>
              <a:t>V</a:t>
            </a:r>
            <a:r>
              <a:t> = -10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0V, V0 = -10(0V) = 0V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0.5V, Vo = -10(0.5V) = -5V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1V, Vo = -10(1V) = -10V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1.1V, Vo = -10(1.1V) &lt; V</a:t>
            </a:r>
            <a:r>
              <a:rPr baseline="30000"/>
              <a:t>-</a:t>
            </a:r>
            <a:r>
              <a:t>, Vo = -10V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-1.2V, V0 = -10(-1.2V) = +12V</a:t>
            </a:r>
          </a:p>
          <a:p>
            <a:pPr lvl="1" marL="685800" indent="-228600">
              <a:spcBef>
                <a:spcPts val="500"/>
              </a:spcBef>
              <a:buClr>
                <a:srgbClr val="7FD13B"/>
              </a:buClr>
              <a:defRPr sz="2400"/>
            </a:pPr>
            <a:r>
              <a:t>If Vs = -1.51V, Vo = -10(-1.51V) &gt; V</a:t>
            </a:r>
            <a:r>
              <a:rPr baseline="30000"/>
              <a:t>+</a:t>
            </a:r>
            <a:r>
              <a:t>, Vo = +15V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#1 (con’t)</a:t>
            </a:r>
          </a:p>
        </p:txBody>
      </p:sp>
      <p:pic>
        <p:nvPicPr>
          <p:cNvPr id="23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2438400"/>
            <a:ext cx="9163050" cy="3886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Right Brace 4"/>
          <p:cNvSpPr/>
          <p:nvPr/>
        </p:nvSpPr>
        <p:spPr>
          <a:xfrm rot="17914173">
            <a:off x="5746137" y="1053750"/>
            <a:ext cx="762115" cy="5934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103"/>
                  <a:pt x="10800" y="231"/>
                </a:cubicBezTo>
                <a:lnTo>
                  <a:pt x="10800" y="10569"/>
                </a:lnTo>
                <a:cubicBezTo>
                  <a:pt x="10800" y="10697"/>
                  <a:pt x="15635" y="10800"/>
                  <a:pt x="21600" y="10800"/>
                </a:cubicBezTo>
                <a:cubicBezTo>
                  <a:pt x="15635" y="10800"/>
                  <a:pt x="10800" y="10903"/>
                  <a:pt x="10800" y="11031"/>
                </a:cubicBezTo>
                <a:lnTo>
                  <a:pt x="10800" y="21369"/>
                </a:lnTo>
                <a:cubicBezTo>
                  <a:pt x="10800" y="21497"/>
                  <a:pt x="5965" y="21600"/>
                  <a:pt x="0" y="21600"/>
                </a:cubicBezTo>
              </a:path>
            </a:pathLst>
          </a:custGeom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39" name="TextBox 5"/>
          <p:cNvSpPr txBox="1"/>
          <p:nvPr/>
        </p:nvSpPr>
        <p:spPr>
          <a:xfrm>
            <a:off x="6172200" y="2743200"/>
            <a:ext cx="3276600" cy="104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  <a:r>
              <a:t>Slope of the voltage transfer characteristic in the linear region is equal to A</a:t>
            </a:r>
            <a:r>
              <a:rPr baseline="-25000"/>
              <a:t>V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#2:  Noninverting Amplifier</a:t>
            </a:r>
          </a:p>
        </p:txBody>
      </p:sp>
      <p:pic>
        <p:nvPicPr>
          <p:cNvPr id="2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52601" y="1935163"/>
            <a:ext cx="5486798" cy="438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  (con’t)</a:t>
            </a:r>
          </a:p>
        </p:txBody>
      </p:sp>
      <p:pic>
        <p:nvPicPr>
          <p:cNvPr id="2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5709" y="1935163"/>
            <a:ext cx="5280582" cy="4389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67800" y="5334000"/>
            <a:ext cx="1181100" cy="638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5709" y="1935163"/>
            <a:ext cx="5280582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  (con’t)</a:t>
            </a:r>
          </a:p>
        </p:txBody>
      </p:sp>
      <p:pic>
        <p:nvPicPr>
          <p:cNvPr id="250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09800" y="5105400"/>
            <a:ext cx="1822450" cy="55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67800" y="5334000"/>
            <a:ext cx="1181100" cy="638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68219" y="2316163"/>
            <a:ext cx="5280582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  (con’t)</a:t>
            </a:r>
          </a:p>
        </p:txBody>
      </p:sp>
      <p:pic>
        <p:nvPicPr>
          <p:cNvPr id="255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800" y="2051050"/>
            <a:ext cx="2593975" cy="17589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1935163"/>
            <a:ext cx="5280582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#2:  Noninverting Amplifier</a:t>
            </a:r>
          </a:p>
        </p:txBody>
      </p:sp>
      <p:pic>
        <p:nvPicPr>
          <p:cNvPr id="259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48600" y="2405063"/>
            <a:ext cx="2286000" cy="3484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 txBox="1"/>
          <p:nvPr>
            <p:ph type="title"/>
          </p:nvPr>
        </p:nvSpPr>
        <p:spPr>
          <a:xfrm>
            <a:off x="941387" y="-38100"/>
            <a:ext cx="8329564" cy="1600200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Example #2  (con’t)</a:t>
            </a:r>
          </a:p>
        </p:txBody>
      </p:sp>
      <p:pic>
        <p:nvPicPr>
          <p:cNvPr id="2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6400" y="2819399"/>
            <a:ext cx="3667324" cy="2933859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Content Placeholder 3"/>
          <p:cNvSpPr txBox="1"/>
          <p:nvPr>
            <p:ph type="body" sz="half" idx="1"/>
          </p:nvPr>
        </p:nvSpPr>
        <p:spPr>
          <a:xfrm>
            <a:off x="5221287" y="1526381"/>
            <a:ext cx="6172201" cy="4873626"/>
          </a:xfrm>
          <a:prstGeom prst="rect">
            <a:avLst/>
          </a:prstGeom>
        </p:spPr>
        <p:txBody>
          <a:bodyPr/>
          <a:lstStyle/>
          <a:p>
            <a:pPr/>
            <a:r>
              <a:t>A</a:t>
            </a:r>
            <a:r>
              <a:rPr baseline="-21437"/>
              <a:t>V</a:t>
            </a:r>
            <a:r>
              <a:t> = +11</a:t>
            </a:r>
          </a:p>
          <a:p>
            <a:pPr lvl="1" marL="693353" indent="-236153">
              <a:spcBef>
                <a:spcPts val="500"/>
              </a:spcBef>
              <a:buClr>
                <a:srgbClr val="7FD13B"/>
              </a:buClr>
              <a:defRPr sz="2200"/>
            </a:pPr>
            <a:r>
              <a:t>If Vs = 0V, V0 = 11(0V) = 0V</a:t>
            </a:r>
            <a:endParaRPr sz="2400"/>
          </a:p>
          <a:p>
            <a:pPr lvl="1" marL="246888" indent="210311">
              <a:spcBef>
                <a:spcPts val="500"/>
              </a:spcBef>
              <a:buSzTx/>
              <a:buNone/>
              <a:defRPr sz="2200"/>
            </a:pPr>
          </a:p>
          <a:p>
            <a:pPr lvl="1" marL="693353" indent="-236153">
              <a:spcBef>
                <a:spcPts val="500"/>
              </a:spcBef>
              <a:buClr>
                <a:srgbClr val="7FD13B"/>
              </a:buClr>
              <a:defRPr sz="2200"/>
            </a:pPr>
            <a:r>
              <a:t>If Vs = 0.5V, Vo = 11(0.5V) = +5.5V</a:t>
            </a:r>
          </a:p>
          <a:p>
            <a:pPr lvl="1" marL="693353" indent="-236153">
              <a:spcBef>
                <a:spcPts val="500"/>
              </a:spcBef>
              <a:buClr>
                <a:srgbClr val="7FD13B"/>
              </a:buClr>
              <a:defRPr sz="2200"/>
            </a:pPr>
            <a:r>
              <a:t>If Vs = 1.6V, Vo = 11(1.6V) &gt; V</a:t>
            </a:r>
            <a:r>
              <a:rPr baseline="29909"/>
              <a:t>+</a:t>
            </a:r>
            <a:r>
              <a:t>, </a:t>
            </a:r>
            <a:endParaRPr sz="2400"/>
          </a:p>
          <a:p>
            <a:pPr lvl="1" marL="246888" indent="210311">
              <a:spcBef>
                <a:spcPts val="500"/>
              </a:spcBef>
              <a:buSzTx/>
              <a:buNone/>
              <a:defRPr sz="2200"/>
            </a:pPr>
            <a:r>
              <a:t>			  Vo = +15V</a:t>
            </a:r>
            <a:endParaRPr sz="2400"/>
          </a:p>
          <a:p>
            <a:pPr lvl="1" marL="246888" indent="210311">
              <a:spcBef>
                <a:spcPts val="500"/>
              </a:spcBef>
              <a:buSzTx/>
              <a:buNone/>
              <a:defRPr sz="2200"/>
            </a:pPr>
          </a:p>
          <a:p>
            <a:pPr lvl="1" marL="693353" indent="-236153">
              <a:spcBef>
                <a:spcPts val="500"/>
              </a:spcBef>
              <a:buClr>
                <a:srgbClr val="7FD13B"/>
              </a:buClr>
              <a:defRPr sz="2200"/>
            </a:pPr>
            <a:r>
              <a:t>If Vs = -0.9V, V0 = 11(-0.9V) = -9.9V</a:t>
            </a:r>
          </a:p>
          <a:p>
            <a:pPr lvl="1" marL="693353" indent="-236153">
              <a:spcBef>
                <a:spcPts val="500"/>
              </a:spcBef>
              <a:buClr>
                <a:srgbClr val="7FD13B"/>
              </a:buClr>
              <a:defRPr sz="2200"/>
            </a:pPr>
            <a:r>
              <a:t>If Vs = -1.01V, Vo = 11(-1.01V) &gt; V</a:t>
            </a:r>
            <a:r>
              <a:rPr baseline="29909"/>
              <a:t>+</a:t>
            </a:r>
            <a:endParaRPr sz="2400"/>
          </a:p>
          <a:p>
            <a:pPr lvl="1" marL="246888" indent="210311">
              <a:spcBef>
                <a:spcPts val="500"/>
              </a:spcBef>
              <a:buSzTx/>
              <a:buNone/>
              <a:defRPr baseline="29909" sz="2200"/>
            </a:pPr>
            <a:r>
              <a:t>			       </a:t>
            </a:r>
            <a:r>
              <a:rPr baseline="0"/>
              <a:t>Vo = +15V</a:t>
            </a:r>
          </a:p>
        </p:txBody>
      </p:sp>
      <p:sp>
        <p:nvSpPr>
          <p:cNvPr id="264" name="Text Placeholder 3"/>
          <p:cNvSpPr/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#2 (con’t)</a:t>
            </a:r>
          </a:p>
        </p:txBody>
      </p:sp>
      <p:sp>
        <p:nvSpPr>
          <p:cNvPr id="267" name="Content Placeholder 5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Voltage transfer characteristic</a:t>
            </a:r>
          </a:p>
        </p:txBody>
      </p:sp>
      <p:pic>
        <p:nvPicPr>
          <p:cNvPr id="2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2514600"/>
            <a:ext cx="8991600" cy="386715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Right Brace 7"/>
          <p:cNvSpPr/>
          <p:nvPr/>
        </p:nvSpPr>
        <p:spPr>
          <a:xfrm rot="14321399">
            <a:off x="5904834" y="1327997"/>
            <a:ext cx="762115" cy="5372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114"/>
                  <a:pt x="10800" y="255"/>
                </a:cubicBezTo>
                <a:lnTo>
                  <a:pt x="10800" y="10545"/>
                </a:lnTo>
                <a:cubicBezTo>
                  <a:pt x="10800" y="10686"/>
                  <a:pt x="15635" y="10800"/>
                  <a:pt x="21600" y="10800"/>
                </a:cubicBezTo>
                <a:cubicBezTo>
                  <a:pt x="15635" y="10800"/>
                  <a:pt x="10800" y="10914"/>
                  <a:pt x="10800" y="11055"/>
                </a:cubicBezTo>
                <a:lnTo>
                  <a:pt x="10800" y="21345"/>
                </a:lnTo>
                <a:cubicBezTo>
                  <a:pt x="10800" y="21486"/>
                  <a:pt x="5965" y="21600"/>
                  <a:pt x="0" y="21600"/>
                </a:cubicBezTo>
              </a:path>
            </a:pathLst>
          </a:custGeom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70" name="TextBox 8"/>
          <p:cNvSpPr txBox="1"/>
          <p:nvPr/>
        </p:nvSpPr>
        <p:spPr>
          <a:xfrm>
            <a:off x="2362200" y="2743200"/>
            <a:ext cx="3276600" cy="104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  <a:r>
              <a:t>Slope of the voltage transfer characteristic in the linear region is equal to A</a:t>
            </a:r>
            <a:r>
              <a:rPr baseline="-25000"/>
              <a:t>V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#3:  Voltage Follower</a:t>
            </a:r>
          </a:p>
        </p:txBody>
      </p:sp>
      <p:sp>
        <p:nvSpPr>
          <p:cNvPr id="273" name="TextBox 4"/>
          <p:cNvSpPr txBox="1"/>
          <p:nvPr/>
        </p:nvSpPr>
        <p:spPr>
          <a:xfrm>
            <a:off x="1981200" y="2286000"/>
            <a:ext cx="3962400" cy="2239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A voltage follower is a noninverting amplifier  where R</a:t>
            </a:r>
            <a:r>
              <a:rPr baseline="-25000"/>
              <a:t>f</a:t>
            </a:r>
            <a:r>
              <a:t> = 0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 and R</a:t>
            </a:r>
            <a:r>
              <a:rPr baseline="-25000"/>
              <a:t>1</a:t>
            </a:r>
            <a:r>
              <a:t> = ∞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.</a:t>
            </a:r>
          </a:p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 algn="ctr"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o </a:t>
            </a:r>
            <a:r>
              <a:t>/V</a:t>
            </a:r>
            <a:r>
              <a:rPr baseline="-25000"/>
              <a:t>s</a:t>
            </a:r>
            <a:r>
              <a:t> = 1 +R</a:t>
            </a:r>
            <a:r>
              <a:rPr baseline="-25000"/>
              <a:t>f</a:t>
            </a:r>
            <a:r>
              <a:t>/R</a:t>
            </a:r>
            <a:r>
              <a:rPr baseline="-25000"/>
              <a:t>1</a:t>
            </a:r>
            <a:r>
              <a:t> = 1 + 0 = 1</a:t>
            </a:r>
          </a:p>
        </p:txBody>
      </p:sp>
      <p:pic>
        <p:nvPicPr>
          <p:cNvPr id="2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600" y="1981200"/>
            <a:ext cx="4080586" cy="438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5164" y="1935163"/>
            <a:ext cx="676167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#4:  Summing Amplifier</a:t>
            </a:r>
          </a:p>
        </p:txBody>
      </p:sp>
      <p:sp>
        <p:nvSpPr>
          <p:cNvPr id="278" name="Rectangle 16"/>
          <p:cNvSpPr txBox="1"/>
          <p:nvPr/>
        </p:nvSpPr>
        <p:spPr>
          <a:xfrm>
            <a:off x="1600199" y="6096000"/>
            <a:ext cx="9267191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r>
              <a:t>A summing amplifier is an inverting amplifier with multiple inputs.</a:t>
            </a:r>
          </a:p>
        </p:txBody>
      </p:sp>
      <p:sp>
        <p:nvSpPr>
          <p:cNvPr id="279" name="TextBox 17"/>
          <p:cNvSpPr txBox="1"/>
          <p:nvPr/>
        </p:nvSpPr>
        <p:spPr>
          <a:xfrm>
            <a:off x="7010400" y="3505200"/>
            <a:ext cx="1143000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30000"/>
              <a:t>+</a:t>
            </a:r>
            <a:r>
              <a:t> = 30V</a:t>
            </a:r>
          </a:p>
          <a:p>
            <a:pPr>
              <a:defRPr sz="16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30000"/>
              <a:t>-</a:t>
            </a:r>
            <a:r>
              <a:t>=-30V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5164" y="1935163"/>
            <a:ext cx="6761670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sp>
        <p:nvSpPr>
          <p:cNvPr id="283" name="Straight Arrow Connector 4"/>
          <p:cNvSpPr/>
          <p:nvPr/>
        </p:nvSpPr>
        <p:spPr>
          <a:xfrm>
            <a:off x="6629400" y="4114800"/>
            <a:ext cx="3048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84" name="Straight Arrow Connector 5"/>
          <p:cNvSpPr/>
          <p:nvPr/>
        </p:nvSpPr>
        <p:spPr>
          <a:xfrm>
            <a:off x="4648200" y="3198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85" name="TextBox 6"/>
          <p:cNvSpPr txBox="1"/>
          <p:nvPr/>
        </p:nvSpPr>
        <p:spPr>
          <a:xfrm>
            <a:off x="6248400" y="36576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286" name="TextBox 7"/>
          <p:cNvSpPr txBox="1"/>
          <p:nvPr/>
        </p:nvSpPr>
        <p:spPr>
          <a:xfrm>
            <a:off x="6553200" y="32766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1</a:t>
            </a:r>
          </a:p>
        </p:txBody>
      </p:sp>
      <p:sp>
        <p:nvSpPr>
          <p:cNvPr id="287" name="TextBox 8"/>
          <p:cNvSpPr txBox="1"/>
          <p:nvPr/>
        </p:nvSpPr>
        <p:spPr>
          <a:xfrm>
            <a:off x="6629400" y="4324289"/>
            <a:ext cx="4572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2</a:t>
            </a:r>
          </a:p>
        </p:txBody>
      </p:sp>
      <p:sp>
        <p:nvSpPr>
          <p:cNvPr id="288" name="TextBox 10"/>
          <p:cNvSpPr txBox="1"/>
          <p:nvPr/>
        </p:nvSpPr>
        <p:spPr>
          <a:xfrm>
            <a:off x="6248400" y="27432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289" name="Straight Arrow Connector 24"/>
          <p:cNvSpPr/>
          <p:nvPr/>
        </p:nvSpPr>
        <p:spPr>
          <a:xfrm>
            <a:off x="6248400" y="3198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90" name="Straight Arrow Connector 25"/>
          <p:cNvSpPr/>
          <p:nvPr/>
        </p:nvSpPr>
        <p:spPr>
          <a:xfrm>
            <a:off x="4876800" y="3810000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91" name="Straight Arrow Connector 26"/>
          <p:cNvSpPr/>
          <p:nvPr/>
        </p:nvSpPr>
        <p:spPr>
          <a:xfrm>
            <a:off x="5562600" y="4875212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92" name="Straight Arrow Connector 27"/>
          <p:cNvSpPr/>
          <p:nvPr/>
        </p:nvSpPr>
        <p:spPr>
          <a:xfrm>
            <a:off x="6248400" y="21336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293" name="Rectangle 28"/>
          <p:cNvSpPr txBox="1"/>
          <p:nvPr/>
        </p:nvSpPr>
        <p:spPr>
          <a:xfrm>
            <a:off x="4495800" y="2743200"/>
            <a:ext cx="35595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A</a:t>
            </a:r>
            <a:r>
              <a:t> </a:t>
            </a:r>
          </a:p>
        </p:txBody>
      </p:sp>
      <p:sp>
        <p:nvSpPr>
          <p:cNvPr id="294" name="Rectangle 29"/>
          <p:cNvSpPr txBox="1"/>
          <p:nvPr/>
        </p:nvSpPr>
        <p:spPr>
          <a:xfrm>
            <a:off x="4724400" y="3352800"/>
            <a:ext cx="339066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B</a:t>
            </a:r>
            <a:r>
              <a:t> </a:t>
            </a:r>
          </a:p>
        </p:txBody>
      </p:sp>
      <p:sp>
        <p:nvSpPr>
          <p:cNvPr id="295" name="Rectangle 31"/>
          <p:cNvSpPr txBox="1"/>
          <p:nvPr/>
        </p:nvSpPr>
        <p:spPr>
          <a:xfrm>
            <a:off x="5562600" y="4876800"/>
            <a:ext cx="347474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C</a:t>
            </a:r>
            <a:r>
              <a:t> </a:t>
            </a:r>
          </a:p>
        </p:txBody>
      </p:sp>
      <p:sp>
        <p:nvSpPr>
          <p:cNvPr id="296" name="Rectangle 32"/>
          <p:cNvSpPr txBox="1"/>
          <p:nvPr/>
        </p:nvSpPr>
        <p:spPr>
          <a:xfrm>
            <a:off x="5950329" y="1752600"/>
            <a:ext cx="296725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  <a:r>
              <a:t> </a:t>
            </a:r>
          </a:p>
        </p:txBody>
      </p:sp>
      <p:sp>
        <p:nvSpPr>
          <p:cNvPr id="297" name="Rectangle 33"/>
          <p:cNvSpPr txBox="1"/>
          <p:nvPr/>
        </p:nvSpPr>
        <p:spPr>
          <a:xfrm>
            <a:off x="2743200" y="6027003"/>
            <a:ext cx="6400800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We apply superposition to obtain a relationship between Vo and the input voltages</a:t>
            </a:r>
            <a:r>
              <a:rPr sz="1800"/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02022" y="1935163"/>
            <a:ext cx="6387955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Right Arrow 4"/>
          <p:cNvSpPr/>
          <p:nvPr/>
        </p:nvSpPr>
        <p:spPr>
          <a:xfrm rot="2693112">
            <a:off x="5298202" y="2946587"/>
            <a:ext cx="914401" cy="2762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25400">
            <a:solidFill>
              <a:srgbClr val="5D992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02" name="TextBox 5"/>
          <p:cNvSpPr txBox="1"/>
          <p:nvPr/>
        </p:nvSpPr>
        <p:spPr>
          <a:xfrm>
            <a:off x="3657600" y="2209800"/>
            <a:ext cx="182880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latin typeface="Constantia"/>
                <a:ea typeface="Constantia"/>
                <a:cs typeface="Constantia"/>
                <a:sym typeface="Constantia"/>
              </a:defRPr>
            </a:lvl1pPr>
          </a:lstStyle>
          <a:p>
            <a:pPr/>
            <a:r>
              <a:t>A virtual ground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4363" y="1295400"/>
            <a:ext cx="7098857" cy="5264321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06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86600" y="5334000"/>
            <a:ext cx="2686050" cy="1341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4363" y="1295400"/>
            <a:ext cx="7098857" cy="5264321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sp>
        <p:nvSpPr>
          <p:cNvPr id="310" name="L-Shape 8"/>
          <p:cNvSpPr/>
          <p:nvPr/>
        </p:nvSpPr>
        <p:spPr>
          <a:xfrm rot="16200000">
            <a:off x="4927103" y="3635812"/>
            <a:ext cx="3400485" cy="24342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4349" y="0"/>
                </a:lnTo>
                <a:lnTo>
                  <a:pt x="14349" y="10800"/>
                </a:lnTo>
                <a:lnTo>
                  <a:pt x="21600" y="10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11" name="TextBox 9"/>
          <p:cNvSpPr txBox="1"/>
          <p:nvPr/>
        </p:nvSpPr>
        <p:spPr>
          <a:xfrm>
            <a:off x="1752600" y="5867400"/>
            <a:ext cx="3581400" cy="9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onstantia"/>
                <a:ea typeface="Constantia"/>
                <a:cs typeface="Constantia"/>
                <a:sym typeface="Constantia"/>
              </a:defRPr>
            </a:pPr>
            <a:r>
              <a:t>Note that the voltages at both nodes of R</a:t>
            </a:r>
            <a:r>
              <a:rPr baseline="-25000"/>
              <a:t>C</a:t>
            </a:r>
            <a:r>
              <a:t> are 0V.</a:t>
            </a:r>
          </a:p>
        </p:txBody>
      </p:sp>
      <p:pic>
        <p:nvPicPr>
          <p:cNvPr id="312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77200" y="5410200"/>
            <a:ext cx="2190750" cy="876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15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43800" y="2240764"/>
            <a:ext cx="2763506" cy="35837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4000" y="1981200"/>
            <a:ext cx="5919090" cy="438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1981200"/>
            <a:ext cx="5919090" cy="4389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43800" y="2257425"/>
            <a:ext cx="2763839" cy="3551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23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27925" y="2257425"/>
            <a:ext cx="2795589" cy="3551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4000" y="1981200"/>
            <a:ext cx="5919090" cy="438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#4 (con’t)</a:t>
            </a:r>
          </a:p>
        </p:txBody>
      </p:sp>
      <p:pic>
        <p:nvPicPr>
          <p:cNvPr id="3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1752600"/>
            <a:ext cx="6761669" cy="4389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Object 2" descr="Object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3886200"/>
            <a:ext cx="4183856" cy="28335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#5:  Difference Amplifier</a:t>
            </a:r>
          </a:p>
        </p:txBody>
      </p:sp>
      <p:pic>
        <p:nvPicPr>
          <p:cNvPr id="33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83823" y="1935163"/>
            <a:ext cx="6624354" cy="438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53048" y="1782763"/>
            <a:ext cx="6624353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sp>
        <p:nvSpPr>
          <p:cNvPr id="335" name="Straight Arrow Connector 3"/>
          <p:cNvSpPr/>
          <p:nvPr/>
        </p:nvSpPr>
        <p:spPr>
          <a:xfrm>
            <a:off x="6324599" y="41910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36" name="Straight Arrow Connector 4"/>
          <p:cNvSpPr/>
          <p:nvPr/>
        </p:nvSpPr>
        <p:spPr>
          <a:xfrm>
            <a:off x="3352800" y="32004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37" name="TextBox 5"/>
          <p:cNvSpPr txBox="1"/>
          <p:nvPr/>
        </p:nvSpPr>
        <p:spPr>
          <a:xfrm>
            <a:off x="6248400" y="36576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338" name="TextBox 6"/>
          <p:cNvSpPr txBox="1"/>
          <p:nvPr/>
        </p:nvSpPr>
        <p:spPr>
          <a:xfrm>
            <a:off x="6400800" y="32766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1</a:t>
            </a:r>
          </a:p>
        </p:txBody>
      </p:sp>
      <p:sp>
        <p:nvSpPr>
          <p:cNvPr id="339" name="TextBox 7"/>
          <p:cNvSpPr txBox="1"/>
          <p:nvPr/>
        </p:nvSpPr>
        <p:spPr>
          <a:xfrm>
            <a:off x="6400800" y="43434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2</a:t>
            </a:r>
          </a:p>
        </p:txBody>
      </p:sp>
      <p:sp>
        <p:nvSpPr>
          <p:cNvPr id="340" name="TextBox 8"/>
          <p:cNvSpPr txBox="1"/>
          <p:nvPr/>
        </p:nvSpPr>
        <p:spPr>
          <a:xfrm>
            <a:off x="6248400" y="27432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341" name="Straight Arrow Connector 9"/>
          <p:cNvSpPr/>
          <p:nvPr/>
        </p:nvSpPr>
        <p:spPr>
          <a:xfrm>
            <a:off x="6248400" y="3198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42" name="Straight Arrow Connector 10"/>
          <p:cNvSpPr/>
          <p:nvPr/>
        </p:nvSpPr>
        <p:spPr>
          <a:xfrm>
            <a:off x="4267200" y="4191000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43" name="Straight Arrow Connector 11"/>
          <p:cNvSpPr/>
          <p:nvPr/>
        </p:nvSpPr>
        <p:spPr>
          <a:xfrm flipH="1">
            <a:off x="5943600" y="4419599"/>
            <a:ext cx="1589" cy="38100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44" name="Straight Arrow Connector 12"/>
          <p:cNvSpPr/>
          <p:nvPr/>
        </p:nvSpPr>
        <p:spPr>
          <a:xfrm>
            <a:off x="6248400" y="21336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45" name="Rectangle 13"/>
          <p:cNvSpPr txBox="1"/>
          <p:nvPr/>
        </p:nvSpPr>
        <p:spPr>
          <a:xfrm>
            <a:off x="3352800" y="2667000"/>
            <a:ext cx="35595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A</a:t>
            </a:r>
            <a:r>
              <a:t> </a:t>
            </a:r>
          </a:p>
        </p:txBody>
      </p:sp>
      <p:sp>
        <p:nvSpPr>
          <p:cNvPr id="346" name="Rectangle 14"/>
          <p:cNvSpPr txBox="1"/>
          <p:nvPr/>
        </p:nvSpPr>
        <p:spPr>
          <a:xfrm>
            <a:off x="4038600" y="3733800"/>
            <a:ext cx="339066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B</a:t>
            </a:r>
            <a:r>
              <a:t> </a:t>
            </a:r>
          </a:p>
        </p:txBody>
      </p:sp>
      <p:sp>
        <p:nvSpPr>
          <p:cNvPr id="347" name="Rectangle 15"/>
          <p:cNvSpPr txBox="1"/>
          <p:nvPr/>
        </p:nvSpPr>
        <p:spPr>
          <a:xfrm>
            <a:off x="5562600" y="4343400"/>
            <a:ext cx="41562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C</a:t>
            </a:r>
            <a:r>
              <a:t> </a:t>
            </a:r>
          </a:p>
        </p:txBody>
      </p:sp>
      <p:sp>
        <p:nvSpPr>
          <p:cNvPr id="348" name="Rectangle 16"/>
          <p:cNvSpPr txBox="1"/>
          <p:nvPr/>
        </p:nvSpPr>
        <p:spPr>
          <a:xfrm>
            <a:off x="5950329" y="1752600"/>
            <a:ext cx="296725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1800" y="1828800"/>
            <a:ext cx="6624353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sp>
        <p:nvSpPr>
          <p:cNvPr id="352" name="Straight Arrow Connector 3"/>
          <p:cNvSpPr/>
          <p:nvPr/>
        </p:nvSpPr>
        <p:spPr>
          <a:xfrm>
            <a:off x="6324599" y="41910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53" name="Straight Arrow Connector 4"/>
          <p:cNvSpPr/>
          <p:nvPr/>
        </p:nvSpPr>
        <p:spPr>
          <a:xfrm>
            <a:off x="3352800" y="32004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54" name="TextBox 5"/>
          <p:cNvSpPr txBox="1"/>
          <p:nvPr/>
        </p:nvSpPr>
        <p:spPr>
          <a:xfrm>
            <a:off x="6248400" y="36576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355" name="TextBox 6"/>
          <p:cNvSpPr txBox="1"/>
          <p:nvPr/>
        </p:nvSpPr>
        <p:spPr>
          <a:xfrm>
            <a:off x="6400800" y="32766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1</a:t>
            </a:r>
          </a:p>
        </p:txBody>
      </p:sp>
      <p:sp>
        <p:nvSpPr>
          <p:cNvPr id="356" name="TextBox 7"/>
          <p:cNvSpPr txBox="1"/>
          <p:nvPr/>
        </p:nvSpPr>
        <p:spPr>
          <a:xfrm>
            <a:off x="6400800" y="43434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2</a:t>
            </a:r>
          </a:p>
        </p:txBody>
      </p:sp>
      <p:sp>
        <p:nvSpPr>
          <p:cNvPr id="357" name="TextBox 8"/>
          <p:cNvSpPr txBox="1"/>
          <p:nvPr/>
        </p:nvSpPr>
        <p:spPr>
          <a:xfrm>
            <a:off x="6248400" y="27432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358" name="Straight Arrow Connector 9"/>
          <p:cNvSpPr/>
          <p:nvPr/>
        </p:nvSpPr>
        <p:spPr>
          <a:xfrm>
            <a:off x="6248400" y="3198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59" name="Straight Arrow Connector 10"/>
          <p:cNvSpPr/>
          <p:nvPr/>
        </p:nvSpPr>
        <p:spPr>
          <a:xfrm>
            <a:off x="4267200" y="4191000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60" name="Straight Arrow Connector 11"/>
          <p:cNvSpPr/>
          <p:nvPr/>
        </p:nvSpPr>
        <p:spPr>
          <a:xfrm flipH="1">
            <a:off x="5943600" y="4419599"/>
            <a:ext cx="1589" cy="38100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61" name="Straight Arrow Connector 12"/>
          <p:cNvSpPr/>
          <p:nvPr/>
        </p:nvSpPr>
        <p:spPr>
          <a:xfrm>
            <a:off x="6248400" y="21336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62" name="Rectangle 13"/>
          <p:cNvSpPr txBox="1"/>
          <p:nvPr/>
        </p:nvSpPr>
        <p:spPr>
          <a:xfrm>
            <a:off x="3352800" y="2667000"/>
            <a:ext cx="35595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A</a:t>
            </a:r>
            <a:r>
              <a:t> </a:t>
            </a:r>
          </a:p>
        </p:txBody>
      </p:sp>
      <p:sp>
        <p:nvSpPr>
          <p:cNvPr id="363" name="Rectangle 14"/>
          <p:cNvSpPr txBox="1"/>
          <p:nvPr/>
        </p:nvSpPr>
        <p:spPr>
          <a:xfrm>
            <a:off x="4038600" y="3733800"/>
            <a:ext cx="339066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B</a:t>
            </a:r>
            <a:r>
              <a:t> </a:t>
            </a:r>
          </a:p>
        </p:txBody>
      </p:sp>
      <p:sp>
        <p:nvSpPr>
          <p:cNvPr id="364" name="Rectangle 15"/>
          <p:cNvSpPr txBox="1"/>
          <p:nvPr/>
        </p:nvSpPr>
        <p:spPr>
          <a:xfrm>
            <a:off x="5562600" y="4343400"/>
            <a:ext cx="41562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C</a:t>
            </a:r>
            <a:r>
              <a:t> </a:t>
            </a:r>
          </a:p>
        </p:txBody>
      </p:sp>
      <p:sp>
        <p:nvSpPr>
          <p:cNvPr id="365" name="Rectangle 16"/>
          <p:cNvSpPr txBox="1"/>
          <p:nvPr/>
        </p:nvSpPr>
        <p:spPr>
          <a:xfrm>
            <a:off x="5950329" y="1752600"/>
            <a:ext cx="296725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  <a:r>
              <a:t> </a:t>
            </a:r>
          </a:p>
        </p:txBody>
      </p:sp>
      <p:sp>
        <p:nvSpPr>
          <p:cNvPr id="366" name="Rectangle 20"/>
          <p:cNvSpPr/>
          <p:nvPr/>
        </p:nvSpPr>
        <p:spPr>
          <a:xfrm>
            <a:off x="3810000" y="3733800"/>
            <a:ext cx="3962400" cy="2438400"/>
          </a:xfrm>
          <a:prstGeom prst="rect">
            <a:avLst/>
          </a:prstGeom>
          <a:ln w="381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pic>
        <p:nvPicPr>
          <p:cNvPr id="367" name="Object 21" descr="Object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58200" y="4267200"/>
            <a:ext cx="1727200" cy="1828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1800" y="1828800"/>
            <a:ext cx="6624353" cy="4389438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sp>
        <p:nvSpPr>
          <p:cNvPr id="371" name="Straight Arrow Connector 3"/>
          <p:cNvSpPr/>
          <p:nvPr/>
        </p:nvSpPr>
        <p:spPr>
          <a:xfrm>
            <a:off x="6324599" y="4191000"/>
            <a:ext cx="4572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72" name="Straight Arrow Connector 4"/>
          <p:cNvSpPr/>
          <p:nvPr/>
        </p:nvSpPr>
        <p:spPr>
          <a:xfrm>
            <a:off x="3352800" y="32004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73" name="TextBox 5"/>
          <p:cNvSpPr txBox="1"/>
          <p:nvPr/>
        </p:nvSpPr>
        <p:spPr>
          <a:xfrm>
            <a:off x="6248400" y="36576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2</a:t>
            </a:r>
            <a:r>
              <a:t> = 0</a:t>
            </a:r>
          </a:p>
        </p:txBody>
      </p:sp>
      <p:sp>
        <p:nvSpPr>
          <p:cNvPr id="374" name="TextBox 6"/>
          <p:cNvSpPr txBox="1"/>
          <p:nvPr/>
        </p:nvSpPr>
        <p:spPr>
          <a:xfrm>
            <a:off x="6400800" y="32766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1</a:t>
            </a:r>
          </a:p>
        </p:txBody>
      </p:sp>
      <p:sp>
        <p:nvSpPr>
          <p:cNvPr id="375" name="TextBox 7"/>
          <p:cNvSpPr txBox="1"/>
          <p:nvPr/>
        </p:nvSpPr>
        <p:spPr>
          <a:xfrm>
            <a:off x="6400800" y="4343400"/>
            <a:ext cx="4572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v</a:t>
            </a:r>
            <a:r>
              <a:rPr baseline="-25000"/>
              <a:t>2</a:t>
            </a:r>
          </a:p>
        </p:txBody>
      </p:sp>
      <p:sp>
        <p:nvSpPr>
          <p:cNvPr id="376" name="TextBox 8"/>
          <p:cNvSpPr txBox="1"/>
          <p:nvPr/>
        </p:nvSpPr>
        <p:spPr>
          <a:xfrm>
            <a:off x="6248400" y="2743200"/>
            <a:ext cx="76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1</a:t>
            </a:r>
            <a:r>
              <a:t> = 0</a:t>
            </a:r>
          </a:p>
        </p:txBody>
      </p:sp>
      <p:sp>
        <p:nvSpPr>
          <p:cNvPr id="377" name="Straight Arrow Connector 9"/>
          <p:cNvSpPr/>
          <p:nvPr/>
        </p:nvSpPr>
        <p:spPr>
          <a:xfrm>
            <a:off x="6248400" y="3198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78" name="Straight Arrow Connector 10"/>
          <p:cNvSpPr/>
          <p:nvPr/>
        </p:nvSpPr>
        <p:spPr>
          <a:xfrm>
            <a:off x="4267200" y="4191000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79" name="Straight Arrow Connector 11"/>
          <p:cNvSpPr/>
          <p:nvPr/>
        </p:nvSpPr>
        <p:spPr>
          <a:xfrm flipH="1">
            <a:off x="5943600" y="4419599"/>
            <a:ext cx="1589" cy="381002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80" name="Straight Arrow Connector 12"/>
          <p:cNvSpPr/>
          <p:nvPr/>
        </p:nvSpPr>
        <p:spPr>
          <a:xfrm>
            <a:off x="6248400" y="2133600"/>
            <a:ext cx="533401" cy="1588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81" name="Rectangle 13"/>
          <p:cNvSpPr txBox="1"/>
          <p:nvPr/>
        </p:nvSpPr>
        <p:spPr>
          <a:xfrm>
            <a:off x="3352800" y="2667000"/>
            <a:ext cx="35595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A</a:t>
            </a:r>
            <a:r>
              <a:t> </a:t>
            </a:r>
          </a:p>
        </p:txBody>
      </p:sp>
      <p:sp>
        <p:nvSpPr>
          <p:cNvPr id="382" name="Rectangle 14"/>
          <p:cNvSpPr txBox="1"/>
          <p:nvPr/>
        </p:nvSpPr>
        <p:spPr>
          <a:xfrm>
            <a:off x="4038600" y="3733800"/>
            <a:ext cx="339066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B</a:t>
            </a:r>
            <a:r>
              <a:t> </a:t>
            </a:r>
          </a:p>
        </p:txBody>
      </p:sp>
      <p:sp>
        <p:nvSpPr>
          <p:cNvPr id="383" name="Rectangle 15"/>
          <p:cNvSpPr txBox="1"/>
          <p:nvPr/>
        </p:nvSpPr>
        <p:spPr>
          <a:xfrm>
            <a:off x="5562600" y="4343400"/>
            <a:ext cx="415628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C</a:t>
            </a:r>
            <a:r>
              <a:t> </a:t>
            </a:r>
          </a:p>
        </p:txBody>
      </p:sp>
      <p:sp>
        <p:nvSpPr>
          <p:cNvPr id="384" name="Rectangle 16"/>
          <p:cNvSpPr txBox="1"/>
          <p:nvPr/>
        </p:nvSpPr>
        <p:spPr>
          <a:xfrm>
            <a:off x="5950329" y="1752600"/>
            <a:ext cx="296725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  <a:r>
              <a:t> </a:t>
            </a:r>
          </a:p>
        </p:txBody>
      </p:sp>
      <p:sp>
        <p:nvSpPr>
          <p:cNvPr id="385" name="Rectangle 20"/>
          <p:cNvSpPr/>
          <p:nvPr/>
        </p:nvSpPr>
        <p:spPr>
          <a:xfrm>
            <a:off x="3810000" y="3733800"/>
            <a:ext cx="3962400" cy="2438400"/>
          </a:xfrm>
          <a:prstGeom prst="rect">
            <a:avLst/>
          </a:prstGeom>
          <a:ln w="381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pic>
        <p:nvPicPr>
          <p:cNvPr id="386" name="Object 21" descr="Object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01000" y="4006270"/>
            <a:ext cx="2362200" cy="26659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pic>
        <p:nvPicPr>
          <p:cNvPr id="3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2600" y="2057400"/>
            <a:ext cx="5924550" cy="4257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01000" y="2849563"/>
            <a:ext cx="2484439" cy="3330576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Straight Arrow Connector 7"/>
          <p:cNvSpPr/>
          <p:nvPr/>
        </p:nvSpPr>
        <p:spPr>
          <a:xfrm>
            <a:off x="2209800" y="3733800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92" name="TextBox 8"/>
          <p:cNvSpPr txBox="1"/>
          <p:nvPr/>
        </p:nvSpPr>
        <p:spPr>
          <a:xfrm>
            <a:off x="2209800" y="3276600"/>
            <a:ext cx="381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A</a:t>
            </a:r>
          </a:p>
        </p:txBody>
      </p:sp>
      <p:sp>
        <p:nvSpPr>
          <p:cNvPr id="393" name="Straight Arrow Connector 10"/>
          <p:cNvSpPr/>
          <p:nvPr/>
        </p:nvSpPr>
        <p:spPr>
          <a:xfrm>
            <a:off x="4648200" y="2436811"/>
            <a:ext cx="533401" cy="1589"/>
          </a:xfrm>
          <a:prstGeom prst="line">
            <a:avLst/>
          </a:prstGeom>
          <a:ln w="25400">
            <a:solidFill>
              <a:srgbClr val="5D9A29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394" name="TextBox 11"/>
          <p:cNvSpPr txBox="1"/>
          <p:nvPr/>
        </p:nvSpPr>
        <p:spPr>
          <a:xfrm>
            <a:off x="4648200" y="1979611"/>
            <a:ext cx="38100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Constantia"/>
                <a:ea typeface="Constantia"/>
                <a:cs typeface="Constantia"/>
                <a:sym typeface="Constantia"/>
              </a:defRPr>
            </a:pPr>
            <a:r>
              <a:t>i</a:t>
            </a:r>
            <a:r>
              <a:rPr baseline="-25000"/>
              <a:t>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pic>
        <p:nvPicPr>
          <p:cNvPr id="3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3999" y="3121611"/>
            <a:ext cx="5638802" cy="3736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0" y="1981200"/>
            <a:ext cx="48260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05400" y="5410200"/>
            <a:ext cx="5490634" cy="13538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3273085"/>
            <a:ext cx="5410200" cy="3584915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#5 (con’t)</a:t>
            </a:r>
          </a:p>
        </p:txBody>
      </p:sp>
      <p:pic>
        <p:nvPicPr>
          <p:cNvPr id="403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35850" y="2514600"/>
            <a:ext cx="269875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Object 6" descr="Object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35875" y="4629150"/>
            <a:ext cx="1905000" cy="571500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Content Placeholder 8"/>
          <p:cNvSpPr txBox="1"/>
          <p:nvPr>
            <p:ph type="body" sz="quarter" idx="4294967295"/>
          </p:nvPr>
        </p:nvSpPr>
        <p:spPr>
          <a:xfrm>
            <a:off x="7146925" y="2148684"/>
            <a:ext cx="3276600" cy="4434842"/>
          </a:xfrm>
          <a:prstGeom prst="rect">
            <a:avLst/>
          </a:prstGeom>
        </p:spPr>
        <p:txBody>
          <a:bodyPr/>
          <a:lstStyle/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pPr>
            <a:r>
              <a:t>If R</a:t>
            </a:r>
            <a:r>
              <a:rPr baseline="-25000"/>
              <a:t>A</a:t>
            </a:r>
            <a:r>
              <a:t>/R</a:t>
            </a:r>
            <a:r>
              <a:rPr baseline="-25000"/>
              <a:t>f</a:t>
            </a:r>
            <a:r>
              <a:t> = R</a:t>
            </a:r>
            <a:r>
              <a:rPr baseline="-25000"/>
              <a:t>B</a:t>
            </a:r>
            <a:r>
              <a:t>/R</a:t>
            </a:r>
            <a:r>
              <a:rPr baseline="-25000"/>
              <a:t>C</a:t>
            </a:r>
            <a:endParaRPr baseline="-25000"/>
          </a:p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baseline="-25000" sz="26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baseline="-25000" sz="26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baseline="-25000" sz="26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baseline="-25000" sz="2600">
                <a:latin typeface="Constantia"/>
                <a:ea typeface="Constantia"/>
                <a:cs typeface="Constantia"/>
                <a:sym typeface="Constantia"/>
              </a:defRPr>
            </a:pPr>
          </a:p>
          <a:p>
            <a:pPr marL="274320" indent="-274320">
              <a:lnSpc>
                <a:spcPct val="100000"/>
              </a:lnSpc>
              <a:spcBef>
                <a:spcPts val="600"/>
              </a:spcBef>
              <a:buClr>
                <a:srgbClr val="FEB80A"/>
              </a:buClr>
              <a:buSzPct val="95000"/>
              <a:buFontTx/>
              <a:buChar char="●"/>
              <a:defRPr sz="2600">
                <a:latin typeface="Constantia"/>
                <a:ea typeface="Constantia"/>
                <a:cs typeface="Constantia"/>
                <a:sym typeface="Constantia"/>
              </a:defRPr>
            </a:pPr>
            <a:r>
              <a:t>And if R</a:t>
            </a:r>
            <a:r>
              <a:rPr baseline="-25000"/>
              <a:t>A</a:t>
            </a:r>
            <a:r>
              <a:t> = R</a:t>
            </a:r>
            <a:r>
              <a:rPr baseline="-25000"/>
              <a:t>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#6:  Cascading Op Amps</a:t>
            </a:r>
          </a:p>
        </p:txBody>
      </p:sp>
      <p:pic>
        <p:nvPicPr>
          <p:cNvPr id="4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2454337"/>
            <a:ext cx="8229600" cy="3351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5475" y="2514600"/>
            <a:ext cx="8467725" cy="3448050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 (con’t)</a:t>
            </a:r>
          </a:p>
        </p:txBody>
      </p:sp>
      <p:sp>
        <p:nvSpPr>
          <p:cNvPr id="412" name="Rectangle 3"/>
          <p:cNvSpPr/>
          <p:nvPr/>
        </p:nvSpPr>
        <p:spPr>
          <a:xfrm>
            <a:off x="1828800" y="2362200"/>
            <a:ext cx="4038600" cy="3962400"/>
          </a:xfrm>
          <a:prstGeom prst="rect">
            <a:avLst/>
          </a:prstGeom>
          <a:ln w="25400">
            <a:solidFill>
              <a:srgbClr val="5D992B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413" name="Rectangle 4"/>
          <p:cNvSpPr/>
          <p:nvPr/>
        </p:nvSpPr>
        <p:spPr>
          <a:xfrm>
            <a:off x="6248400" y="2514600"/>
            <a:ext cx="4038600" cy="3810000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414" name="Content Placeholder 7"/>
          <p:cNvSpPr txBox="1"/>
          <p:nvPr>
            <p:ph type="body" sz="half" idx="1"/>
          </p:nvPr>
        </p:nvSpPr>
        <p:spPr>
          <a:xfrm>
            <a:off x="812800" y="14573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Treat as two separate amplifier circuits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itle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 (con’t)</a:t>
            </a:r>
          </a:p>
        </p:txBody>
      </p:sp>
      <p:sp>
        <p:nvSpPr>
          <p:cNvPr id="417" name="Text Placeholder 4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First Circuit</a:t>
            </a:r>
          </a:p>
        </p:txBody>
      </p:sp>
      <p:pic>
        <p:nvPicPr>
          <p:cNvPr id="41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2700575"/>
            <a:ext cx="4040188" cy="3474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69025" y="2719692"/>
            <a:ext cx="4041775" cy="34363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itle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 (con’t)</a:t>
            </a:r>
          </a:p>
        </p:txBody>
      </p:sp>
      <p:sp>
        <p:nvSpPr>
          <p:cNvPr id="422" name="Content Placeholder 9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It is a noninverting amplifier.</a:t>
            </a:r>
          </a:p>
        </p:txBody>
      </p:sp>
      <p:pic>
        <p:nvPicPr>
          <p:cNvPr id="423" name="Object 10" descr="Object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3825" y="2990850"/>
            <a:ext cx="3206750" cy="2343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1200" y="2401221"/>
            <a:ext cx="4038600" cy="3473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itle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 (con’t)</a:t>
            </a:r>
          </a:p>
        </p:txBody>
      </p:sp>
      <p:sp>
        <p:nvSpPr>
          <p:cNvPr id="427" name="Content Placeholder 7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It is a inverting amplifier.</a:t>
            </a:r>
          </a:p>
        </p:txBody>
      </p:sp>
      <p:pic>
        <p:nvPicPr>
          <p:cNvPr id="42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2421004"/>
            <a:ext cx="4038600" cy="3433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" name="Object 2" descr="Object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59587" y="2676525"/>
            <a:ext cx="2435226" cy="22193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#6 (con’t)</a:t>
            </a:r>
          </a:p>
        </p:txBody>
      </p:sp>
      <p:sp>
        <p:nvSpPr>
          <p:cNvPr id="432" name="Content Placeholder 7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gain of the cascaded amplifiers is the multiplication of the two individial amplifiers</a:t>
            </a:r>
          </a:p>
        </p:txBody>
      </p:sp>
      <p:pic>
        <p:nvPicPr>
          <p:cNvPr id="4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5000" y="3998185"/>
            <a:ext cx="6334125" cy="2579250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Rectangle 10"/>
          <p:cNvSpPr/>
          <p:nvPr/>
        </p:nvSpPr>
        <p:spPr>
          <a:xfrm>
            <a:off x="1752600" y="3845785"/>
            <a:ext cx="3249601" cy="2736465"/>
          </a:xfrm>
          <a:prstGeom prst="rect">
            <a:avLst/>
          </a:prstGeom>
          <a:ln w="25400">
            <a:solidFill>
              <a:srgbClr val="5D992B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sp>
        <p:nvSpPr>
          <p:cNvPr id="435" name="Rectangle 11"/>
          <p:cNvSpPr/>
          <p:nvPr/>
        </p:nvSpPr>
        <p:spPr>
          <a:xfrm>
            <a:off x="5132399" y="4150585"/>
            <a:ext cx="3021001" cy="2631215"/>
          </a:xfrm>
          <a:prstGeom prst="rect">
            <a:avLst/>
          </a:prstGeom>
          <a:ln w="2540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  <p:pic>
        <p:nvPicPr>
          <p:cNvPr id="436" name="Object 2" descr="Object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19800" y="2919413"/>
            <a:ext cx="4233863" cy="963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Object 3" descr="Object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29600" y="5029200"/>
            <a:ext cx="2438401" cy="685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44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74320" indent="-274320">
              <a:lnSpc>
                <a:spcPct val="80000"/>
              </a:lnSpc>
              <a:spcBef>
                <a:spcPts val="500"/>
              </a:spcBef>
              <a:defRPr sz="2200"/>
            </a:pPr>
            <a:r>
              <a:t>The ‘almost ideal’ op amp model:</a:t>
            </a:r>
          </a:p>
          <a:p>
            <a:pPr lvl="1" marL="704088" indent="-246888">
              <a:lnSpc>
                <a:spcPct val="80000"/>
              </a:lnSpc>
              <a:spcBef>
                <a:spcPts val="400"/>
              </a:spcBef>
              <a:buClr>
                <a:srgbClr val="7FD13B"/>
              </a:buClr>
              <a:defRPr sz="2000"/>
            </a:pPr>
            <a:r>
              <a:t>Ri = ∞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W.</a:t>
            </a:r>
          </a:p>
          <a:p>
            <a:pPr lvl="2" marL="1146765" indent="-232365">
              <a:lnSpc>
                <a:spcPct val="80000"/>
              </a:lnSpc>
              <a:spcBef>
                <a:spcPts val="400"/>
              </a:spcBef>
              <a:buClr>
                <a:srgbClr val="EA157A"/>
              </a:buClr>
              <a:defRPr sz="1600"/>
            </a:pPr>
            <a:r>
              <a:t>i</a:t>
            </a:r>
            <a:r>
              <a:rPr baseline="-26187"/>
              <a:t>1</a:t>
            </a:r>
            <a:r>
              <a:t> = i</a:t>
            </a:r>
            <a:r>
              <a:rPr baseline="-26187"/>
              <a:t>2</a:t>
            </a:r>
            <a:r>
              <a:t> = 0A; v</a:t>
            </a:r>
            <a:r>
              <a:rPr baseline="-26187"/>
              <a:t>1</a:t>
            </a:r>
            <a:r>
              <a:t> = v</a:t>
            </a:r>
            <a:r>
              <a:rPr baseline="-26187"/>
              <a:t>2</a:t>
            </a:r>
            <a:r>
              <a:t> </a:t>
            </a:r>
          </a:p>
          <a:p>
            <a:pPr lvl="1" marL="704088" indent="-246888">
              <a:lnSpc>
                <a:spcPct val="80000"/>
              </a:lnSpc>
              <a:spcBef>
                <a:spcPts val="400"/>
              </a:spcBef>
              <a:buClr>
                <a:srgbClr val="7FD13B"/>
              </a:buClr>
              <a:defRPr sz="2000"/>
            </a:pPr>
            <a:r>
              <a:t>Ro = 0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W.</a:t>
            </a:r>
          </a:p>
          <a:p>
            <a:pPr lvl="2" marL="1146765" indent="-232365">
              <a:lnSpc>
                <a:spcPct val="80000"/>
              </a:lnSpc>
              <a:spcBef>
                <a:spcPts val="400"/>
              </a:spcBef>
              <a:buClr>
                <a:srgbClr val="EA157A"/>
              </a:buClr>
              <a:defRPr sz="1600"/>
            </a:pPr>
            <a:r>
              <a:t>No power/voltage loss between the dependent voltage source and v</a:t>
            </a:r>
            <a:r>
              <a:rPr baseline="-26187"/>
              <a:t>o</a:t>
            </a:r>
            <a:r>
              <a:t>.</a:t>
            </a:r>
          </a:p>
          <a:p>
            <a:pPr lvl="1" marL="704088" indent="-246888">
              <a:lnSpc>
                <a:spcPct val="80000"/>
              </a:lnSpc>
              <a:spcBef>
                <a:spcPts val="400"/>
              </a:spcBef>
              <a:buClr>
                <a:srgbClr val="7FD13B"/>
              </a:buClr>
              <a:defRPr sz="2000"/>
            </a:pPr>
            <a:r>
              <a:t>The output voltage is limited by the voltages applied to the positive and negative rails.</a:t>
            </a:r>
          </a:p>
          <a:p>
            <a:pPr lvl="2" marL="1146765" indent="-232365">
              <a:lnSpc>
                <a:spcPct val="80000"/>
              </a:lnSpc>
              <a:spcBef>
                <a:spcPts val="400"/>
              </a:spcBef>
              <a:buClr>
                <a:srgbClr val="EA157A"/>
              </a:buClr>
              <a:defRPr sz="1600"/>
            </a:pPr>
            <a:r>
              <a:t>V</a:t>
            </a:r>
            <a:r>
              <a:rPr baseline="29875"/>
              <a:t>+</a:t>
            </a:r>
            <a:r>
              <a:t> ≥ v</a:t>
            </a:r>
            <a:r>
              <a:rPr baseline="-26187"/>
              <a:t>o</a:t>
            </a:r>
            <a:r>
              <a:t> ≥ V</a:t>
            </a:r>
            <a:r>
              <a:rPr baseline="29875"/>
              <a:t>-</a:t>
            </a:r>
            <a:r>
              <a:t> </a:t>
            </a:r>
          </a:p>
          <a:p>
            <a:pPr marL="274320" indent="-274320">
              <a:lnSpc>
                <a:spcPct val="80000"/>
              </a:lnSpc>
              <a:spcBef>
                <a:spcPts val="500"/>
              </a:spcBef>
              <a:defRPr sz="2200"/>
            </a:pPr>
            <a:r>
              <a:t>This model can be used to determine the closed loop voltage gain for any op amp circuit.</a:t>
            </a:r>
          </a:p>
          <a:p>
            <a:pPr lvl="1" marL="704088" indent="-246888">
              <a:lnSpc>
                <a:spcPct val="80000"/>
              </a:lnSpc>
              <a:spcBef>
                <a:spcPts val="400"/>
              </a:spcBef>
              <a:buClr>
                <a:srgbClr val="7FD13B"/>
              </a:buClr>
              <a:defRPr sz="2000"/>
            </a:pPr>
            <a:r>
              <a:t>Superposition can be used to solve for the output of a summing amplifier.</a:t>
            </a:r>
          </a:p>
          <a:p>
            <a:pPr lvl="1" marL="704088" indent="-246888">
              <a:lnSpc>
                <a:spcPct val="80000"/>
              </a:lnSpc>
              <a:spcBef>
                <a:spcPts val="400"/>
              </a:spcBef>
              <a:buClr>
                <a:srgbClr val="7FD13B"/>
              </a:buClr>
              <a:defRPr sz="2000"/>
            </a:pPr>
            <a:r>
              <a:t>Cascaded op amp circuits can be separated into individual amplifiers and the overall gain is the multiplication of the gain of each amplifier.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Design Problems</a:t>
            </a:r>
          </a:p>
        </p:txBody>
      </p:sp>
      <p:sp>
        <p:nvSpPr>
          <p:cNvPr id="44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6-1</a:t>
            </a:r>
          </a:p>
          <a:p>
            <a:pPr/>
            <a:r>
              <a:t>6-2</a:t>
            </a:r>
          </a:p>
          <a:p>
            <a:pPr/>
            <a:r>
              <a:t>6-3</a:t>
            </a:r>
          </a:p>
          <a:p>
            <a:pPr/>
            <a:r>
              <a:t>6-5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