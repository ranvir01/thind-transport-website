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24B5B-8C87-FEE7-1212-9188CFB676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FE441-CDDA-3A3F-CDBB-A8E922A8E1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D22E4-703E-A624-7341-46B3432BE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780D2-EE64-4721-AA9E-D46297371BA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5BD36-FB75-9041-B2C7-5E63ABC31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53958-8733-C08D-CEE0-A4D996DC9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A6A92-019F-4447-B860-70246B151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701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1D8F7-3965-027B-15A6-AC55279BC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8FF28-C466-463C-FCC8-1B307C2F6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C53A3-AA13-E383-C679-19D5AABC8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780D2-EE64-4721-AA9E-D46297371BA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C1FBD-9FDC-7ACD-5DBC-861E0180C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F2EA2-D5CD-41B5-3E3B-55EF6CA1F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A6A92-019F-4447-B860-70246B151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964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82CAE-F9B5-2616-5838-736F8CC72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8ED3F-06B5-6E3F-8667-D8735AAC8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DFA8E-D81E-E3E0-F0E7-8983668FD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780D2-EE64-4721-AA9E-D46297371BA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BAF5C-359C-7DD2-2548-FCC92A28C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66FF3-EC3D-7B43-B1D0-0AF90B4C8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A6A92-019F-4447-B860-70246B151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707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3717B-9992-071C-43AD-4CDD69D5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E0126-DA7E-D5D9-6DF9-D9F4778DC4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0BD803-7F87-F87B-C447-6D392B1F8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71AEDD-DF12-9B3B-716D-48CBD1D5E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780D2-EE64-4721-AA9E-D46297371BA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1AF3F-138E-E82F-74BF-01264C679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C81803-B344-5887-C2BD-06CA338CF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A6A92-019F-4447-B860-70246B151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70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8224B-3D3A-5697-24BF-F19EBC00E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AEF1B-C69F-E0EB-96E6-5554EC273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06110-BC58-52F1-2BDB-E8D5BDEE5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DBC86A-523A-C0B9-390D-676D7B82D3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9B87C0-B0F7-A1AF-8EB3-9E37EDDF2C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FC05C2-90F8-E8FB-09FC-6E4286AB4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780D2-EE64-4721-AA9E-D46297371BA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B9E8FB-5B5F-6942-42A7-5D4D68AB2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F2C917-5602-9750-3E3D-FAF8CB59F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A6A92-019F-4447-B860-70246B151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217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AA359-6869-CCAD-1FDD-1FC79D5DB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B09386-70D0-A0FF-C0B4-2BF628094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780D2-EE64-4721-AA9E-D46297371BA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43F4DE-C3C6-9DEE-EB6B-CC97C8966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2B7236-3705-CEDF-8EF0-603689C9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A6A92-019F-4447-B860-70246B151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28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06ADC2-1ABF-8CEA-BD08-D56579160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780D2-EE64-4721-AA9E-D46297371BA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D59F7D-3934-8F55-C52F-04F193C8F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BE197-4EF3-57B2-8B4C-A1996B7CB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A6A92-019F-4447-B860-70246B151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46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9AB0C-5F4F-2BB4-3AA4-791BA28DB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BD284-CBCD-A21F-DE5D-1F76A6290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8A3476-C9DA-D959-8597-6D82ED14C4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E72E3D-0D4F-BA46-8445-8AA5BDB7C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780D2-EE64-4721-AA9E-D46297371BA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53918-DD9F-257B-69DE-441F57760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E55C7-E824-CC1F-DE38-35B1264D6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A6A92-019F-4447-B860-70246B151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057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879CA-F736-F031-8475-298A5963B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8BE646-311F-CF00-E55C-07472DEFA5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8FCCCA-AE4C-CEEA-95DC-6A55DC2ADF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325E61-4BC0-480F-82A4-9B7099D3C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780D2-EE64-4721-AA9E-D46297371BA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B0702-FED5-A7B9-4487-EF0FF5F2F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E5396-315F-C76B-1919-908FD0755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A6A92-019F-4447-B860-70246B151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666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562F7-CF27-8FA6-AA54-3B2861D09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9A44EE-A814-85C6-64E9-F835915264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1C0D9-C56D-7D42-5422-FE35B5B8A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780D2-EE64-4721-AA9E-D46297371BA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1FF38-5C96-AAAE-3C70-90529C7CE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63B2E-D3D5-EB49-0F0F-274DC693E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A6A92-019F-4447-B860-70246B151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184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39C421-9D25-E825-8BBC-10279EDCEC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F2FA9-D418-6A9B-2F65-95500125C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8040A-CB7D-6342-0598-CF8179E17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780D2-EE64-4721-AA9E-D46297371BA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A2174-26BB-86E9-E391-B8010D57A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642A5-2707-55D4-F58F-1DF5D9A78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A6A92-019F-4447-B860-70246B151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322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"/>
          <p:cNvSpPr/>
          <p:nvPr/>
        </p:nvSpPr>
        <p:spPr>
          <a:xfrm>
            <a:off x="1514475" y="-7938"/>
            <a:ext cx="9163050" cy="1041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2" y="66"/>
                </a:moveTo>
                <a:lnTo>
                  <a:pt x="9513" y="0"/>
                </a:lnTo>
                <a:cubicBezTo>
                  <a:pt x="10276" y="3326"/>
                  <a:pt x="14325" y="12084"/>
                  <a:pt x="16368" y="12084"/>
                </a:cubicBezTo>
                <a:cubicBezTo>
                  <a:pt x="18412" y="12084"/>
                  <a:pt x="20679" y="5005"/>
                  <a:pt x="21578" y="1811"/>
                </a:cubicBezTo>
                <a:lnTo>
                  <a:pt x="21600" y="7013"/>
                </a:lnTo>
                <a:cubicBezTo>
                  <a:pt x="21218" y="8462"/>
                  <a:pt x="18771" y="14521"/>
                  <a:pt x="16099" y="14455"/>
                </a:cubicBezTo>
                <a:cubicBezTo>
                  <a:pt x="13427" y="14389"/>
                  <a:pt x="8252" y="5433"/>
                  <a:pt x="5568" y="6618"/>
                </a:cubicBezTo>
                <a:cubicBezTo>
                  <a:pt x="2807" y="6882"/>
                  <a:pt x="1010" y="15871"/>
                  <a:pt x="0" y="21600"/>
                </a:cubicBezTo>
                <a:lnTo>
                  <a:pt x="22" y="66"/>
                </a:lnTo>
                <a:close/>
              </a:path>
            </a:pathLst>
          </a:custGeom>
          <a:gradFill>
            <a:gsLst>
              <a:gs pos="0">
                <a:schemeClr val="accent4">
                  <a:alpha val="54998"/>
                </a:schemeClr>
              </a:gs>
              <a:gs pos="100000">
                <a:srgbClr val="BC0057">
                  <a:alpha val="44999"/>
                </a:srgbClr>
              </a:gs>
            </a:gsLst>
            <a:lin ang="16200000"/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3" name="Shape"/>
          <p:cNvSpPr/>
          <p:nvPr/>
        </p:nvSpPr>
        <p:spPr>
          <a:xfrm>
            <a:off x="5905500" y="-7938"/>
            <a:ext cx="4762500" cy="6072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552" extrusionOk="0">
                <a:moveTo>
                  <a:pt x="0" y="0"/>
                </a:moveTo>
                <a:cubicBezTo>
                  <a:pt x="1253" y="3703"/>
                  <a:pt x="8410" y="19349"/>
                  <a:pt x="12010" y="20475"/>
                </a:cubicBezTo>
                <a:cubicBezTo>
                  <a:pt x="15610" y="21600"/>
                  <a:pt x="20002" y="10128"/>
                  <a:pt x="21600" y="6752"/>
                </a:cubicBezTo>
                <a:lnTo>
                  <a:pt x="21600" y="21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F40069">
                  <a:alpha val="29998"/>
                </a:srgbClr>
              </a:gs>
              <a:gs pos="19999">
                <a:srgbClr val="F40069">
                  <a:alpha val="32998"/>
                </a:srgbClr>
              </a:gs>
              <a:gs pos="100000">
                <a:srgbClr val="D69200">
                  <a:alpha val="44999"/>
                </a:srgbClr>
              </a:gs>
            </a:gsLst>
            <a:lin ang="16200000"/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96" name="Group"/>
          <p:cNvGrpSpPr/>
          <p:nvPr/>
        </p:nvGrpSpPr>
        <p:grpSpPr>
          <a:xfrm>
            <a:off x="1517903" y="-24384"/>
            <a:ext cx="9156193" cy="1048513"/>
            <a:chOff x="0" y="0"/>
            <a:chExt cx="9156191" cy="1048511"/>
          </a:xfrm>
        </p:grpSpPr>
        <p:pic>
          <p:nvPicPr>
            <p:cNvPr id="94" name="image.png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9137904" cy="10485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5" name="image.png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73151"/>
              <a:ext cx="9156192" cy="9083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045700" y="6518275"/>
            <a:ext cx="165101" cy="203201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>
                <a:solidFill>
                  <a:srgbClr val="4A566A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2979587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274694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1F4691-5E3F-1F85-A225-88DE9E759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EEBFF2-D365-27CA-51FA-308FEB619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C94D2-FC97-2EF8-ABEE-4DA3E3A194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2780D2-EE64-4721-AA9E-D46297371BA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BC997-4BD4-BD83-4AD5-B9632CC75A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768F1-C1F7-82B3-B6B5-6F812E8B70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7A6A92-019F-4447-B860-70246B151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744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ational.com/ds/LM/LM124.pdf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itle 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Operational Amplifiers</a:t>
            </a:r>
          </a:p>
        </p:txBody>
      </p:sp>
      <p:sp>
        <p:nvSpPr>
          <p:cNvPr id="150" name="Subtitle 2"/>
          <p:cNvSpPr txBox="1">
            <a:spLocks noGrp="1"/>
          </p:cNvSpPr>
          <p:nvPr>
            <p:ph type="subTitle" sz="quarter" idx="1"/>
          </p:nvPr>
        </p:nvSpPr>
        <p:spPr>
          <a:xfrm>
            <a:off x="1524000" y="3602037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t>EE 204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itle 1"/>
          <p:cNvSpPr txBox="1">
            <a:spLocks noGrp="1"/>
          </p:cNvSpPr>
          <p:nvPr>
            <p:ph type="title"/>
          </p:nvPr>
        </p:nvSpPr>
        <p:spPr>
          <a:xfrm>
            <a:off x="1981200" y="609600"/>
            <a:ext cx="8229600" cy="1066800"/>
          </a:xfrm>
          <a:prstGeom prst="rect">
            <a:avLst/>
          </a:prstGeom>
        </p:spPr>
        <p:txBody>
          <a:bodyPr/>
          <a:lstStyle/>
          <a:p>
            <a:r>
              <a:t>BJT Applications</a:t>
            </a:r>
          </a:p>
        </p:txBody>
      </p:sp>
      <p:sp>
        <p:nvSpPr>
          <p:cNvPr id="153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1981200" y="1551009"/>
            <a:ext cx="8229600" cy="4651355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  <a:defRPr sz="2400" b="1"/>
            </a:lvl1pPr>
          </a:lstStyle>
          <a:p>
            <a:r>
              <a:t>BJT Amplifier</a:t>
            </a:r>
          </a:p>
        </p:txBody>
      </p:sp>
      <p:pic>
        <p:nvPicPr>
          <p:cNvPr id="154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268" y="2118167"/>
            <a:ext cx="4067638" cy="24065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5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4524716"/>
            <a:ext cx="4848226" cy="22574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56" name="Picture 2" descr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0596" y="2118167"/>
            <a:ext cx="3470205" cy="22098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" grpId="0" animBg="1" advAuto="0"/>
      <p:bldP spid="156" grpId="0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itle 1"/>
          <p:cNvSpPr txBox="1">
            <a:spLocks noGrp="1"/>
          </p:cNvSpPr>
          <p:nvPr>
            <p:ph type="title"/>
          </p:nvPr>
        </p:nvSpPr>
        <p:spPr>
          <a:xfrm>
            <a:off x="1981200" y="609600"/>
            <a:ext cx="8229600" cy="1066800"/>
          </a:xfrm>
          <a:prstGeom prst="rect">
            <a:avLst/>
          </a:prstGeom>
        </p:spPr>
        <p:txBody>
          <a:bodyPr/>
          <a:lstStyle/>
          <a:p>
            <a:r>
              <a:t>BJT Applications</a:t>
            </a:r>
          </a:p>
        </p:txBody>
      </p:sp>
      <p:pic>
        <p:nvPicPr>
          <p:cNvPr id="159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174" y="2203780"/>
            <a:ext cx="6937235" cy="4269696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569842" y="1722436"/>
            <a:ext cx="9733724" cy="4525964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2400" b="1"/>
            </a:pPr>
            <a:r>
              <a:t>Transistor is a switch (most common application)</a:t>
            </a:r>
          </a:p>
          <a:p>
            <a:pPr marL="0" indent="0">
              <a:buSzTx/>
              <a:buNone/>
              <a:defRPr sz="2400" b="1"/>
            </a:pPr>
            <a:r>
              <a:t>BJT Amplifier (second most common…)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What is an Op-Amp</a:t>
            </a:r>
          </a:p>
        </p:txBody>
      </p:sp>
      <p:sp>
        <p:nvSpPr>
          <p:cNvPr id="163" name="Content Placeholder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17170" indent="-217170" defTabSz="868680">
              <a:lnSpc>
                <a:spcPct val="81000"/>
              </a:lnSpc>
              <a:spcBef>
                <a:spcPts val="900"/>
              </a:spcBef>
              <a:defRPr sz="2375"/>
            </a:pPr>
            <a:r>
              <a:t>Op-Amp or operational amplifier a modular circuit that is designed to work with other circuit elements (in boom boxes, speakers, cell phones, biomedical apps, sensors, heart rate monitors, power circuits, computers)</a:t>
            </a:r>
          </a:p>
          <a:p>
            <a:pPr marL="217170" indent="-217170" defTabSz="868680">
              <a:lnSpc>
                <a:spcPct val="81000"/>
              </a:lnSpc>
              <a:spcBef>
                <a:spcPts val="900"/>
              </a:spcBef>
              <a:defRPr sz="2375"/>
            </a:pPr>
            <a:r>
              <a:t>The simplest model of the operational amplifier is the ideal operational amplifier. (there are several models to define a “realistic op-amp)</a:t>
            </a:r>
          </a:p>
          <a:p>
            <a:pPr marL="217170" indent="-217170" defTabSz="868680">
              <a:lnSpc>
                <a:spcPct val="81000"/>
              </a:lnSpc>
              <a:spcBef>
                <a:spcPts val="900"/>
              </a:spcBef>
              <a:defRPr sz="2375"/>
            </a:pPr>
            <a:r>
              <a:t>Circuits that contain ideal operational amplifiers are analyzed by writing and solving node equations.</a:t>
            </a:r>
          </a:p>
          <a:p>
            <a:pPr marL="217170" indent="-217170" defTabSz="868680">
              <a:lnSpc>
                <a:spcPct val="81000"/>
              </a:lnSpc>
              <a:spcBef>
                <a:spcPts val="900"/>
              </a:spcBef>
              <a:defRPr sz="2375"/>
            </a:pPr>
            <a:r>
              <a:t>Operational amplifiers can be used to build circuits that perform mathematical operations. </a:t>
            </a:r>
          </a:p>
          <a:p>
            <a:pPr marL="651509" lvl="1" indent="-217170" defTabSz="868680">
              <a:lnSpc>
                <a:spcPct val="81000"/>
              </a:lnSpc>
              <a:spcBef>
                <a:spcPts val="400"/>
              </a:spcBef>
              <a:defRPr sz="2090"/>
            </a:pPr>
            <a:r>
              <a:t>Summing Amplifier</a:t>
            </a:r>
          </a:p>
          <a:p>
            <a:pPr marL="651509" lvl="1" indent="-217170" defTabSz="868680">
              <a:lnSpc>
                <a:spcPct val="81000"/>
              </a:lnSpc>
              <a:spcBef>
                <a:spcPts val="400"/>
              </a:spcBef>
              <a:defRPr sz="2090"/>
            </a:pPr>
            <a:r>
              <a:t>Difference Amplifier</a:t>
            </a:r>
          </a:p>
          <a:p>
            <a:pPr marL="651509" lvl="1" indent="-217170" defTabSz="868680">
              <a:lnSpc>
                <a:spcPct val="81000"/>
              </a:lnSpc>
              <a:spcBef>
                <a:spcPts val="400"/>
              </a:spcBef>
              <a:defRPr sz="2090"/>
            </a:pPr>
            <a:r>
              <a:t>Current to voltage converter</a:t>
            </a:r>
          </a:p>
          <a:p>
            <a:pPr marL="651509" lvl="1" indent="-217170" defTabSz="868680">
              <a:lnSpc>
                <a:spcPct val="81000"/>
              </a:lnSpc>
              <a:spcBef>
                <a:spcPts val="400"/>
              </a:spcBef>
              <a:defRPr sz="2090"/>
            </a:pPr>
            <a:r>
              <a:t>Voltage controlled Current Source</a:t>
            </a:r>
          </a:p>
        </p:txBody>
      </p:sp>
      <p:pic>
        <p:nvPicPr>
          <p:cNvPr id="164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962" y="4585556"/>
            <a:ext cx="4538248" cy="201170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" grpId="0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itle 1"/>
          <p:cNvSpPr txBox="1">
            <a:spLocks noGrp="1"/>
          </p:cNvSpPr>
          <p:nvPr>
            <p:ph type="title"/>
          </p:nvPr>
        </p:nvSpPr>
        <p:spPr>
          <a:xfrm>
            <a:off x="838200" y="325368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Symbol and Equivalent Circuit</a:t>
            </a:r>
          </a:p>
        </p:txBody>
      </p:sp>
      <p:pic>
        <p:nvPicPr>
          <p:cNvPr id="167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055" y="5448081"/>
            <a:ext cx="2928456" cy="4645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9160" y="3426345"/>
            <a:ext cx="3999291" cy="2733156"/>
          </a:xfrm>
          <a:prstGeom prst="rect">
            <a:avLst/>
          </a:prstGeom>
          <a:ln w="12700">
            <a:miter lim="400000"/>
          </a:ln>
        </p:spPr>
      </p:pic>
      <p:sp>
        <p:nvSpPr>
          <p:cNvPr id="169" name="vd = v2 – v1…"/>
          <p:cNvSpPr txBox="1"/>
          <p:nvPr/>
        </p:nvSpPr>
        <p:spPr>
          <a:xfrm>
            <a:off x="7595205" y="2047875"/>
            <a:ext cx="4267201" cy="1546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>
                <a:latin typeface="Constantia"/>
                <a:ea typeface="Constantia"/>
                <a:cs typeface="Constantia"/>
                <a:sym typeface="Constantia"/>
              </a:defRPr>
            </a:pPr>
            <a:r>
              <a:t>v</a:t>
            </a:r>
            <a:r>
              <a:rPr baseline="-25000"/>
              <a:t>d</a:t>
            </a:r>
            <a:r>
              <a:t> = v</a:t>
            </a:r>
            <a:r>
              <a:rPr baseline="-25000"/>
              <a:t>2</a:t>
            </a:r>
            <a:r>
              <a:t> – v</a:t>
            </a:r>
            <a:r>
              <a:rPr baseline="-25000"/>
              <a:t>1</a:t>
            </a:r>
          </a:p>
          <a:p>
            <a:pPr>
              <a:defRPr sz="1100">
                <a:latin typeface="Constantia"/>
                <a:ea typeface="Constantia"/>
                <a:cs typeface="Constantia"/>
                <a:sym typeface="Constantia"/>
              </a:defRPr>
            </a:pPr>
            <a:endParaRPr baseline="-25000"/>
          </a:p>
          <a:p>
            <a:pPr>
              <a:defRPr sz="2400">
                <a:latin typeface="Constantia"/>
                <a:ea typeface="Constantia"/>
                <a:cs typeface="Constantia"/>
                <a:sym typeface="Constantia"/>
              </a:defRPr>
            </a:pPr>
            <a:r>
              <a:t>A is the open-loop voltage gain</a:t>
            </a:r>
          </a:p>
        </p:txBody>
      </p:sp>
      <p:pic>
        <p:nvPicPr>
          <p:cNvPr id="170" name="image.png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600" y="1962150"/>
            <a:ext cx="2257425" cy="17716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1" name="Picture 4" descr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058" y="1407491"/>
            <a:ext cx="6844850" cy="360459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0" animBg="1" advAuto="0"/>
      <p:bldP spid="168" grpId="0" animBg="1" advAuto="0"/>
      <p:bldP spid="169" grpId="0" animBg="1" advAuto="0"/>
      <p:bldP spid="171" grpId="0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Ideal vs Real Op-Amp</a:t>
            </a:r>
          </a:p>
        </p:txBody>
      </p:sp>
      <p:sp>
        <p:nvSpPr>
          <p:cNvPr id="174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787400" y="1470025"/>
            <a:ext cx="10242451" cy="712392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160019" indent="-160019" defTabSz="640079">
              <a:spcBef>
                <a:spcPts val="700"/>
              </a:spcBef>
              <a:defRPr sz="1960"/>
            </a:pPr>
            <a:r>
              <a:t>Real Op-Amps have limits. Since they are made of transistors they can be saturated. </a:t>
            </a:r>
          </a:p>
          <a:p>
            <a:pPr marL="160019" indent="-160019" defTabSz="640079">
              <a:spcBef>
                <a:spcPts val="700"/>
              </a:spcBef>
              <a:defRPr sz="1960"/>
            </a:pPr>
            <a:r>
              <a:t>For an ideal Op-Amp we assume a three basic things (no saturation)</a:t>
            </a:r>
          </a:p>
        </p:txBody>
      </p:sp>
      <p:pic>
        <p:nvPicPr>
          <p:cNvPr id="175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4180" y="3429000"/>
            <a:ext cx="3134662" cy="1955108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176" name="Table"/>
          <p:cNvGraphicFramePr/>
          <p:nvPr/>
        </p:nvGraphicFramePr>
        <p:xfrm>
          <a:off x="1155700" y="2953543"/>
          <a:ext cx="6864348" cy="3572254"/>
        </p:xfrm>
        <a:graphic>
          <a:graphicData uri="http://schemas.openxmlformats.org/drawingml/2006/table">
            <a:tbl>
              <a:tblPr bandRow="1"/>
              <a:tblGrid>
                <a:gridCol w="1716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6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6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6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0203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900" b="1"/>
                        <a:t>Parameter</a:t>
                      </a:r>
                    </a:p>
                  </a:txBody>
                  <a:tcPr marL="45720" marR="45720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900" b="1"/>
                        <a:t>Variable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900" b="1"/>
                        <a:t>Typical Ranges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900" b="1"/>
                        <a:t>Ideal Values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2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900"/>
                        <a:t>Open-Loop Voltage Gain</a:t>
                      </a:r>
                    </a:p>
                  </a:txBody>
                  <a:tcPr marL="45720" marR="45720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900"/>
                        <a:t>A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/>
                      </a:pPr>
                      <a:r>
                        <a:t>10</a:t>
                      </a:r>
                      <a:r>
                        <a:rPr baseline="29473"/>
                        <a:t>5</a:t>
                      </a:r>
                      <a:r>
                        <a:t> to 10</a:t>
                      </a:r>
                      <a:r>
                        <a:rPr baseline="29473"/>
                        <a:t>8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3900"/>
                        <a:t>∞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8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900"/>
                        <a:t>Input Resistance</a:t>
                      </a:r>
                    </a:p>
                  </a:txBody>
                  <a:tcPr marL="45720" marR="45720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900"/>
                        <a:t>Ri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/>
                      </a:pPr>
                      <a:r>
                        <a:t>10</a:t>
                      </a:r>
                      <a:r>
                        <a:rPr baseline="29473"/>
                        <a:t>5</a:t>
                      </a:r>
                      <a:r>
                        <a:t> to 10</a:t>
                      </a:r>
                      <a:r>
                        <a:rPr baseline="29473"/>
                        <a:t>13</a:t>
                      </a:r>
                      <a:r>
                        <a:t> </a:t>
                      </a:r>
                      <a:r>
                        <a:rPr>
                          <a:latin typeface="Symbol"/>
                          <a:ea typeface="Symbol"/>
                          <a:cs typeface="Symbol"/>
                          <a:sym typeface="Symbol"/>
                        </a:rPr>
                        <a:t>W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/>
                      </a:pPr>
                      <a:r>
                        <a:rPr sz="3600"/>
                        <a:t>∞</a:t>
                      </a:r>
                      <a:r>
                        <a:t> </a:t>
                      </a:r>
                      <a:r>
                        <a:rPr>
                          <a:latin typeface="Symbol"/>
                          <a:ea typeface="Symbol"/>
                          <a:cs typeface="Symbol"/>
                          <a:sym typeface="Symbol"/>
                        </a:rPr>
                        <a:t>W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8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900"/>
                        <a:t>Output Resistance</a:t>
                      </a:r>
                    </a:p>
                  </a:txBody>
                  <a:tcPr marL="45720" marR="45720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900"/>
                        <a:t>Ro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/>
                      </a:pPr>
                      <a:r>
                        <a:t>10 to 100 </a:t>
                      </a:r>
                      <a:r>
                        <a:rPr>
                          <a:latin typeface="Symbol"/>
                          <a:ea typeface="Symbol"/>
                          <a:cs typeface="Symbol"/>
                          <a:sym typeface="Symbol"/>
                        </a:rPr>
                        <a:t>W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/>
                      </a:pPr>
                      <a:r>
                        <a:t>0 </a:t>
                      </a:r>
                      <a:r>
                        <a:rPr>
                          <a:latin typeface="Symbol"/>
                          <a:ea typeface="Symbol"/>
                          <a:cs typeface="Symbol"/>
                          <a:sym typeface="Symbol"/>
                        </a:rPr>
                        <a:t>W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7409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900"/>
                        <a:t>Supply Voltage</a:t>
                      </a:r>
                    </a:p>
                  </a:txBody>
                  <a:tcPr marL="45720" marR="45720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/>
                      </a:pPr>
                      <a:r>
                        <a:t>Vcc/V</a:t>
                      </a:r>
                      <a:r>
                        <a:rPr b="1" baseline="29473"/>
                        <a:t>+ </a:t>
                      </a:r>
                    </a:p>
                    <a:p>
                      <a:pPr algn="ctr">
                        <a:defRPr sz="1900"/>
                      </a:pPr>
                      <a:r>
                        <a:t>-Vcc/V</a:t>
                      </a:r>
                      <a:r>
                        <a:rPr b="1" baseline="29473"/>
                        <a:t>- 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900"/>
                        <a:t>5 to 30 V
-30V to 0V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900"/>
                        <a:t>N/A
N/A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7" name="Content Placeholder 2"/>
          <p:cNvSpPr txBox="1"/>
          <p:nvPr/>
        </p:nvSpPr>
        <p:spPr>
          <a:xfrm>
            <a:off x="787400" y="2316559"/>
            <a:ext cx="10617200" cy="712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marL="187452" indent="-187452" defTabSz="749808">
              <a:lnSpc>
                <a:spcPct val="90000"/>
              </a:lnSpc>
              <a:spcBef>
                <a:spcPts val="800"/>
              </a:spcBef>
              <a:buSzPct val="100000"/>
              <a:buFont typeface="Arial"/>
              <a:buChar char="•"/>
              <a:defRPr sz="2296"/>
            </a:lvl1pPr>
          </a:lstStyle>
          <a:p>
            <a:r>
              <a:t>In real life you can find out the operating (linearity values from manufacturer)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Rectangle"/>
          <p:cNvSpPr/>
          <p:nvPr/>
        </p:nvSpPr>
        <p:spPr>
          <a:xfrm>
            <a:off x="6172200" y="4953000"/>
            <a:ext cx="2133600" cy="228600"/>
          </a:xfrm>
          <a:prstGeom prst="rect">
            <a:avLst/>
          </a:prstGeom>
          <a:ln w="25400">
            <a:solidFill>
              <a:srgbClr val="FF0000"/>
            </a:solidFill>
            <a:prstDash val="sys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Constantia"/>
                <a:ea typeface="Constantia"/>
                <a:cs typeface="Constantia"/>
                <a:sym typeface="Constantia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Caution – A is Frequency Depend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4200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Caution – A is Frequency Dependent</a:t>
            </a:r>
          </a:p>
        </p:txBody>
      </p:sp>
      <p:pic>
        <p:nvPicPr>
          <p:cNvPr id="183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200" y="1935162"/>
            <a:ext cx="4673600" cy="4389438"/>
          </a:xfrm>
          <a:prstGeom prst="rect">
            <a:avLst/>
          </a:prstGeom>
          <a:ln w="12700">
            <a:miter lim="400000"/>
          </a:ln>
        </p:spPr>
      </p:pic>
      <p:sp>
        <p:nvSpPr>
          <p:cNvPr id="184" name="http://www.national.com/ds/LM/LM124.pdf"/>
          <p:cNvSpPr txBox="1"/>
          <p:nvPr/>
        </p:nvSpPr>
        <p:spPr>
          <a:xfrm>
            <a:off x="3886200" y="6172200"/>
            <a:ext cx="4952514" cy="396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  <a:r>
              <a:rPr u="sng">
                <a:solidFill>
                  <a:srgbClr val="EB8803"/>
                </a:solidFill>
                <a:uFill>
                  <a:solidFill>
                    <a:srgbClr val="EB8803"/>
                  </a:solidFill>
                </a:uFill>
                <a:hlinkClick r:id="rId3"/>
              </a:rPr>
              <a:t>http://www.national.com/ds/LM/LM124.pdf</a:t>
            </a:r>
            <a: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Ideal Op-Amp</a:t>
            </a:r>
          </a:p>
        </p:txBody>
      </p:sp>
      <p:sp>
        <p:nvSpPr>
          <p:cNvPr id="187" name="Content Placeholder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87452" indent="-187452" defTabSz="749808">
              <a:spcBef>
                <a:spcPts val="800"/>
              </a:spcBef>
              <a:defRPr sz="2296"/>
            </a:pPr>
            <a:r>
              <a:t>Ri = ∞ Ω</a:t>
            </a:r>
          </a:p>
          <a:p>
            <a:pPr marL="562355" lvl="1" indent="-187452" defTabSz="749808">
              <a:spcBef>
                <a:spcPts val="800"/>
              </a:spcBef>
              <a:defRPr sz="2296"/>
            </a:pPr>
            <a:r>
              <a:t>Therefore, i</a:t>
            </a:r>
            <a:r>
              <a:rPr baseline="-24205"/>
              <a:t>1</a:t>
            </a:r>
            <a:r>
              <a:t> = i</a:t>
            </a:r>
            <a:r>
              <a:rPr baseline="-24205"/>
              <a:t>2</a:t>
            </a:r>
            <a:r>
              <a:t> = 0A</a:t>
            </a:r>
          </a:p>
          <a:p>
            <a:pPr marL="187452" indent="-187452" defTabSz="749808">
              <a:spcBef>
                <a:spcPts val="800"/>
              </a:spcBef>
              <a:defRPr sz="2296"/>
            </a:pPr>
            <a:r>
              <a:t>Ro = 0 Ω</a:t>
            </a:r>
          </a:p>
          <a:p>
            <a:pPr marL="187452" indent="-187452" defTabSz="749808">
              <a:spcBef>
                <a:spcPts val="800"/>
              </a:spcBef>
              <a:defRPr sz="2296"/>
            </a:pPr>
            <a:r>
              <a:t>Usually, v</a:t>
            </a:r>
            <a:r>
              <a:rPr baseline="-27515"/>
              <a:t>d</a:t>
            </a:r>
            <a:r>
              <a:t> = 0V so v</a:t>
            </a:r>
            <a:r>
              <a:rPr baseline="-27515"/>
              <a:t>1</a:t>
            </a:r>
            <a:r>
              <a:t> = v</a:t>
            </a:r>
            <a:r>
              <a:rPr baseline="-27515"/>
              <a:t>2 </a:t>
            </a:r>
          </a:p>
          <a:p>
            <a:pPr marL="562355" lvl="1" indent="-187452" defTabSz="749808">
              <a:spcBef>
                <a:spcPts val="800"/>
              </a:spcBef>
              <a:defRPr sz="2296"/>
            </a:pPr>
            <a:r>
              <a:t>The op amp forces the voltage at the inverting input terminal to be equal to the voltage at the non-inverting input terminal if there is some component connecting the output terminal to the inverting input terminal.</a:t>
            </a:r>
          </a:p>
          <a:p>
            <a:pPr marL="187452" indent="-187452" defTabSz="749808">
              <a:spcBef>
                <a:spcPts val="800"/>
              </a:spcBef>
              <a:defRPr sz="2296"/>
            </a:pPr>
            <a:r>
              <a:t>Rarely is the op amp limited to V</a:t>
            </a:r>
            <a:r>
              <a:rPr baseline="29735"/>
              <a:t>-</a:t>
            </a:r>
            <a:r>
              <a:t> &lt; v</a:t>
            </a:r>
            <a:r>
              <a:rPr baseline="-27515"/>
              <a:t>o</a:t>
            </a:r>
            <a:r>
              <a:t> &lt; V</a:t>
            </a:r>
            <a:r>
              <a:rPr baseline="29735"/>
              <a:t>+</a:t>
            </a:r>
            <a:r>
              <a:t>.</a:t>
            </a:r>
          </a:p>
          <a:p>
            <a:pPr marL="562355" lvl="1" indent="-187452" defTabSz="749808">
              <a:spcBef>
                <a:spcPts val="800"/>
              </a:spcBef>
              <a:defRPr sz="2296"/>
            </a:pPr>
            <a:r>
              <a:t>The output voltage is allowed to be as positive or as negative as needed to force v</a:t>
            </a:r>
            <a:r>
              <a:rPr baseline="-24205"/>
              <a:t>d</a:t>
            </a:r>
            <a:r>
              <a:t> = 0V..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Example #1:  Inverting Amplifier</a:t>
            </a:r>
          </a:p>
        </p:txBody>
      </p:sp>
      <p:pic>
        <p:nvPicPr>
          <p:cNvPr id="190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586" y="1935163"/>
            <a:ext cx="7178828" cy="4389438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Straight Arrow Connector 5"/>
          <p:cNvSpPr/>
          <p:nvPr/>
        </p:nvSpPr>
        <p:spPr>
          <a:xfrm>
            <a:off x="2971800" y="3733800"/>
            <a:ext cx="457201" cy="1589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  <a:endParaRPr/>
          </a:p>
        </p:txBody>
      </p:sp>
      <p:sp>
        <p:nvSpPr>
          <p:cNvPr id="192" name="Straight Arrow Connector 6"/>
          <p:cNvSpPr/>
          <p:nvPr/>
        </p:nvSpPr>
        <p:spPr>
          <a:xfrm>
            <a:off x="5181599" y="2285999"/>
            <a:ext cx="914401" cy="1590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  <a:endParaRPr/>
          </a:p>
        </p:txBody>
      </p:sp>
      <p:sp>
        <p:nvSpPr>
          <p:cNvPr id="193" name="Straight Arrow Connector 7"/>
          <p:cNvSpPr/>
          <p:nvPr/>
        </p:nvSpPr>
        <p:spPr>
          <a:xfrm>
            <a:off x="5105399" y="5105400"/>
            <a:ext cx="457201" cy="1589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  <a:endParaRPr/>
          </a:p>
        </p:txBody>
      </p:sp>
      <p:sp>
        <p:nvSpPr>
          <p:cNvPr id="194" name="Straight Arrow Connector 8"/>
          <p:cNvSpPr/>
          <p:nvPr/>
        </p:nvSpPr>
        <p:spPr>
          <a:xfrm>
            <a:off x="4952999" y="3733800"/>
            <a:ext cx="609601" cy="1589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  <a:endParaRPr/>
          </a:p>
        </p:txBody>
      </p:sp>
      <p:sp>
        <p:nvSpPr>
          <p:cNvPr id="195" name="TextBox 11"/>
          <p:cNvSpPr txBox="1"/>
          <p:nvPr/>
        </p:nvSpPr>
        <p:spPr>
          <a:xfrm>
            <a:off x="4953000" y="4678362"/>
            <a:ext cx="990600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 b="1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2</a:t>
            </a:r>
            <a:r>
              <a:t> = 0</a:t>
            </a:r>
          </a:p>
        </p:txBody>
      </p:sp>
      <p:sp>
        <p:nvSpPr>
          <p:cNvPr id="196" name="TextBox 12"/>
          <p:cNvSpPr txBox="1"/>
          <p:nvPr/>
        </p:nvSpPr>
        <p:spPr>
          <a:xfrm>
            <a:off x="4953000" y="3152775"/>
            <a:ext cx="7620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 b="1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1</a:t>
            </a:r>
            <a:r>
              <a:t> = 0</a:t>
            </a:r>
          </a:p>
        </p:txBody>
      </p:sp>
      <p:sp>
        <p:nvSpPr>
          <p:cNvPr id="197" name="TextBox 13"/>
          <p:cNvSpPr txBox="1"/>
          <p:nvPr/>
        </p:nvSpPr>
        <p:spPr>
          <a:xfrm>
            <a:off x="2971800" y="3200400"/>
            <a:ext cx="3810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 b="1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s</a:t>
            </a:r>
          </a:p>
        </p:txBody>
      </p:sp>
      <p:sp>
        <p:nvSpPr>
          <p:cNvPr id="198" name="TextBox 14"/>
          <p:cNvSpPr txBox="1"/>
          <p:nvPr/>
        </p:nvSpPr>
        <p:spPr>
          <a:xfrm>
            <a:off x="5334000" y="1828800"/>
            <a:ext cx="4572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 b="1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f</a:t>
            </a:r>
          </a:p>
        </p:txBody>
      </p:sp>
      <p:sp>
        <p:nvSpPr>
          <p:cNvPr id="199" name="TextBox 18"/>
          <p:cNvSpPr txBox="1"/>
          <p:nvPr/>
        </p:nvSpPr>
        <p:spPr>
          <a:xfrm>
            <a:off x="5791200" y="4267200"/>
            <a:ext cx="1143000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  <a:r>
              <a:t>V+ = 15V</a:t>
            </a:r>
          </a:p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  <a:r>
              <a:t>V- = -10V</a:t>
            </a:r>
          </a:p>
        </p:txBody>
      </p:sp>
      <p:sp>
        <p:nvSpPr>
          <p:cNvPr id="200" name="Straight Arrow Connector 31"/>
          <p:cNvSpPr/>
          <p:nvPr/>
        </p:nvSpPr>
        <p:spPr>
          <a:xfrm flipH="1">
            <a:off x="7620001" y="4419600"/>
            <a:ext cx="457201" cy="1589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  <a:endParaRPr/>
          </a:p>
        </p:txBody>
      </p:sp>
      <p:sp>
        <p:nvSpPr>
          <p:cNvPr id="201" name="TextBox 32"/>
          <p:cNvSpPr txBox="1"/>
          <p:nvPr/>
        </p:nvSpPr>
        <p:spPr>
          <a:xfrm>
            <a:off x="7620000" y="3886200"/>
            <a:ext cx="381000" cy="421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000" b="1">
                <a:latin typeface="Constantia"/>
                <a:ea typeface="Constantia"/>
                <a:cs typeface="Constantia"/>
                <a:sym typeface="Constantia"/>
              </a:defRPr>
            </a:lvl1pPr>
          </a:lstStyle>
          <a:p>
            <a:r>
              <a:t>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Example #1 (con’t)</a:t>
            </a:r>
          </a:p>
        </p:txBody>
      </p:sp>
      <p:pic>
        <p:nvPicPr>
          <p:cNvPr id="204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315" y="2405063"/>
            <a:ext cx="7164370" cy="4389438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Straight Arrow Connector 4"/>
          <p:cNvSpPr/>
          <p:nvPr/>
        </p:nvSpPr>
        <p:spPr>
          <a:xfrm>
            <a:off x="2705100" y="4278312"/>
            <a:ext cx="457201" cy="1589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  <a:endParaRPr/>
          </a:p>
        </p:txBody>
      </p:sp>
      <p:sp>
        <p:nvSpPr>
          <p:cNvPr id="206" name="Straight Arrow Connector 5"/>
          <p:cNvSpPr/>
          <p:nvPr/>
        </p:nvSpPr>
        <p:spPr>
          <a:xfrm>
            <a:off x="4914899" y="2754311"/>
            <a:ext cx="914401" cy="1589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  <a:endParaRPr/>
          </a:p>
        </p:txBody>
      </p:sp>
      <p:sp>
        <p:nvSpPr>
          <p:cNvPr id="207" name="Straight Arrow Connector 6"/>
          <p:cNvSpPr/>
          <p:nvPr/>
        </p:nvSpPr>
        <p:spPr>
          <a:xfrm>
            <a:off x="4838699" y="5545137"/>
            <a:ext cx="457201" cy="1589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  <a:endParaRPr/>
          </a:p>
        </p:txBody>
      </p:sp>
      <p:sp>
        <p:nvSpPr>
          <p:cNvPr id="208" name="Straight Arrow Connector 7"/>
          <p:cNvSpPr/>
          <p:nvPr/>
        </p:nvSpPr>
        <p:spPr>
          <a:xfrm>
            <a:off x="4686299" y="4278312"/>
            <a:ext cx="609601" cy="1589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  <a:endParaRPr/>
          </a:p>
        </p:txBody>
      </p:sp>
      <p:sp>
        <p:nvSpPr>
          <p:cNvPr id="209" name="TextBox 8"/>
          <p:cNvSpPr txBox="1"/>
          <p:nvPr/>
        </p:nvSpPr>
        <p:spPr>
          <a:xfrm>
            <a:off x="4686300" y="5118100"/>
            <a:ext cx="9906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 b="1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2</a:t>
            </a:r>
            <a:r>
              <a:t> = 0</a:t>
            </a:r>
          </a:p>
        </p:txBody>
      </p:sp>
      <p:sp>
        <p:nvSpPr>
          <p:cNvPr id="210" name="TextBox 9"/>
          <p:cNvSpPr txBox="1"/>
          <p:nvPr/>
        </p:nvSpPr>
        <p:spPr>
          <a:xfrm>
            <a:off x="4686300" y="3697286"/>
            <a:ext cx="762000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 b="1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1</a:t>
            </a:r>
            <a:r>
              <a:t> = 0</a:t>
            </a:r>
          </a:p>
        </p:txBody>
      </p:sp>
      <p:sp>
        <p:nvSpPr>
          <p:cNvPr id="211" name="TextBox 10"/>
          <p:cNvSpPr txBox="1"/>
          <p:nvPr/>
        </p:nvSpPr>
        <p:spPr>
          <a:xfrm>
            <a:off x="2705100" y="3744912"/>
            <a:ext cx="381000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 b="1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s</a:t>
            </a:r>
          </a:p>
        </p:txBody>
      </p:sp>
      <p:sp>
        <p:nvSpPr>
          <p:cNvPr id="212" name="TextBox 11"/>
          <p:cNvSpPr txBox="1"/>
          <p:nvPr/>
        </p:nvSpPr>
        <p:spPr>
          <a:xfrm>
            <a:off x="5067300" y="2297111"/>
            <a:ext cx="457200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 b="1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f</a:t>
            </a:r>
          </a:p>
        </p:txBody>
      </p:sp>
      <p:sp>
        <p:nvSpPr>
          <p:cNvPr id="213" name="TextBox 12"/>
          <p:cNvSpPr txBox="1"/>
          <p:nvPr/>
        </p:nvSpPr>
        <p:spPr>
          <a:xfrm>
            <a:off x="8953500" y="5346700"/>
            <a:ext cx="1143000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  <a:r>
              <a:t>V+ = 15V</a:t>
            </a:r>
          </a:p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  <a:r>
              <a:t>V- = -10V</a:t>
            </a:r>
          </a:p>
        </p:txBody>
      </p:sp>
      <p:sp>
        <p:nvSpPr>
          <p:cNvPr id="214" name="Straight Arrow Connector 13"/>
          <p:cNvSpPr/>
          <p:nvPr/>
        </p:nvSpPr>
        <p:spPr>
          <a:xfrm flipH="1">
            <a:off x="7429501" y="4889500"/>
            <a:ext cx="457201" cy="1589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  <a:endParaRPr/>
          </a:p>
        </p:txBody>
      </p:sp>
      <p:sp>
        <p:nvSpPr>
          <p:cNvPr id="215" name="TextBox 14"/>
          <p:cNvSpPr txBox="1"/>
          <p:nvPr/>
        </p:nvSpPr>
        <p:spPr>
          <a:xfrm>
            <a:off x="7429500" y="4356100"/>
            <a:ext cx="381000" cy="421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000" b="1">
                <a:latin typeface="Constantia"/>
                <a:ea typeface="Constantia"/>
                <a:cs typeface="Constantia"/>
                <a:sym typeface="Constantia"/>
              </a:defRPr>
            </a:lvl1pPr>
          </a:lstStyle>
          <a:p>
            <a:r>
              <a:t>i</a:t>
            </a:r>
          </a:p>
        </p:txBody>
      </p:sp>
      <p:sp>
        <p:nvSpPr>
          <p:cNvPr id="216" name="Closed loop gains are dependent on the values of R1 and Rf.…"/>
          <p:cNvSpPr txBox="1">
            <a:spLocks noGrp="1"/>
          </p:cNvSpPr>
          <p:nvPr>
            <p:ph type="body" sz="quarter" idx="4294967295"/>
          </p:nvPr>
        </p:nvSpPr>
        <p:spPr>
          <a:xfrm>
            <a:off x="902072" y="1533525"/>
            <a:ext cx="10006857" cy="701041"/>
          </a:xfrm>
          <a:prstGeom prst="rect">
            <a:avLst/>
          </a:prstGeom>
        </p:spPr>
        <p:txBody>
          <a:bodyPr/>
          <a:lstStyle>
            <a:lvl1pPr marL="176021" indent="-176021" defTabSz="704087">
              <a:spcBef>
                <a:spcPts val="700"/>
              </a:spcBef>
              <a:defRPr sz="2156"/>
            </a:lvl1pPr>
            <a:lvl2pPr marL="528065" indent="-176021" defTabSz="704087">
              <a:spcBef>
                <a:spcPts val="400"/>
              </a:spcBef>
              <a:buClr>
                <a:srgbClr val="7FD13B"/>
              </a:buClr>
              <a:defRPr sz="1848"/>
            </a:lvl2pPr>
          </a:lstStyle>
          <a:p>
            <a:r>
              <a:t>Closed loop gains are dependent on the values of R1 and Rf.</a:t>
            </a:r>
          </a:p>
          <a:p>
            <a:pPr lvl="1"/>
            <a:r>
              <a:t>Therefore, you have to calculate the closed loop gain for each new problem.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Example #1 (con’t)</a:t>
            </a:r>
          </a:p>
        </p:txBody>
      </p:sp>
      <p:pic>
        <p:nvPicPr>
          <p:cNvPr id="219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819400"/>
            <a:ext cx="5721130" cy="3505200"/>
          </a:xfrm>
          <a:prstGeom prst="rect">
            <a:avLst/>
          </a:prstGeom>
          <a:ln w="12700">
            <a:miter lim="400000"/>
          </a:ln>
        </p:spPr>
      </p:pic>
      <p:sp>
        <p:nvSpPr>
          <p:cNvPr id="220" name="Straight Arrow Connector 4"/>
          <p:cNvSpPr/>
          <p:nvPr/>
        </p:nvSpPr>
        <p:spPr>
          <a:xfrm>
            <a:off x="2021290" y="4343389"/>
            <a:ext cx="255682" cy="12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  <a:endParaRPr/>
          </a:p>
        </p:txBody>
      </p:sp>
      <p:sp>
        <p:nvSpPr>
          <p:cNvPr id="221" name="Straight Arrow Connector 5"/>
          <p:cNvSpPr/>
          <p:nvPr/>
        </p:nvSpPr>
        <p:spPr>
          <a:xfrm>
            <a:off x="3679637" y="3047999"/>
            <a:ext cx="511364" cy="12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  <a:endParaRPr/>
          </a:p>
        </p:txBody>
      </p:sp>
      <p:sp>
        <p:nvSpPr>
          <p:cNvPr id="222" name="Straight Arrow Connector 6"/>
          <p:cNvSpPr/>
          <p:nvPr/>
        </p:nvSpPr>
        <p:spPr>
          <a:xfrm>
            <a:off x="3657600" y="5257799"/>
            <a:ext cx="484282" cy="12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  <a:endParaRPr/>
          </a:p>
        </p:txBody>
      </p:sp>
      <p:sp>
        <p:nvSpPr>
          <p:cNvPr id="223" name="Straight Arrow Connector 7"/>
          <p:cNvSpPr/>
          <p:nvPr/>
        </p:nvSpPr>
        <p:spPr>
          <a:xfrm>
            <a:off x="4002490" y="4343389"/>
            <a:ext cx="340910" cy="12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  <a:endParaRPr/>
          </a:p>
        </p:txBody>
      </p:sp>
      <p:sp>
        <p:nvSpPr>
          <p:cNvPr id="224" name="TextBox 8"/>
          <p:cNvSpPr txBox="1"/>
          <p:nvPr/>
        </p:nvSpPr>
        <p:spPr>
          <a:xfrm>
            <a:off x="3581400" y="4724400"/>
            <a:ext cx="837418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 b="1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2</a:t>
            </a:r>
            <a:r>
              <a:t> = 0</a:t>
            </a:r>
          </a:p>
        </p:txBody>
      </p:sp>
      <p:sp>
        <p:nvSpPr>
          <p:cNvPr id="225" name="TextBox 9"/>
          <p:cNvSpPr txBox="1"/>
          <p:nvPr/>
        </p:nvSpPr>
        <p:spPr>
          <a:xfrm>
            <a:off x="3810000" y="3793625"/>
            <a:ext cx="83741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 b="1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1</a:t>
            </a:r>
            <a:r>
              <a:t> = 0</a:t>
            </a:r>
          </a:p>
        </p:txBody>
      </p:sp>
      <p:sp>
        <p:nvSpPr>
          <p:cNvPr id="226" name="TextBox 10"/>
          <p:cNvSpPr txBox="1"/>
          <p:nvPr/>
        </p:nvSpPr>
        <p:spPr>
          <a:xfrm>
            <a:off x="1828800" y="3828424"/>
            <a:ext cx="608816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 b="1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s</a:t>
            </a:r>
          </a:p>
        </p:txBody>
      </p:sp>
      <p:sp>
        <p:nvSpPr>
          <p:cNvPr id="227" name="TextBox 11"/>
          <p:cNvSpPr txBox="1"/>
          <p:nvPr/>
        </p:nvSpPr>
        <p:spPr>
          <a:xfrm>
            <a:off x="3734582" y="2592377"/>
            <a:ext cx="532618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 b="1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f</a:t>
            </a:r>
          </a:p>
        </p:txBody>
      </p:sp>
      <p:sp>
        <p:nvSpPr>
          <p:cNvPr id="228" name="Straight Arrow Connector 13"/>
          <p:cNvSpPr/>
          <p:nvPr/>
        </p:nvSpPr>
        <p:spPr>
          <a:xfrm flipH="1">
            <a:off x="5791200" y="4800599"/>
            <a:ext cx="549010" cy="12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  <a:endParaRPr/>
          </a:p>
        </p:txBody>
      </p:sp>
      <p:sp>
        <p:nvSpPr>
          <p:cNvPr id="229" name="TextBox 14"/>
          <p:cNvSpPr txBox="1"/>
          <p:nvPr/>
        </p:nvSpPr>
        <p:spPr>
          <a:xfrm>
            <a:off x="5791200" y="4343400"/>
            <a:ext cx="213069" cy="421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000" b="1">
                <a:latin typeface="Constantia"/>
                <a:ea typeface="Constantia"/>
                <a:cs typeface="Constantia"/>
                <a:sym typeface="Constantia"/>
              </a:defRPr>
            </a:lvl1pPr>
          </a:lstStyle>
          <a:p>
            <a:r>
              <a:t>i</a:t>
            </a:r>
          </a:p>
        </p:txBody>
      </p:sp>
      <p:sp>
        <p:nvSpPr>
          <p:cNvPr id="230" name="TextBox 28"/>
          <p:cNvSpPr txBox="1"/>
          <p:nvPr/>
        </p:nvSpPr>
        <p:spPr>
          <a:xfrm>
            <a:off x="6400800" y="5257800"/>
            <a:ext cx="533400" cy="4597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200">
                <a:latin typeface="Constantia"/>
                <a:ea typeface="Constantia"/>
                <a:cs typeface="Constantia"/>
                <a:sym typeface="Constantia"/>
              </a:defRPr>
            </a:pPr>
            <a:r>
              <a:t>v</a:t>
            </a:r>
            <a:r>
              <a:rPr sz="1800"/>
              <a:t>o</a:t>
            </a:r>
          </a:p>
        </p:txBody>
      </p:sp>
      <p:pic>
        <p:nvPicPr>
          <p:cNvPr id="231" name="Object 29" descr="Object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752600"/>
            <a:ext cx="2959100" cy="36849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464</Words>
  <Application>Microsoft Office PowerPoint</Application>
  <PresentationFormat>Widescreen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Constantia</vt:lpstr>
      <vt:lpstr>Symbol</vt:lpstr>
      <vt:lpstr>Office Theme</vt:lpstr>
      <vt:lpstr>Operational Amplifiers</vt:lpstr>
      <vt:lpstr>BJT Applications</vt:lpstr>
      <vt:lpstr>BJT Applications</vt:lpstr>
      <vt:lpstr>What is an Op-Amp</vt:lpstr>
      <vt:lpstr>Symbol and Equivalent Circuit</vt:lpstr>
      <vt:lpstr>Ideal vs Real Op-Amp</vt:lpstr>
      <vt:lpstr>PowerPoint Presentation</vt:lpstr>
      <vt:lpstr>Caution – A is Frequency Dependent</vt:lpstr>
      <vt:lpstr>Ideal Op-Amp</vt:lpstr>
      <vt:lpstr>Example #1:  Inverting Amplifier</vt:lpstr>
      <vt:lpstr>Example #1 (con’t)</vt:lpstr>
      <vt:lpstr>Example #1 (con’t)</vt:lpstr>
    </vt:vector>
  </TitlesOfParts>
  <Company>Green River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Raminderpal Gill</dc:creator>
  <cp:lastModifiedBy>Raminderpal Gill</cp:lastModifiedBy>
  <cp:revision>1</cp:revision>
  <dcterms:created xsi:type="dcterms:W3CDTF">2026-05-12T20:55:28Z</dcterms:created>
  <dcterms:modified xsi:type="dcterms:W3CDTF">2026-05-12T20:57:51Z</dcterms:modified>
</cp:coreProperties>
</file>